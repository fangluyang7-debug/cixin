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82" r:id="rId2"/>
    <p:sldId id="28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/>
              <a:t>硬约束与效用函数必须分层。质量、隐私、设备保护和剩余预算不满足时，候选直接排除；只有合法候选才依据等待、可见性、风险和用户反馈形成排序。公式拆成基础收益、风险扣分和资源扣分三层，便于解释与审计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/>
              <a:t>全局调度器决定任务放到哪台设备，目标设备的本地调度器决定是否接纳以及使用哪个合法配置。新的视觉形式用两条圆点轨道表达两级职责：上轨是设备放置，下轨是目标节点执行。目标节点不会因为远端声明高优先级就抢占本地前台任务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BBA2-99A2-4C50-911E-AA87CC5D5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A824D-37AC-46B9-AD82-8A63EED11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54D09-CAFE-4D6E-A0EC-554C5FCB38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00A5E-2B82-45F9-84F6-C8ECFAF4EC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FA2D-6036-4974-A5AE-B3D5BC52D5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0F8E-69FE-405A-B8B2-8E6AC8616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8D9D-AC5F-45BB-9610-82C84763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D9A69-AEF6-4164-8B2D-70C8749E1B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02843-425F-4F53-BA77-C88B402857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C9CC0-0F3C-40B4-BDDA-548C33D751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1302-5653-453F-B7BF-45FD1238A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3F2C2-A6C3-4E1E-802D-84B9B25EC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7FFC7-4C01-40BE-B67D-A155542452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D1086-00E1-47F5-B726-5DB6B660F0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1712D-A796-4FCD-B190-1D439491EC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05863-CBAE-47B6-B7D7-951C3943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27A57-1137-4991-83AA-A9EDE0B4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1C809-3D17-40DE-8C07-A8A046A7D8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F6128-8400-445F-9DA7-C968FC7E2A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DEADD-F4C1-4CF7-8C2F-5883F8C907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6C915-F59F-4A96-BC79-D694BD99D0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597F-B8F1-4686-A430-07630609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7E966-E84B-443E-9D84-7B020FF03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AF3B4-C554-4A61-B822-8821A94D3A6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3C07B-9725-488C-B581-B27C358635D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2E9D8-8F4C-413A-99CA-6ACACF909B8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D208E-CFD1-48E6-B9F0-C60788C568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213B9-2016-4317-8113-C84F55F3C2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A1A7-B4EC-4790-B374-70C56CCBB7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6A6A-AFB8-4F84-91C1-1F73D211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ED955-A6BA-4DB8-BB87-45E31506CD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A94B7-1A07-41BC-8050-A3A71AD1B2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F894F-AB56-4FD7-99E8-10E9DB4E1C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BEF91-419B-4349-9A68-3135B722EF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5DEBB-5372-4177-AF96-B6E5E83C28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AC354-E70A-4830-8EB0-A105F809C2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7E24-869E-4405-9782-692E9833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EE296-D6EC-46EA-AA3D-267229B47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89F59-2732-42A7-8CCC-8A02328257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CFBB7-FC1E-46A4-A5EA-42EC3A7B35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7D4FD-4378-4F82-A12B-BB6E11E914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073D2-3067-4197-84F7-7FC6A9D583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44C0-1EF0-4B12-965A-B2CA7BFF7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EEF1A-CA1B-433A-8117-86713A194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C260C-F208-4B50-9F25-7738AA7D730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A985C-1C92-4BF7-BD0C-A9C7C9C7A5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878D0-8F68-48D9-B68C-AD0079AF2C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C9529-1459-4384-B3C1-287E6289E2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B0FF-2215-4F6C-AB7B-808CB255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66017-445D-46D8-9365-D4EF5889A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F02B-867E-43E3-856F-0116BEFFEB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9071E-7DCD-44D4-A908-0EBA820C64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35D8C-5D50-445F-9FBC-CD3EBB1199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9ADC1-1955-4BA9-A680-287985C5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DFA62-2A25-4D69-A9D4-0E7BDA3D5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8F03A-142B-4088-8FD4-F445105F4C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8139-148B-48B3-A359-FC8301B5DB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B4594-3EA8-4F7E-B324-EA777C277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21A74-3552-423F-9614-9244A43D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4D9C9-A659-444D-BE1C-B68C1DFA6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EB83-3213-4632-8320-72A41CD34CC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6E4F6-9205-4B18-A0EF-DAED5D09FE0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41CD9-C148-426D-94A4-BCD19ABB378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059776-A6E8-534F-93F7-54F988D8E8AA}"/>
              </a:ext>
            </a:extLst>
          </p:cNvPr>
          <p:cNvSpPr txBox="1"/>
          <p:nvPr/>
        </p:nvSpPr>
        <p:spPr>
          <a:xfrm>
            <a:off x="457200" y="3429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30">
                <a:solidFill>
                  <a:srgbClr val="5890BE"/>
                </a:solidFill>
                <a:latin typeface="Alibaba PuHuiTi 3.0 55 Regular"/>
              </a:rPr>
              <a:t>10  </a:t>
            </a:r>
            <a:r>
              <a:rPr lang="zh-CN" altLang="en-US" sz="930">
                <a:solidFill>
                  <a:srgbClr val="5890BE"/>
                </a:solidFill>
                <a:latin typeface="Alibaba PuHuiTi 3.0 55 Regular"/>
              </a:rPr>
              <a:t>调度算法 </a:t>
            </a:r>
            <a:r>
              <a:rPr lang="en-US" altLang="zh-CN" sz="930">
                <a:solidFill>
                  <a:srgbClr val="5890BE"/>
                </a:solidFill>
                <a:latin typeface="Alibaba PuHuiTi 3.0 55 Regular"/>
              </a:rPr>
              <a:t>2/5</a:t>
            </a:r>
            <a:endParaRPr lang="zh-CN" altLang="en-US" sz="930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E3CD97-9E8B-FF41-489D-5D7653DE5B1A}"/>
              </a:ext>
            </a:extLst>
          </p:cNvPr>
          <p:cNvSpPr txBox="1"/>
          <p:nvPr/>
        </p:nvSpPr>
        <p:spPr>
          <a:xfrm>
            <a:off x="457200" y="6985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900" b="1">
                <a:solidFill>
                  <a:srgbClr val="102746"/>
                </a:solidFill>
                <a:latin typeface="Alibaba PuHuiTi 3.0 55 Regular"/>
              </a:rPr>
              <a:t>硬约束与效用函数的分层决策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8BB81D4-CCDE-4FF8-2F7A-4301917F3E95}"/>
              </a:ext>
            </a:extLst>
          </p:cNvPr>
          <p:cNvCxnSpPr/>
          <p:nvPr/>
        </p:nvCxnSpPr>
        <p:spPr>
          <a:xfrm>
            <a:off x="457200" y="1409700"/>
            <a:ext cx="11277600" cy="0"/>
          </a:xfrm>
          <a:prstGeom prst="line">
            <a:avLst/>
          </a:prstGeom>
          <a:ln w="10160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58DF560-62FE-D687-D5B7-4320E02F90B9}"/>
              </a:ext>
            </a:extLst>
          </p:cNvPr>
          <p:cNvSpPr txBox="1"/>
          <p:nvPr/>
        </p:nvSpPr>
        <p:spPr>
          <a:xfrm>
            <a:off x="11531600" y="65532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50">
                <a:solidFill>
                  <a:srgbClr val="73879E"/>
                </a:solidFill>
                <a:latin typeface="Alibaba PuHuiTi 3.0 55 Regular"/>
              </a:rPr>
              <a:t>10</a:t>
            </a:r>
            <a:endParaRPr lang="zh-CN" altLang="en-US" sz="750">
              <a:solidFill>
                <a:srgbClr val="73879E"/>
              </a:solidFill>
              <a:latin typeface="Alibaba PuHuiTi 3.0 55 Regular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B9A6F9-BAC7-3E56-16DA-A53009E90277}"/>
              </a:ext>
            </a:extLst>
          </p:cNvPr>
          <p:cNvSpPr txBox="1"/>
          <p:nvPr/>
        </p:nvSpPr>
        <p:spPr>
          <a:xfrm>
            <a:off x="457200" y="16510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39516B"/>
                </a:solidFill>
                <a:latin typeface="Alibaba PuHuiTi 3.0 55 Regular"/>
              </a:rPr>
              <a:t>质量、隐私和设备保护决定候选是否合法；等待、可见性与资源风险只决定合法候选的顺序。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5C340F-1AD5-69FA-BFCD-24042E126B84}"/>
              </a:ext>
            </a:extLst>
          </p:cNvPr>
          <p:cNvCxnSpPr/>
          <p:nvPr/>
        </p:nvCxnSpPr>
        <p:spPr>
          <a:xfrm>
            <a:off x="457200" y="2298700"/>
            <a:ext cx="5562600" cy="0"/>
          </a:xfrm>
          <a:prstGeom prst="line">
            <a:avLst/>
          </a:prstGeom>
          <a:ln w="2794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3212C9-96CA-9A34-BCF1-CE5C926B6570}"/>
              </a:ext>
            </a:extLst>
          </p:cNvPr>
          <p:cNvSpPr txBox="1"/>
          <p:nvPr/>
        </p:nvSpPr>
        <p:spPr>
          <a:xfrm>
            <a:off x="457200" y="2451100"/>
            <a:ext cx="556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820" b="1">
                <a:solidFill>
                  <a:srgbClr val="102746"/>
                </a:solidFill>
                <a:latin typeface="Alibaba PuHuiTi 3.0 55 Regular"/>
              </a:rPr>
              <a:t>第一层｜硬约束：不满足即排除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A7DD59-09FA-43C7-F29A-88D363CD3835}"/>
              </a:ext>
            </a:extLst>
          </p:cNvPr>
          <p:cNvSpPr txBox="1"/>
          <p:nvPr/>
        </p:nvSpPr>
        <p:spPr>
          <a:xfrm>
            <a:off x="457200" y="30353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50" b="1">
                <a:solidFill>
                  <a:srgbClr val="5890BE"/>
                </a:solidFill>
                <a:latin typeface="Alibaba PuHuiTi 3.0 55 Regular"/>
              </a:rPr>
              <a:t>01</a:t>
            </a:r>
            <a:endParaRPr lang="zh-CN" altLang="en-US" sz="14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705421-417D-01B4-299A-06148A8720D2}"/>
              </a:ext>
            </a:extLst>
          </p:cNvPr>
          <p:cNvSpPr txBox="1"/>
          <p:nvPr/>
        </p:nvSpPr>
        <p:spPr>
          <a:xfrm>
            <a:off x="1041400" y="3022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10">
                <a:solidFill>
                  <a:srgbClr val="39516B"/>
                </a:solidFill>
                <a:latin typeface="Alibaba PuHuiTi 3.0 55 Regular"/>
              </a:rPr>
              <a:t>请求未被替代，且未超过 </a:t>
            </a:r>
            <a:r>
              <a:rPr lang="en-US" altLang="zh-CN" sz="1410">
                <a:solidFill>
                  <a:srgbClr val="39516B"/>
                </a:solidFill>
                <a:latin typeface="Alibaba PuHuiTi 3.0 55 Regular"/>
              </a:rPr>
              <a:t>deadline / freshness</a:t>
            </a:r>
            <a:endParaRPr lang="zh-CN" altLang="en-US" sz="1410">
              <a:solidFill>
                <a:srgbClr val="39516B"/>
              </a:solidFill>
              <a:latin typeface="Alibaba PuHuiTi 3.0 55 Regular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C899E1F-A97D-3E97-D2AB-053DE7F487F2}"/>
              </a:ext>
            </a:extLst>
          </p:cNvPr>
          <p:cNvCxnSpPr/>
          <p:nvPr/>
        </p:nvCxnSpPr>
        <p:spPr>
          <a:xfrm>
            <a:off x="1041400" y="3378200"/>
            <a:ext cx="4978400" cy="0"/>
          </a:xfrm>
          <a:prstGeom prst="line">
            <a:avLst/>
          </a:prstGeom>
          <a:ln w="825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43AF033-65E0-E791-F72F-BD22AA1279F7}"/>
              </a:ext>
            </a:extLst>
          </p:cNvPr>
          <p:cNvSpPr txBox="1"/>
          <p:nvPr/>
        </p:nvSpPr>
        <p:spPr>
          <a:xfrm>
            <a:off x="457200" y="34798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50" b="1">
                <a:solidFill>
                  <a:srgbClr val="5890BE"/>
                </a:solidFill>
                <a:latin typeface="Alibaba PuHuiTi 3.0 55 Regular"/>
              </a:rPr>
              <a:t>02</a:t>
            </a:r>
            <a:endParaRPr lang="zh-CN" altLang="en-US" sz="14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F81470-8666-FFCC-8D24-2A2C293D0642}"/>
              </a:ext>
            </a:extLst>
          </p:cNvPr>
          <p:cNvSpPr txBox="1"/>
          <p:nvPr/>
        </p:nvSpPr>
        <p:spPr>
          <a:xfrm>
            <a:off x="1041400" y="34671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10">
                <a:solidFill>
                  <a:srgbClr val="39516B"/>
                </a:solidFill>
                <a:latin typeface="Alibaba PuHuiTi 3.0 55 Regular"/>
              </a:rPr>
              <a:t>质量等级、模型、后端与输出契约兼容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9305CF4-DF64-E2D9-CCB9-316563089AB2}"/>
              </a:ext>
            </a:extLst>
          </p:cNvPr>
          <p:cNvCxnSpPr/>
          <p:nvPr/>
        </p:nvCxnSpPr>
        <p:spPr>
          <a:xfrm>
            <a:off x="1041400" y="3822700"/>
            <a:ext cx="4978400" cy="0"/>
          </a:xfrm>
          <a:prstGeom prst="line">
            <a:avLst/>
          </a:prstGeom>
          <a:ln w="825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E9B603D-6939-2F12-F830-90F156BBE89F}"/>
              </a:ext>
            </a:extLst>
          </p:cNvPr>
          <p:cNvSpPr txBox="1"/>
          <p:nvPr/>
        </p:nvSpPr>
        <p:spPr>
          <a:xfrm>
            <a:off x="457200" y="39243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50" b="1">
                <a:solidFill>
                  <a:srgbClr val="5890BE"/>
                </a:solidFill>
                <a:latin typeface="Alibaba PuHuiTi 3.0 55 Regular"/>
              </a:rPr>
              <a:t>03</a:t>
            </a:r>
            <a:endParaRPr lang="zh-CN" altLang="en-US" sz="14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25EEF0E-3460-9C89-D935-E8547F026AE6}"/>
              </a:ext>
            </a:extLst>
          </p:cNvPr>
          <p:cNvSpPr txBox="1"/>
          <p:nvPr/>
        </p:nvSpPr>
        <p:spPr>
          <a:xfrm>
            <a:off x="1041400" y="3911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10">
                <a:solidFill>
                  <a:srgbClr val="39516B"/>
                </a:solidFill>
                <a:latin typeface="Alibaba PuHuiTi 3.0 55 Regular"/>
              </a:rPr>
              <a:t>隐私、网络与设备白名单允许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24FD95B-AF56-3D33-5D81-AEB7F0C3B37D}"/>
              </a:ext>
            </a:extLst>
          </p:cNvPr>
          <p:cNvCxnSpPr/>
          <p:nvPr/>
        </p:nvCxnSpPr>
        <p:spPr>
          <a:xfrm>
            <a:off x="1041400" y="4267200"/>
            <a:ext cx="4978400" cy="0"/>
          </a:xfrm>
          <a:prstGeom prst="line">
            <a:avLst/>
          </a:prstGeom>
          <a:ln w="825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DD87531-B2F8-2DA5-A2A5-744DF17ECABF}"/>
              </a:ext>
            </a:extLst>
          </p:cNvPr>
          <p:cNvSpPr txBox="1"/>
          <p:nvPr/>
        </p:nvSpPr>
        <p:spPr>
          <a:xfrm>
            <a:off x="457200" y="43688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50" b="1">
                <a:solidFill>
                  <a:srgbClr val="5890BE"/>
                </a:solidFill>
                <a:latin typeface="Alibaba PuHuiTi 3.0 55 Regular"/>
              </a:rPr>
              <a:t>04</a:t>
            </a:r>
            <a:endParaRPr lang="zh-CN" altLang="en-US" sz="14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D97E1EE-0059-0116-8856-FA0B807A856C}"/>
              </a:ext>
            </a:extLst>
          </p:cNvPr>
          <p:cNvSpPr txBox="1"/>
          <p:nvPr/>
        </p:nvSpPr>
        <p:spPr>
          <a:xfrm>
            <a:off x="1041400" y="43561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10">
                <a:solidFill>
                  <a:srgbClr val="39516B"/>
                </a:solidFill>
                <a:latin typeface="Alibaba PuHuiTi 3.0 55 Regular"/>
              </a:rPr>
              <a:t>温度、内存和压力状态处于安全范围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6AFD904-C122-A13C-C084-B00BE4C553D6}"/>
              </a:ext>
            </a:extLst>
          </p:cNvPr>
          <p:cNvCxnSpPr/>
          <p:nvPr/>
        </p:nvCxnSpPr>
        <p:spPr>
          <a:xfrm>
            <a:off x="1041400" y="4711700"/>
            <a:ext cx="4978400" cy="0"/>
          </a:xfrm>
          <a:prstGeom prst="line">
            <a:avLst/>
          </a:prstGeom>
          <a:ln w="825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0F9AF2FE-6520-AD24-1713-DB69C699FEAE}"/>
              </a:ext>
            </a:extLst>
          </p:cNvPr>
          <p:cNvSpPr txBox="1"/>
          <p:nvPr/>
        </p:nvSpPr>
        <p:spPr>
          <a:xfrm>
            <a:off x="457200" y="48133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50" b="1">
                <a:solidFill>
                  <a:srgbClr val="5890BE"/>
                </a:solidFill>
                <a:latin typeface="Alibaba PuHuiTi 3.0 55 Regular"/>
              </a:rPr>
              <a:t>05</a:t>
            </a:r>
            <a:endParaRPr lang="zh-CN" altLang="en-US" sz="14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4E8AC9-5B14-7AB3-D855-1C61AB69557A}"/>
              </a:ext>
            </a:extLst>
          </p:cNvPr>
          <p:cNvSpPr txBox="1"/>
          <p:nvPr/>
        </p:nvSpPr>
        <p:spPr>
          <a:xfrm>
            <a:off x="1041400" y="4800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10">
                <a:solidFill>
                  <a:srgbClr val="39516B"/>
                </a:solidFill>
                <a:latin typeface="Alibaba PuHuiTi 3.0 55 Regular"/>
              </a:rPr>
              <a:t>剩余预算容纳预测耗时与预测内存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D40628E-D862-88D5-01A5-FDE1B3C4B8B8}"/>
              </a:ext>
            </a:extLst>
          </p:cNvPr>
          <p:cNvCxnSpPr/>
          <p:nvPr/>
        </p:nvCxnSpPr>
        <p:spPr>
          <a:xfrm>
            <a:off x="1041400" y="5156200"/>
            <a:ext cx="4978400" cy="0"/>
          </a:xfrm>
          <a:prstGeom prst="line">
            <a:avLst/>
          </a:prstGeom>
          <a:ln w="825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6267A8C-CBAB-5024-0953-165BCC65EB8B}"/>
              </a:ext>
            </a:extLst>
          </p:cNvPr>
          <p:cNvSpPr txBox="1"/>
          <p:nvPr/>
        </p:nvSpPr>
        <p:spPr>
          <a:xfrm>
            <a:off x="457200" y="52578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50" b="1">
                <a:solidFill>
                  <a:srgbClr val="5890BE"/>
                </a:solidFill>
                <a:latin typeface="Alibaba PuHuiTi 3.0 55 Regular"/>
              </a:rPr>
              <a:t>06</a:t>
            </a:r>
            <a:endParaRPr lang="zh-CN" altLang="en-US" sz="14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ED46D1-A381-2C40-12B9-1C51E464AB40}"/>
              </a:ext>
            </a:extLst>
          </p:cNvPr>
          <p:cNvSpPr txBox="1"/>
          <p:nvPr/>
        </p:nvSpPr>
        <p:spPr>
          <a:xfrm>
            <a:off x="1041400" y="52451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10">
                <a:solidFill>
                  <a:srgbClr val="39516B"/>
                </a:solidFill>
                <a:latin typeface="Alibaba PuHuiTi 3.0 55 Regular"/>
              </a:rPr>
              <a:t>费用或能源有硬上限时，必须存在可验证测量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72573AB-80B1-015C-E928-65A6EB48F457}"/>
              </a:ext>
            </a:extLst>
          </p:cNvPr>
          <p:cNvCxnSpPr/>
          <p:nvPr/>
        </p:nvCxnSpPr>
        <p:spPr>
          <a:xfrm>
            <a:off x="1041400" y="5600700"/>
            <a:ext cx="4978400" cy="0"/>
          </a:xfrm>
          <a:prstGeom prst="line">
            <a:avLst/>
          </a:prstGeom>
          <a:ln w="8255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F252AC8E-94F7-934B-E075-1978E7F08001}"/>
              </a:ext>
            </a:extLst>
          </p:cNvPr>
          <p:cNvSpPr/>
          <p:nvPr/>
        </p:nvSpPr>
        <p:spPr>
          <a:xfrm>
            <a:off x="6680200" y="2298700"/>
            <a:ext cx="5054600" cy="2463800"/>
          </a:xfrm>
          <a:prstGeom prst="rect">
            <a:avLst/>
          </a:prstGeom>
          <a:solidFill>
            <a:srgbClr val="F7F1E7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43B8875-9547-7E71-2A36-E2F68D9034B3}"/>
              </a:ext>
            </a:extLst>
          </p:cNvPr>
          <p:cNvSpPr txBox="1"/>
          <p:nvPr/>
        </p:nvSpPr>
        <p:spPr>
          <a:xfrm>
            <a:off x="6985000" y="25527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820" b="1">
                <a:solidFill>
                  <a:srgbClr val="956A2E"/>
                </a:solidFill>
                <a:latin typeface="Alibaba PuHuiTi 3.0 55 Regular"/>
              </a:rPr>
              <a:t>第二层｜合法候选效用评分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55392B1-D992-3EE0-CE0D-027FB4360F72}"/>
              </a:ext>
            </a:extLst>
          </p:cNvPr>
          <p:cNvSpPr txBox="1"/>
          <p:nvPr/>
        </p:nvSpPr>
        <p:spPr>
          <a:xfrm>
            <a:off x="6985000" y="31750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 b="1">
                <a:solidFill>
                  <a:srgbClr val="956A2E"/>
                </a:solidFill>
                <a:latin typeface="Alibaba PuHuiTi 3.0 55 Regular"/>
              </a:rPr>
              <a:t>基础收益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3A4397D-D1A1-DEEC-79F5-84540AE24F70}"/>
              </a:ext>
            </a:extLst>
          </p:cNvPr>
          <p:cNvSpPr txBox="1"/>
          <p:nvPr/>
        </p:nvSpPr>
        <p:spPr>
          <a:xfrm>
            <a:off x="8255000" y="31623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10" b="1">
                <a:solidFill>
                  <a:srgbClr val="102746"/>
                </a:solidFill>
                <a:latin typeface="Alibaba PuHuiTi 3.0 55 Regular"/>
              </a:rPr>
              <a:t>waiting + visibility + importance</a:t>
            </a:r>
            <a:endParaRPr lang="zh-CN" altLang="en-US" sz="1410" b="1">
              <a:solidFill>
                <a:srgbClr val="102746"/>
              </a:solidFill>
              <a:latin typeface="Alibaba PuHuiTi 3.0 55 Regular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B4B4ED5-D1DB-CD27-7E2C-72AA58E8579F}"/>
              </a:ext>
            </a:extLst>
          </p:cNvPr>
          <p:cNvCxnSpPr/>
          <p:nvPr/>
        </p:nvCxnSpPr>
        <p:spPr>
          <a:xfrm>
            <a:off x="6985000" y="3594100"/>
            <a:ext cx="4445000" cy="0"/>
          </a:xfrm>
          <a:prstGeom prst="line">
            <a:avLst/>
          </a:prstGeom>
          <a:ln w="10160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26FF082-809E-2BF1-0426-6AE44D4E2745}"/>
              </a:ext>
            </a:extLst>
          </p:cNvPr>
          <p:cNvSpPr txBox="1"/>
          <p:nvPr/>
        </p:nvSpPr>
        <p:spPr>
          <a:xfrm>
            <a:off x="6985000" y="37973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 b="1">
                <a:solidFill>
                  <a:srgbClr val="956A2E"/>
                </a:solidFill>
                <a:latin typeface="Alibaba PuHuiTi 3.0 55 Regular"/>
              </a:rPr>
              <a:t>风险扣分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AB1A3D0-9538-F1B5-6EE9-7FA7503B5FC8}"/>
              </a:ext>
            </a:extLst>
          </p:cNvPr>
          <p:cNvSpPr txBox="1"/>
          <p:nvPr/>
        </p:nvSpPr>
        <p:spPr>
          <a:xfrm>
            <a:off x="8255000" y="37846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80">
                <a:solidFill>
                  <a:srgbClr val="102746"/>
                </a:solidFill>
                <a:latin typeface="Alibaba PuHuiTi 3.0 55 Regular"/>
              </a:rPr>
              <a:t>targetPressure + freshnessRisk + qualityLoss</a:t>
            </a:r>
            <a:endParaRPr lang="zh-CN" altLang="en-US" sz="1280">
              <a:solidFill>
                <a:srgbClr val="102746"/>
              </a:solidFill>
              <a:latin typeface="Alibaba PuHuiTi 3.0 55 Regular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98F0640-9677-DBD7-6BB1-441203CE53BA}"/>
              </a:ext>
            </a:extLst>
          </p:cNvPr>
          <p:cNvSpPr txBox="1"/>
          <p:nvPr/>
        </p:nvSpPr>
        <p:spPr>
          <a:xfrm>
            <a:off x="6985000" y="42291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 b="1">
                <a:solidFill>
                  <a:srgbClr val="956A2E"/>
                </a:solidFill>
                <a:latin typeface="Alibaba PuHuiTi 3.0 55 Regular"/>
              </a:rPr>
              <a:t>资源扣分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DE84C7D-6556-D34E-080F-01AB61C3F4AA}"/>
              </a:ext>
            </a:extLst>
          </p:cNvPr>
          <p:cNvSpPr txBox="1"/>
          <p:nvPr/>
        </p:nvSpPr>
        <p:spPr>
          <a:xfrm>
            <a:off x="8255000" y="42164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60">
                <a:solidFill>
                  <a:srgbClr val="102746"/>
                </a:solidFill>
                <a:latin typeface="Alibaba PuHuiTi 3.0 55 Regular"/>
              </a:rPr>
              <a:t>energyCost + thermalRisk + memoryRisk + feedbackPenalty</a:t>
            </a:r>
            <a:endParaRPr lang="zh-CN" altLang="en-US" sz="1160">
              <a:solidFill>
                <a:srgbClr val="102746"/>
              </a:solidFill>
              <a:latin typeface="Alibaba PuHuiTi 3.0 55 Regular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771F862-0AD8-B0B7-B319-3B1E7C1FC7A1}"/>
              </a:ext>
            </a:extLst>
          </p:cNvPr>
          <p:cNvCxnSpPr/>
          <p:nvPr/>
        </p:nvCxnSpPr>
        <p:spPr>
          <a:xfrm>
            <a:off x="6680200" y="5003800"/>
            <a:ext cx="5054600" cy="0"/>
          </a:xfrm>
          <a:prstGeom prst="line">
            <a:avLst/>
          </a:prstGeom>
          <a:ln w="2540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1D972D44-9F18-0E2E-CC88-80F2D5FC3CBC}"/>
              </a:ext>
            </a:extLst>
          </p:cNvPr>
          <p:cNvSpPr txBox="1"/>
          <p:nvPr/>
        </p:nvSpPr>
        <p:spPr>
          <a:xfrm>
            <a:off x="6680200" y="5168900"/>
            <a:ext cx="505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700" b="1">
                <a:solidFill>
                  <a:srgbClr val="102746"/>
                </a:solidFill>
                <a:latin typeface="Alibaba PuHuiTi 3.0 55 Regular"/>
              </a:rPr>
              <a:t>score = </a:t>
            </a:r>
            <a:r>
              <a:rPr lang="zh-CN" altLang="en-US" sz="1700" b="1">
                <a:solidFill>
                  <a:srgbClr val="102746"/>
                </a:solidFill>
                <a:latin typeface="Alibaba PuHuiTi 3.0 55 Regular"/>
              </a:rPr>
              <a:t>基础收益 − 风险扣分 − 资源扣分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CCB50A8C-7972-46C8-5CA7-23A717078607}"/>
              </a:ext>
            </a:extLst>
          </p:cNvPr>
          <p:cNvCxnSpPr/>
          <p:nvPr/>
        </p:nvCxnSpPr>
        <p:spPr>
          <a:xfrm>
            <a:off x="6680200" y="5549900"/>
            <a:ext cx="2336800" cy="0"/>
          </a:xfrm>
          <a:prstGeom prst="line">
            <a:avLst/>
          </a:prstGeom>
          <a:ln w="2286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80F25E39-D63C-C80F-00A6-362C6EF59B99}"/>
              </a:ext>
            </a:extLst>
          </p:cNvPr>
          <p:cNvSpPr txBox="1"/>
          <p:nvPr/>
        </p:nvSpPr>
        <p:spPr>
          <a:xfrm>
            <a:off x="6680200" y="5664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20" b="1">
                <a:solidFill>
                  <a:srgbClr val="102746"/>
                </a:solidFill>
                <a:latin typeface="Alibaba PuHuiTi 3.0 55 Regular"/>
              </a:rPr>
              <a:t>优先级与公平性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071C5E3-691B-0483-95ED-632DD202A745}"/>
              </a:ext>
            </a:extLst>
          </p:cNvPr>
          <p:cNvSpPr txBox="1"/>
          <p:nvPr/>
        </p:nvSpPr>
        <p:spPr>
          <a:xfrm>
            <a:off x="6680200" y="6019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前台可见任务优先；等待老化与公平阈值防止低优先级任务长期饥饿。</a:t>
            </a: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F4545268-DAC5-BC74-6241-854180FB1AA4}"/>
              </a:ext>
            </a:extLst>
          </p:cNvPr>
          <p:cNvCxnSpPr/>
          <p:nvPr/>
        </p:nvCxnSpPr>
        <p:spPr>
          <a:xfrm>
            <a:off x="9398000" y="5549900"/>
            <a:ext cx="2336800" cy="0"/>
          </a:xfrm>
          <a:prstGeom prst="line">
            <a:avLst/>
          </a:prstGeom>
          <a:ln w="2286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6207CB64-38FC-B4A6-F1CF-06F340B98219}"/>
              </a:ext>
            </a:extLst>
          </p:cNvPr>
          <p:cNvSpPr txBox="1"/>
          <p:nvPr/>
        </p:nvSpPr>
        <p:spPr>
          <a:xfrm>
            <a:off x="9398000" y="5664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20" b="1">
                <a:solidFill>
                  <a:srgbClr val="102746"/>
                </a:solidFill>
                <a:latin typeface="Alibaba PuHuiTi 3.0 55 Regular"/>
              </a:rPr>
              <a:t>受控配置包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E793BE4-E84A-2530-7B80-71C3D688F627}"/>
              </a:ext>
            </a:extLst>
          </p:cNvPr>
          <p:cNvSpPr txBox="1"/>
          <p:nvPr/>
        </p:nvSpPr>
        <p:spPr>
          <a:xfrm>
            <a:off x="9398000" y="6019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只选择已验证的 </a:t>
            </a:r>
            <a:r>
              <a:rPr lang="en-US" altLang="zh-CN" sz="1100">
                <a:solidFill>
                  <a:srgbClr val="39516B"/>
                </a:solidFill>
                <a:latin typeface="Alibaba PuHuiTi 3.0 55 Regular"/>
              </a:rPr>
              <a:t>ExecutionProfile</a:t>
            </a:r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；偏好不能突破质量、隐私、温度和能力约束。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521D7FE-5C65-644E-47A6-93A2B328EDD5}"/>
              </a:ext>
            </a:extLst>
          </p:cNvPr>
          <p:cNvSpPr txBox="1"/>
          <p:nvPr/>
        </p:nvSpPr>
        <p:spPr>
          <a:xfrm>
            <a:off x="457200" y="5905500"/>
            <a:ext cx="556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C96B25"/>
                </a:solidFill>
                <a:latin typeface="Alibaba PuHuiTi 3.0 55 Regular"/>
              </a:rPr>
              <a:t>无合法候选：拒绝、等待或按契约降级；不以隐藏错误制造“成功”。</a:t>
            </a:r>
          </a:p>
        </p:txBody>
      </p:sp>
    </p:spTree>
    <p:extLst>
      <p:ext uri="{BB962C8B-B14F-4D97-AF65-F5344CB8AC3E}">
        <p14:creationId xmlns:p14="http://schemas.microsoft.com/office/powerpoint/2010/main" val="2621105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A31D47-8F84-1A4B-D20E-9BD43BC58CB7}"/>
              </a:ext>
            </a:extLst>
          </p:cNvPr>
          <p:cNvSpPr txBox="1"/>
          <p:nvPr/>
        </p:nvSpPr>
        <p:spPr>
          <a:xfrm>
            <a:off x="457200" y="3429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30">
                <a:solidFill>
                  <a:srgbClr val="5890BE"/>
                </a:solidFill>
                <a:latin typeface="Alibaba PuHuiTi 3.0 55 Regular"/>
              </a:rPr>
              <a:t>12  </a:t>
            </a:r>
            <a:r>
              <a:rPr lang="zh-CN" altLang="en-US" sz="930">
                <a:solidFill>
                  <a:srgbClr val="5890BE"/>
                </a:solidFill>
                <a:latin typeface="Alibaba PuHuiTi 3.0 55 Regular"/>
              </a:rPr>
              <a:t>调度算法 </a:t>
            </a:r>
            <a:r>
              <a:rPr lang="en-US" altLang="zh-CN" sz="930">
                <a:solidFill>
                  <a:srgbClr val="5890BE"/>
                </a:solidFill>
                <a:latin typeface="Alibaba PuHuiTi 3.0 55 Regular"/>
              </a:rPr>
              <a:t>4/5</a:t>
            </a:r>
            <a:endParaRPr lang="zh-CN" altLang="en-US" sz="930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265FF1-1B2E-330D-F441-FD9C69E03F09}"/>
              </a:ext>
            </a:extLst>
          </p:cNvPr>
          <p:cNvSpPr txBox="1"/>
          <p:nvPr/>
        </p:nvSpPr>
        <p:spPr>
          <a:xfrm>
            <a:off x="457200" y="6985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900" b="1">
                <a:solidFill>
                  <a:srgbClr val="102746"/>
                </a:solidFill>
                <a:latin typeface="Alibaba PuHuiTi 3.0 55 Regular"/>
              </a:rPr>
              <a:t>Global </a:t>
            </a:r>
            <a:r>
              <a:rPr lang="zh-CN" altLang="en-US" sz="2900" b="1">
                <a:solidFill>
                  <a:srgbClr val="102746"/>
                </a:solidFill>
                <a:latin typeface="Alibaba PuHuiTi 3.0 55 Regular"/>
              </a:rPr>
              <a:t>与 </a:t>
            </a:r>
            <a:r>
              <a:rPr lang="en-US" altLang="zh-CN" sz="2900" b="1">
                <a:solidFill>
                  <a:srgbClr val="102746"/>
                </a:solidFill>
                <a:latin typeface="Alibaba PuHuiTi 3.0 55 Regular"/>
              </a:rPr>
              <a:t>Local </a:t>
            </a:r>
            <a:r>
              <a:rPr lang="zh-CN" altLang="en-US" sz="2900" b="1">
                <a:solidFill>
                  <a:srgbClr val="102746"/>
                </a:solidFill>
                <a:latin typeface="Alibaba PuHuiTi 3.0 55 Regular"/>
              </a:rPr>
              <a:t>两级调度机制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34CF186-6C70-A221-4A87-2DA4D3295733}"/>
              </a:ext>
            </a:extLst>
          </p:cNvPr>
          <p:cNvCxnSpPr/>
          <p:nvPr/>
        </p:nvCxnSpPr>
        <p:spPr>
          <a:xfrm>
            <a:off x="457200" y="1409700"/>
            <a:ext cx="11277600" cy="0"/>
          </a:xfrm>
          <a:prstGeom prst="line">
            <a:avLst/>
          </a:prstGeom>
          <a:ln w="10160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2362EBC-425A-CAE1-082A-A336C2C811B0}"/>
              </a:ext>
            </a:extLst>
          </p:cNvPr>
          <p:cNvSpPr txBox="1"/>
          <p:nvPr/>
        </p:nvSpPr>
        <p:spPr>
          <a:xfrm>
            <a:off x="11531600" y="65532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50">
                <a:solidFill>
                  <a:srgbClr val="73879E"/>
                </a:solidFill>
                <a:latin typeface="Alibaba PuHuiTi 3.0 55 Regular"/>
              </a:rPr>
              <a:t>12</a:t>
            </a:r>
            <a:endParaRPr lang="zh-CN" altLang="en-US" sz="750">
              <a:solidFill>
                <a:srgbClr val="73879E"/>
              </a:solidFill>
              <a:latin typeface="Alibaba PuHuiTi 3.0 55 Regular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71D07A-3A30-8F8F-2A01-27DDA13048D1}"/>
              </a:ext>
            </a:extLst>
          </p:cNvPr>
          <p:cNvSpPr txBox="1"/>
          <p:nvPr/>
        </p:nvSpPr>
        <p:spPr>
          <a:xfrm>
            <a:off x="457200" y="16510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39516B"/>
                </a:solidFill>
                <a:latin typeface="Alibaba PuHuiTi 3.0 55 Regular"/>
              </a:rPr>
              <a:t>Global </a:t>
            </a:r>
            <a:r>
              <a:rPr lang="zh-CN" altLang="en-US" sz="1600">
                <a:solidFill>
                  <a:srgbClr val="39516B"/>
                </a:solidFill>
                <a:latin typeface="Alibaba PuHuiTi 3.0 55 Regular"/>
              </a:rPr>
              <a:t>决定任务放在哪台设备，</a:t>
            </a:r>
            <a:r>
              <a:rPr lang="en-US" altLang="zh-CN" sz="1600">
                <a:solidFill>
                  <a:srgbClr val="39516B"/>
                </a:solidFill>
                <a:latin typeface="Alibaba PuHuiTi 3.0 55 Regular"/>
              </a:rPr>
              <a:t>Local </a:t>
            </a:r>
            <a:r>
              <a:rPr lang="zh-CN" altLang="en-US" sz="1600">
                <a:solidFill>
                  <a:srgbClr val="39516B"/>
                </a:solidFill>
                <a:latin typeface="Alibaba PuHuiTi 3.0 55 Regular"/>
              </a:rPr>
              <a:t>决定在该设备上如何执行；两级职责清晰，避免多层派发循环。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A8F073-33D1-30ED-9CD4-97BB67B4512F}"/>
              </a:ext>
            </a:extLst>
          </p:cNvPr>
          <p:cNvSpPr txBox="1"/>
          <p:nvPr/>
        </p:nvSpPr>
        <p:spPr>
          <a:xfrm>
            <a:off x="457200" y="1968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5890BE"/>
                </a:solidFill>
                <a:latin typeface="Alibaba PuHuiTi 3.0 55 Regular"/>
              </a:rPr>
              <a:t>GLOBAL SCHEDULER · </a:t>
            </a:r>
            <a:r>
              <a:rPr lang="zh-CN" altLang="en-US" sz="1100" b="1">
                <a:solidFill>
                  <a:srgbClr val="5890BE"/>
                </a:solidFill>
                <a:latin typeface="Alibaba PuHuiTi 3.0 55 Regular"/>
              </a:rPr>
              <a:t>设备放置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BEFA468-765E-65B1-A981-EF6E2D42CFE5}"/>
              </a:ext>
            </a:extLst>
          </p:cNvPr>
          <p:cNvCxnSpPr/>
          <p:nvPr/>
        </p:nvCxnSpPr>
        <p:spPr>
          <a:xfrm>
            <a:off x="1651000" y="2667000"/>
            <a:ext cx="8382000" cy="0"/>
          </a:xfrm>
          <a:prstGeom prst="line">
            <a:avLst/>
          </a:prstGeom>
          <a:ln w="27940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706A84C1-AC9C-7797-2062-53E3527E887D}"/>
              </a:ext>
            </a:extLst>
          </p:cNvPr>
          <p:cNvSpPr/>
          <p:nvPr/>
        </p:nvSpPr>
        <p:spPr>
          <a:xfrm>
            <a:off x="1333500" y="2349500"/>
            <a:ext cx="635000" cy="635000"/>
          </a:xfrm>
          <a:prstGeom prst="ellipse">
            <a:avLst/>
          </a:prstGeom>
          <a:solidFill>
            <a:srgbClr val="E7ECF2"/>
          </a:solidFill>
          <a:ln w="1524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2EAE90-F374-478E-5A20-B1D8A0E9314B}"/>
              </a:ext>
            </a:extLst>
          </p:cNvPr>
          <p:cNvSpPr txBox="1"/>
          <p:nvPr/>
        </p:nvSpPr>
        <p:spPr>
          <a:xfrm>
            <a:off x="1333500" y="23749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50" b="1">
                <a:solidFill>
                  <a:srgbClr val="5890BE"/>
                </a:solidFill>
                <a:latin typeface="Alibaba PuHuiTi 3.0 55 Regular"/>
              </a:rPr>
              <a:t>01</a:t>
            </a:r>
            <a:endParaRPr lang="zh-CN" altLang="en-US" sz="15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41BDAE-62E4-AE66-CAE2-E3E088836EF0}"/>
              </a:ext>
            </a:extLst>
          </p:cNvPr>
          <p:cNvSpPr txBox="1"/>
          <p:nvPr/>
        </p:nvSpPr>
        <p:spPr>
          <a:xfrm>
            <a:off x="533400" y="31242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440" b="1">
                <a:solidFill>
                  <a:srgbClr val="102746"/>
                </a:solidFill>
                <a:latin typeface="Alibaba PuHuiTi 3.0 55 Regular"/>
              </a:rPr>
              <a:t>Resolver</a:t>
            </a:r>
            <a:endParaRPr lang="zh-CN" altLang="en-US" sz="1440" b="1">
              <a:solidFill>
                <a:srgbClr val="102746"/>
              </a:solidFill>
              <a:latin typeface="Alibaba PuHuiTi 3.0 55 Regular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4D1159-72AD-DA57-2535-377C0E70EB2C}"/>
              </a:ext>
            </a:extLst>
          </p:cNvPr>
          <p:cNvSpPr txBox="1"/>
          <p:nvPr/>
        </p:nvSpPr>
        <p:spPr>
          <a:xfrm>
            <a:off x="482600" y="35179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不可放宽约束
数据位置 </a:t>
            </a:r>
            <a:r>
              <a:rPr lang="en-US" altLang="zh-CN" sz="1100">
                <a:solidFill>
                  <a:srgbClr val="39516B"/>
                </a:solidFill>
                <a:latin typeface="Alibaba PuHuiTi 3.0 55 Regular"/>
              </a:rPr>
              <a:t>/ </a:t>
            </a:r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允许设备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AFCE910-3C1B-1E74-4CFB-BB58B0025936}"/>
              </a:ext>
            </a:extLst>
          </p:cNvPr>
          <p:cNvSpPr/>
          <p:nvPr/>
        </p:nvSpPr>
        <p:spPr>
          <a:xfrm>
            <a:off x="4127500" y="2349500"/>
            <a:ext cx="635000" cy="635000"/>
          </a:xfrm>
          <a:prstGeom prst="ellipse">
            <a:avLst/>
          </a:prstGeom>
          <a:solidFill>
            <a:srgbClr val="E7ECF2"/>
          </a:solidFill>
          <a:ln w="1524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D28018-3C71-AF16-DBE5-BE5803BCF6DE}"/>
              </a:ext>
            </a:extLst>
          </p:cNvPr>
          <p:cNvSpPr txBox="1"/>
          <p:nvPr/>
        </p:nvSpPr>
        <p:spPr>
          <a:xfrm>
            <a:off x="4127500" y="23749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50" b="1">
                <a:solidFill>
                  <a:srgbClr val="5890BE"/>
                </a:solidFill>
                <a:latin typeface="Alibaba PuHuiTi 3.0 55 Regular"/>
              </a:rPr>
              <a:t>02</a:t>
            </a:r>
            <a:endParaRPr lang="zh-CN" altLang="en-US" sz="15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8D5D03-B982-EB99-B730-C9D9B460F8E1}"/>
              </a:ext>
            </a:extLst>
          </p:cNvPr>
          <p:cNvSpPr txBox="1"/>
          <p:nvPr/>
        </p:nvSpPr>
        <p:spPr>
          <a:xfrm>
            <a:off x="3327400" y="31242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440" b="1">
                <a:solidFill>
                  <a:srgbClr val="102746"/>
                </a:solidFill>
                <a:latin typeface="Alibaba PuHuiTi 3.0 55 Regular"/>
              </a:rPr>
              <a:t>候选画像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3C83464-9531-1D38-8690-BF73202D4BA6}"/>
              </a:ext>
            </a:extLst>
          </p:cNvPr>
          <p:cNvSpPr txBox="1"/>
          <p:nvPr/>
        </p:nvSpPr>
        <p:spPr>
          <a:xfrm>
            <a:off x="3276600" y="35179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设备 </a:t>
            </a:r>
            <a:r>
              <a:rPr lang="en-US" altLang="zh-CN" sz="1100">
                <a:solidFill>
                  <a:srgbClr val="39516B"/>
                </a:solidFill>
                <a:latin typeface="Alibaba PuHuiTi 3.0 55 Regular"/>
              </a:rPr>
              <a:t>/ </a:t>
            </a:r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链路 </a:t>
            </a:r>
            <a:r>
              <a:rPr lang="en-US" altLang="zh-CN" sz="1100">
                <a:solidFill>
                  <a:srgbClr val="39516B"/>
                </a:solidFill>
                <a:latin typeface="Alibaba PuHuiTi 3.0 55 Regular"/>
              </a:rPr>
              <a:t>/ </a:t>
            </a:r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模型
版本、来源与 </a:t>
            </a:r>
            <a:r>
              <a:rPr lang="en-US" altLang="zh-CN" sz="1100">
                <a:solidFill>
                  <a:srgbClr val="39516B"/>
                </a:solidFill>
                <a:latin typeface="Alibaba PuHuiTi 3.0 55 Regular"/>
              </a:rPr>
              <a:t>TTL</a:t>
            </a:r>
            <a:endParaRPr lang="zh-CN" altLang="en-US" sz="1100">
              <a:solidFill>
                <a:srgbClr val="39516B"/>
              </a:solidFill>
              <a:latin typeface="Alibaba PuHuiTi 3.0 55 Regular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C084BE0-C131-B919-642C-6ADB21FC4C7F}"/>
              </a:ext>
            </a:extLst>
          </p:cNvPr>
          <p:cNvSpPr/>
          <p:nvPr/>
        </p:nvSpPr>
        <p:spPr>
          <a:xfrm>
            <a:off x="6921500" y="2349500"/>
            <a:ext cx="635000" cy="635000"/>
          </a:xfrm>
          <a:prstGeom prst="ellipse">
            <a:avLst/>
          </a:prstGeom>
          <a:solidFill>
            <a:srgbClr val="F7F1E7"/>
          </a:solidFill>
          <a:ln w="15240" cap="flat" cmpd="sng" algn="ctr">
            <a:solidFill>
              <a:srgbClr val="956A2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06E951-C804-EB2F-8C76-F63892351515}"/>
              </a:ext>
            </a:extLst>
          </p:cNvPr>
          <p:cNvSpPr txBox="1"/>
          <p:nvPr/>
        </p:nvSpPr>
        <p:spPr>
          <a:xfrm>
            <a:off x="6921500" y="23749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50" b="1">
                <a:solidFill>
                  <a:srgbClr val="956A2E"/>
                </a:solidFill>
                <a:latin typeface="Alibaba PuHuiTi 3.0 55 Regular"/>
              </a:rPr>
              <a:t>03</a:t>
            </a:r>
            <a:endParaRPr lang="zh-CN" altLang="en-US" sz="155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12C382-86B8-6487-2E06-A32C14883C6A}"/>
              </a:ext>
            </a:extLst>
          </p:cNvPr>
          <p:cNvSpPr txBox="1"/>
          <p:nvPr/>
        </p:nvSpPr>
        <p:spPr>
          <a:xfrm>
            <a:off x="6121400" y="31242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440" b="1">
                <a:solidFill>
                  <a:srgbClr val="102746"/>
                </a:solidFill>
                <a:latin typeface="Alibaba PuHuiTi 3.0 55 Regular"/>
              </a:rPr>
              <a:t>端到端估计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910A2D-48D8-6428-0E83-3E53DB819F82}"/>
              </a:ext>
            </a:extLst>
          </p:cNvPr>
          <p:cNvSpPr txBox="1"/>
          <p:nvPr/>
        </p:nvSpPr>
        <p:spPr>
          <a:xfrm>
            <a:off x="6070600" y="35179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传输 </a:t>
            </a:r>
            <a:r>
              <a:rPr lang="en-US" altLang="zh-CN" sz="1100">
                <a:solidFill>
                  <a:srgbClr val="39516B"/>
                </a:solidFill>
                <a:latin typeface="Alibaba PuHuiTi 3.0 55 Regular"/>
              </a:rPr>
              <a:t>+ </a:t>
            </a:r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排队 </a:t>
            </a:r>
            <a:r>
              <a:rPr lang="en-US" altLang="zh-CN" sz="1100">
                <a:solidFill>
                  <a:srgbClr val="39516B"/>
                </a:solidFill>
                <a:latin typeface="Alibaba PuHuiTi 3.0 55 Regular"/>
              </a:rPr>
              <a:t>+ </a:t>
            </a:r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本地预测
保守误差与收益阈值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BAD7B26-74C1-98E5-B9B9-BF7A940E2E15}"/>
              </a:ext>
            </a:extLst>
          </p:cNvPr>
          <p:cNvSpPr/>
          <p:nvPr/>
        </p:nvSpPr>
        <p:spPr>
          <a:xfrm>
            <a:off x="9715500" y="2349500"/>
            <a:ext cx="635000" cy="635000"/>
          </a:xfrm>
          <a:prstGeom prst="ellipse">
            <a:avLst/>
          </a:prstGeom>
          <a:solidFill>
            <a:srgbClr val="E7ECF2"/>
          </a:solidFill>
          <a:ln w="1524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195061-ED6A-2E80-0F4A-D82822E946D5}"/>
              </a:ext>
            </a:extLst>
          </p:cNvPr>
          <p:cNvSpPr txBox="1"/>
          <p:nvPr/>
        </p:nvSpPr>
        <p:spPr>
          <a:xfrm>
            <a:off x="9715500" y="23749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50" b="1">
                <a:solidFill>
                  <a:srgbClr val="5890BE"/>
                </a:solidFill>
                <a:latin typeface="Alibaba PuHuiTi 3.0 55 Regular"/>
              </a:rPr>
              <a:t>04</a:t>
            </a:r>
            <a:endParaRPr lang="zh-CN" altLang="en-US" sz="15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D8EF250-6B83-800E-A039-B71A04CCD49E}"/>
              </a:ext>
            </a:extLst>
          </p:cNvPr>
          <p:cNvSpPr txBox="1"/>
          <p:nvPr/>
        </p:nvSpPr>
        <p:spPr>
          <a:xfrm>
            <a:off x="8915400" y="31242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440" b="1">
                <a:solidFill>
                  <a:srgbClr val="102746"/>
                </a:solidFill>
                <a:latin typeface="Alibaba PuHuiTi 3.0 55 Regular"/>
              </a:rPr>
              <a:t>PlacementDecision</a:t>
            </a:r>
            <a:endParaRPr lang="zh-CN" altLang="en-US" sz="1440" b="1">
              <a:solidFill>
                <a:srgbClr val="102746"/>
              </a:solidFill>
              <a:latin typeface="Alibaba PuHuiTi 3.0 55 Regular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BC36C53-CC95-3F94-7926-E2B59AA403F6}"/>
              </a:ext>
            </a:extLst>
          </p:cNvPr>
          <p:cNvSpPr txBox="1"/>
          <p:nvPr/>
        </p:nvSpPr>
        <p:spPr>
          <a:xfrm>
            <a:off x="8864600" y="35179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目标、预算、理由
</a:t>
            </a:r>
            <a:r>
              <a:rPr lang="en-US" altLang="zh-CN" sz="1100">
                <a:solidFill>
                  <a:srgbClr val="39516B"/>
                </a:solidFill>
                <a:latin typeface="Alibaba PuHuiTi 3.0 55 Regular"/>
              </a:rPr>
              <a:t>epoch / attempt </a:t>
            </a:r>
            <a:r>
              <a:rPr lang="zh-CN" altLang="en-US" sz="1100">
                <a:solidFill>
                  <a:srgbClr val="39516B"/>
                </a:solidFill>
                <a:latin typeface="Alibaba PuHuiTi 3.0 55 Regular"/>
              </a:rPr>
              <a:t>绑定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F70ABF4-4FD1-AB5F-F729-7F2165F87BF5}"/>
              </a:ext>
            </a:extLst>
          </p:cNvPr>
          <p:cNvCxnSpPr/>
          <p:nvPr/>
        </p:nvCxnSpPr>
        <p:spPr>
          <a:xfrm>
            <a:off x="10033000" y="4064000"/>
            <a:ext cx="0" cy="304800"/>
          </a:xfrm>
          <a:prstGeom prst="straightConnector1">
            <a:avLst/>
          </a:prstGeom>
          <a:ln w="22860" cap="flat" cmpd="sng" algn="ctr">
            <a:solidFill>
              <a:srgbClr val="956A2E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FC3B4F29-FF4A-38E1-D2F6-24D31B35EE71}"/>
              </a:ext>
            </a:extLst>
          </p:cNvPr>
          <p:cNvSpPr/>
          <p:nvPr/>
        </p:nvSpPr>
        <p:spPr>
          <a:xfrm>
            <a:off x="8255000" y="4229100"/>
            <a:ext cx="3479800" cy="431800"/>
          </a:xfrm>
          <a:prstGeom prst="rect">
            <a:avLst/>
          </a:prstGeom>
          <a:solidFill>
            <a:srgbClr val="F7F1E7"/>
          </a:solidFill>
          <a:ln w="12700" cap="flat" cmpd="sng" algn="ctr">
            <a:solidFill>
              <a:srgbClr val="956A2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DEF59D6-C8EB-F753-D8BD-AD28E6917BCC}"/>
              </a:ext>
            </a:extLst>
          </p:cNvPr>
          <p:cNvSpPr txBox="1"/>
          <p:nvPr/>
        </p:nvSpPr>
        <p:spPr>
          <a:xfrm>
            <a:off x="8407400" y="4343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956A2E"/>
                </a:solidFill>
                <a:latin typeface="Alibaba PuHuiTi 3.0 55 Regular"/>
              </a:rPr>
              <a:t>PlacementDecision → </a:t>
            </a:r>
            <a:r>
              <a:rPr lang="zh-CN" altLang="en-US" sz="1200" b="1">
                <a:solidFill>
                  <a:srgbClr val="956A2E"/>
                </a:solidFill>
                <a:latin typeface="Alibaba PuHuiTi 3.0 55 Regular"/>
              </a:rPr>
              <a:t>目标节点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F5AA7EA-FB29-FE42-7336-7180CEA8DA8B}"/>
              </a:ext>
            </a:extLst>
          </p:cNvPr>
          <p:cNvSpPr txBox="1"/>
          <p:nvPr/>
        </p:nvSpPr>
        <p:spPr>
          <a:xfrm>
            <a:off x="457200" y="4419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956A2E"/>
                </a:solidFill>
                <a:latin typeface="Alibaba PuHuiTi 3.0 55 Regular"/>
              </a:rPr>
              <a:t>LOCAL SCHEDULER · </a:t>
            </a:r>
            <a:r>
              <a:rPr lang="zh-CN" altLang="en-US" sz="1100" b="1">
                <a:solidFill>
                  <a:srgbClr val="956A2E"/>
                </a:solidFill>
                <a:latin typeface="Alibaba PuHuiTi 3.0 55 Regular"/>
              </a:rPr>
              <a:t>目标准入与资源分配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B20ECF0-0B52-8FA9-6C5A-5C34F263AF0A}"/>
              </a:ext>
            </a:extLst>
          </p:cNvPr>
          <p:cNvCxnSpPr/>
          <p:nvPr/>
        </p:nvCxnSpPr>
        <p:spPr>
          <a:xfrm>
            <a:off x="1651000" y="5143500"/>
            <a:ext cx="8382000" cy="0"/>
          </a:xfrm>
          <a:prstGeom prst="line">
            <a:avLst/>
          </a:prstGeom>
          <a:ln w="27940" cap="flat" cmpd="sng" algn="ctr">
            <a:solidFill>
              <a:srgbClr val="C9D4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椭圆 71">
            <a:extLst>
              <a:ext uri="{FF2B5EF4-FFF2-40B4-BE49-F238E27FC236}">
                <a16:creationId xmlns:a16="http://schemas.microsoft.com/office/drawing/2014/main" id="{019594C8-E50B-ACAC-065A-63D0C6243B4B}"/>
              </a:ext>
            </a:extLst>
          </p:cNvPr>
          <p:cNvSpPr/>
          <p:nvPr/>
        </p:nvSpPr>
        <p:spPr>
          <a:xfrm>
            <a:off x="1333500" y="4826000"/>
            <a:ext cx="635000" cy="635000"/>
          </a:xfrm>
          <a:prstGeom prst="ellipse">
            <a:avLst/>
          </a:prstGeom>
          <a:solidFill>
            <a:srgbClr val="F7F1E7"/>
          </a:solidFill>
          <a:ln w="15240" cap="flat" cmpd="sng" algn="ctr">
            <a:solidFill>
              <a:srgbClr val="956A2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F917174-2945-BFE6-E9B5-4EBD0104FF0D}"/>
              </a:ext>
            </a:extLst>
          </p:cNvPr>
          <p:cNvSpPr txBox="1"/>
          <p:nvPr/>
        </p:nvSpPr>
        <p:spPr>
          <a:xfrm>
            <a:off x="1333500" y="48514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50" b="1">
                <a:solidFill>
                  <a:srgbClr val="956A2E"/>
                </a:solidFill>
                <a:latin typeface="Alibaba PuHuiTi 3.0 55 Regular"/>
              </a:rPr>
              <a:t>01</a:t>
            </a:r>
            <a:endParaRPr lang="zh-CN" altLang="en-US" sz="1550" b="1">
              <a:solidFill>
                <a:srgbClr val="956A2E"/>
              </a:solidFill>
              <a:latin typeface="Alibaba PuHuiTi 3.0 55 Regular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C904F19-30EA-E48C-83EF-E6F2F3BD98AF}"/>
              </a:ext>
            </a:extLst>
          </p:cNvPr>
          <p:cNvSpPr txBox="1"/>
          <p:nvPr/>
        </p:nvSpPr>
        <p:spPr>
          <a:xfrm>
            <a:off x="533400" y="55880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80" b="1">
                <a:solidFill>
                  <a:srgbClr val="102746"/>
                </a:solidFill>
                <a:latin typeface="Alibaba PuHuiTi 3.0 55 Regular"/>
              </a:rPr>
              <a:t>重新准入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D8C4312-5D62-0CB1-B3F0-BBFE6B8232AB}"/>
              </a:ext>
            </a:extLst>
          </p:cNvPr>
          <p:cNvSpPr txBox="1"/>
          <p:nvPr/>
        </p:nvSpPr>
        <p:spPr>
          <a:xfrm>
            <a:off x="482600" y="5956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00">
                <a:solidFill>
                  <a:srgbClr val="39516B"/>
                </a:solidFill>
                <a:latin typeface="Alibaba PuHuiTi 3.0 55 Regular"/>
              </a:rPr>
              <a:t>刷新状态 </a:t>
            </a:r>
            <a:r>
              <a:rPr lang="en-US" altLang="zh-CN" sz="1000">
                <a:solidFill>
                  <a:srgbClr val="39516B"/>
                </a:solidFill>
                <a:latin typeface="Alibaba PuHuiTi 3.0 55 Regular"/>
              </a:rPr>
              <a:t>/ </a:t>
            </a:r>
            <a:r>
              <a:rPr lang="zh-CN" altLang="en-US" sz="1000">
                <a:solidFill>
                  <a:srgbClr val="39516B"/>
                </a:solidFill>
                <a:latin typeface="Alibaba PuHuiTi 3.0 55 Regular"/>
              </a:rPr>
              <a:t>能力
确认剩余预算</a:t>
            </a: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CBC9325C-A05D-14D3-49A2-A76241AE0472}"/>
              </a:ext>
            </a:extLst>
          </p:cNvPr>
          <p:cNvSpPr/>
          <p:nvPr/>
        </p:nvSpPr>
        <p:spPr>
          <a:xfrm>
            <a:off x="4127500" y="4826000"/>
            <a:ext cx="635000" cy="635000"/>
          </a:xfrm>
          <a:prstGeom prst="ellipse">
            <a:avLst/>
          </a:prstGeom>
          <a:solidFill>
            <a:srgbClr val="E7ECF2"/>
          </a:solidFill>
          <a:ln w="1524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05B2947-B78D-2480-968F-D434C56C42F5}"/>
              </a:ext>
            </a:extLst>
          </p:cNvPr>
          <p:cNvSpPr txBox="1"/>
          <p:nvPr/>
        </p:nvSpPr>
        <p:spPr>
          <a:xfrm>
            <a:off x="4127500" y="48514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50" b="1">
                <a:solidFill>
                  <a:srgbClr val="5890BE"/>
                </a:solidFill>
                <a:latin typeface="Alibaba PuHuiTi 3.0 55 Regular"/>
              </a:rPr>
              <a:t>02</a:t>
            </a:r>
            <a:endParaRPr lang="zh-CN" altLang="en-US" sz="15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1737624-09CE-7B91-24B8-A3B5838D982B}"/>
              </a:ext>
            </a:extLst>
          </p:cNvPr>
          <p:cNvSpPr txBox="1"/>
          <p:nvPr/>
        </p:nvSpPr>
        <p:spPr>
          <a:xfrm>
            <a:off x="3327400" y="55880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80" b="1">
                <a:solidFill>
                  <a:srgbClr val="102746"/>
                </a:solidFill>
                <a:latin typeface="Alibaba PuHuiTi 3.0 55 Regular"/>
              </a:rPr>
              <a:t>队列与紧迫度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44CD03E-38A4-D4C9-C518-F71BF8835927}"/>
              </a:ext>
            </a:extLst>
          </p:cNvPr>
          <p:cNvSpPr txBox="1"/>
          <p:nvPr/>
        </p:nvSpPr>
        <p:spPr>
          <a:xfrm>
            <a:off x="3276600" y="5956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00">
                <a:solidFill>
                  <a:srgbClr val="39516B"/>
                </a:solidFill>
                <a:latin typeface="Alibaba PuHuiTi 3.0 55 Regular"/>
              </a:rPr>
              <a:t>本地前台保护
优先级、老化、公平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F8B932D2-F2C4-DB68-FB36-15ECC99E6F78}"/>
              </a:ext>
            </a:extLst>
          </p:cNvPr>
          <p:cNvSpPr/>
          <p:nvPr/>
        </p:nvSpPr>
        <p:spPr>
          <a:xfrm>
            <a:off x="6921500" y="4826000"/>
            <a:ext cx="635000" cy="635000"/>
          </a:xfrm>
          <a:prstGeom prst="ellipse">
            <a:avLst/>
          </a:prstGeom>
          <a:solidFill>
            <a:srgbClr val="E7ECF2"/>
          </a:solidFill>
          <a:ln w="1524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B16966B-A9B7-D81A-73AC-12A1CF04B23E}"/>
              </a:ext>
            </a:extLst>
          </p:cNvPr>
          <p:cNvSpPr txBox="1"/>
          <p:nvPr/>
        </p:nvSpPr>
        <p:spPr>
          <a:xfrm>
            <a:off x="6921500" y="48514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50" b="1">
                <a:solidFill>
                  <a:srgbClr val="5890BE"/>
                </a:solidFill>
                <a:latin typeface="Alibaba PuHuiTi 3.0 55 Regular"/>
              </a:rPr>
              <a:t>03</a:t>
            </a:r>
            <a:endParaRPr lang="zh-CN" altLang="en-US" sz="15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45A1995-5191-CBB7-A520-4658E83E92D3}"/>
              </a:ext>
            </a:extLst>
          </p:cNvPr>
          <p:cNvSpPr txBox="1"/>
          <p:nvPr/>
        </p:nvSpPr>
        <p:spPr>
          <a:xfrm>
            <a:off x="6121400" y="55880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80" b="1">
                <a:solidFill>
                  <a:srgbClr val="102746"/>
                </a:solidFill>
                <a:latin typeface="Alibaba PuHuiTi 3.0 55 Regular"/>
              </a:rPr>
              <a:t>档位与配额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2C5CB3E-A283-8FC0-E972-3E982D22D66E}"/>
              </a:ext>
            </a:extLst>
          </p:cNvPr>
          <p:cNvSpPr txBox="1"/>
          <p:nvPr/>
        </p:nvSpPr>
        <p:spPr>
          <a:xfrm>
            <a:off x="6070600" y="5956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00">
                <a:solidFill>
                  <a:srgbClr val="39516B"/>
                </a:solidFill>
                <a:latin typeface="Alibaba PuHuiTi 3.0 55 Regular"/>
              </a:rPr>
              <a:t>合法 </a:t>
            </a:r>
            <a:r>
              <a:rPr lang="en-US" altLang="zh-CN" sz="1000">
                <a:solidFill>
                  <a:srgbClr val="39516B"/>
                </a:solidFill>
                <a:latin typeface="Alibaba PuHuiTi 3.0 55 Regular"/>
              </a:rPr>
              <a:t>profile
</a:t>
            </a:r>
            <a:r>
              <a:rPr lang="zh-CN" altLang="en-US" sz="1000">
                <a:solidFill>
                  <a:srgbClr val="39516B"/>
                </a:solidFill>
                <a:latin typeface="Alibaba PuHuiTi 3.0 55 Regular"/>
              </a:rPr>
              <a:t>互斥、内存、并发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A661688-0242-B402-A4A4-6566ABFE6C7A}"/>
              </a:ext>
            </a:extLst>
          </p:cNvPr>
          <p:cNvSpPr/>
          <p:nvPr/>
        </p:nvSpPr>
        <p:spPr>
          <a:xfrm>
            <a:off x="9715500" y="4826000"/>
            <a:ext cx="635000" cy="635000"/>
          </a:xfrm>
          <a:prstGeom prst="ellipse">
            <a:avLst/>
          </a:prstGeom>
          <a:solidFill>
            <a:srgbClr val="E7ECF2"/>
          </a:solidFill>
          <a:ln w="15240" cap="flat" cmpd="sng" algn="ctr">
            <a:solidFill>
              <a:srgbClr val="5890B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0B7B6F6-2C3A-B604-16E3-ECA65CC2E497}"/>
              </a:ext>
            </a:extLst>
          </p:cNvPr>
          <p:cNvSpPr txBox="1"/>
          <p:nvPr/>
        </p:nvSpPr>
        <p:spPr>
          <a:xfrm>
            <a:off x="9715500" y="48514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50" b="1">
                <a:solidFill>
                  <a:srgbClr val="5890BE"/>
                </a:solidFill>
                <a:latin typeface="Alibaba PuHuiTi 3.0 55 Regular"/>
              </a:rPr>
              <a:t>04</a:t>
            </a:r>
            <a:endParaRPr lang="zh-CN" altLang="en-US" sz="1550" b="1">
              <a:solidFill>
                <a:srgbClr val="5890BE"/>
              </a:solidFill>
              <a:latin typeface="Alibaba PuHuiTi 3.0 55 Regular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A8E1D24-1A3E-C5DF-B125-B6B89AF7B488}"/>
              </a:ext>
            </a:extLst>
          </p:cNvPr>
          <p:cNvSpPr txBox="1"/>
          <p:nvPr/>
        </p:nvSpPr>
        <p:spPr>
          <a:xfrm>
            <a:off x="8915400" y="55880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80" b="1">
                <a:solidFill>
                  <a:srgbClr val="102746"/>
                </a:solidFill>
                <a:latin typeface="Alibaba PuHuiTi 3.0 55 Regular"/>
              </a:rPr>
              <a:t>执行与核验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E7F121B-01FD-72B6-2DC6-BFFDCA8E9D1C}"/>
              </a:ext>
            </a:extLst>
          </p:cNvPr>
          <p:cNvSpPr txBox="1"/>
          <p:nvPr/>
        </p:nvSpPr>
        <p:spPr>
          <a:xfrm>
            <a:off x="8864600" y="5956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000">
                <a:solidFill>
                  <a:srgbClr val="39516B"/>
                </a:solidFill>
                <a:latin typeface="Alibaba PuHuiTi 3.0 55 Regular"/>
              </a:rPr>
              <a:t>实际 </a:t>
            </a:r>
            <a:r>
              <a:rPr lang="en-US" altLang="zh-CN" sz="1000">
                <a:solidFill>
                  <a:srgbClr val="39516B"/>
                </a:solidFill>
                <a:latin typeface="Alibaba PuHuiTi 3.0 55 Regular"/>
              </a:rPr>
              <a:t>backend / profile
</a:t>
            </a:r>
            <a:r>
              <a:rPr lang="zh-CN" altLang="en-US" sz="1000">
                <a:solidFill>
                  <a:srgbClr val="39516B"/>
                </a:solidFill>
                <a:latin typeface="Alibaba PuHuiTi 3.0 55 Regular"/>
              </a:rPr>
              <a:t>停止确认与结果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6B96903-15B6-99E4-D252-F37ED8267CE8}"/>
              </a:ext>
            </a:extLst>
          </p:cNvPr>
          <p:cNvSpPr txBox="1"/>
          <p:nvPr/>
        </p:nvSpPr>
        <p:spPr>
          <a:xfrm>
            <a:off x="457200" y="64389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880">
                <a:solidFill>
                  <a:srgbClr val="73879E"/>
                </a:solidFill>
                <a:latin typeface="Alibaba PuHuiTi 3.0 55 Regular"/>
              </a:rPr>
              <a:t>外层重新评估：阶段边界、目标明确拒绝、持续保护、断联或画像显著恶化；同一时期限制重评估次数。</a:t>
            </a:r>
          </a:p>
        </p:txBody>
      </p:sp>
    </p:spTree>
    <p:extLst>
      <p:ext uri="{BB962C8B-B14F-4D97-AF65-F5344CB8AC3E}">
        <p14:creationId xmlns:p14="http://schemas.microsoft.com/office/powerpoint/2010/main" val="1125314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828</Words>
  <Application>Microsoft Office PowerPoint</Application>
  <DocSecurity>0</DocSecurity>
  <PresentationFormat>宽屏</PresentationFormat>
  <Paragraphs>64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Alibaba PuHuiTi 3.0 55 Regular</vt:lpstr>
      <vt:lpstr>Arial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fly20060711@outlook.com</cp:lastModifiedBy>
  <cp:revision>8</cp:revision>
  <dcterms:created xsi:type="dcterms:W3CDTF">2026-09-25T17:37:51Z</dcterms:created>
  <dcterms:modified xsi:type="dcterms:W3CDTF">2026-09-27T04:31:16Z</dcterms:modified>
</cp:coreProperties>
</file>