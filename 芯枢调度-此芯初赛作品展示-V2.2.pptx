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ed468a8aa44d85" /><Relationship Type="http://schemas.openxmlformats.org/officeDocument/2006/relationships/extended-properties" Target="/docProps/app.xml" Id="R836831e0160d4345" /><Relationship Type="http://schemas.openxmlformats.org/officeDocument/2006/relationships/officeDocument" Target="/ppt/presentation.xml" Id="Re0c7bcda36674f6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6ab784f1ad0444e"/>
    <p:sldMasterId xmlns:r="http://schemas.openxmlformats.org/officeDocument/2006/relationships" id="2147483660" r:id="Rdc27ca3eeddc496d"/>
  </p:sldMasterIdLst>
  <p:notesMasterIdLst>
    <p:notesMasterId xmlns:r="http://schemas.openxmlformats.org/officeDocument/2006/relationships" r:id="Raa6bd5772b0b4b34"/>
  </p:notesMasterIdLst>
  <p:sldIdLst>
    <p:sldId xmlns:r="http://schemas.openxmlformats.org/officeDocument/2006/relationships" id="256" r:id="Rc1dfbb96152642e1"/>
    <p:sldId xmlns:r="http://schemas.openxmlformats.org/officeDocument/2006/relationships" id="257" r:id="R9ec81843769141f0"/>
    <p:sldId xmlns:r="http://schemas.openxmlformats.org/officeDocument/2006/relationships" id="258" r:id="Rca678d774b264752"/>
    <p:sldId xmlns:r="http://schemas.openxmlformats.org/officeDocument/2006/relationships" id="259" r:id="Recd3499d68eb4d9f"/>
    <p:sldId xmlns:r="http://schemas.openxmlformats.org/officeDocument/2006/relationships" id="260" r:id="Re572d55a07ff4e41"/>
    <p:sldId xmlns:r="http://schemas.openxmlformats.org/officeDocument/2006/relationships" id="261" r:id="Rd4f7630aec4f4bdb"/>
    <p:sldId xmlns:r="http://schemas.openxmlformats.org/officeDocument/2006/relationships" id="262" r:id="R4c9e6d660efd4583"/>
    <p:sldId xmlns:r="http://schemas.openxmlformats.org/officeDocument/2006/relationships" id="263" r:id="Rd7f13a6e808340d6"/>
    <p:sldId xmlns:r="http://schemas.openxmlformats.org/officeDocument/2006/relationships" id="264" r:id="R8a664755b447475d"/>
    <p:sldId xmlns:r="http://schemas.openxmlformats.org/officeDocument/2006/relationships" id="265" r:id="Reb5aa3adfe9540a6"/>
    <p:sldId xmlns:r="http://schemas.openxmlformats.org/officeDocument/2006/relationships" id="266" r:id="R11764f993b7848ae"/>
    <p:sldId xmlns:r="http://schemas.openxmlformats.org/officeDocument/2006/relationships" id="267" r:id="Rcb5305b331274beb"/>
    <p:sldId xmlns:r="http://schemas.openxmlformats.org/officeDocument/2006/relationships" id="268" r:id="R6bc68088562845a8"/>
    <p:sldId xmlns:r="http://schemas.openxmlformats.org/officeDocument/2006/relationships" id="269" r:id="R66f868ed2ab946c6"/>
    <p:sldId xmlns:r="http://schemas.openxmlformats.org/officeDocument/2006/relationships" id="270" r:id="R61fdae6e55fa4040"/>
    <p:sldId xmlns:r="http://schemas.openxmlformats.org/officeDocument/2006/relationships" id="271" r:id="R8bb488d64cc04d3b"/>
    <p:sldId xmlns:r="http://schemas.openxmlformats.org/officeDocument/2006/relationships" id="272" r:id="R0f19c5a637094e9c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14a8da8942074cd9"/>
    </p:embeddedFont>
    <p:embeddedFont>
      <p:font typeface="Calibri"/>
      <p:regular xmlns:r="http://schemas.openxmlformats.org/officeDocument/2006/relationships" r:id="R19dc2a00012c4434"/>
      <p:bold xmlns:r="http://schemas.openxmlformats.org/officeDocument/2006/relationships" r:id="Rfb2a8aca4aae41cd"/>
      <p:italic xmlns:r="http://schemas.openxmlformats.org/officeDocument/2006/relationships" r:id="R824a11e1fba741ee"/>
      <p:boldItalic xmlns:r="http://schemas.openxmlformats.org/officeDocument/2006/relationships" r:id="R8210af6dbd3e4ac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f1882a0a34ec7" /><Relationship Type="http://schemas.openxmlformats.org/officeDocument/2006/relationships/slideMaster" Target="/ppt/slideMasters/slideMaster1.xml" Id="R36ab784f1ad0444e" /><Relationship Type="http://schemas.openxmlformats.org/officeDocument/2006/relationships/slideMaster" Target="/ppt/slideMasters/slideMaster2.xml" Id="Rdc27ca3eeddc496d" /><Relationship Type="http://schemas.openxmlformats.org/officeDocument/2006/relationships/notesMaster" Target="/ppt/notesMasters/notesMaster1.xml" Id="Raa6bd5772b0b4b34" /><Relationship Type="http://schemas.openxmlformats.org/officeDocument/2006/relationships/presProps" Target="/ppt/presProps.xml" Id="R61e1f3aff9bc4cd3" /><Relationship Type="http://schemas.openxmlformats.org/officeDocument/2006/relationships/viewProps" Target="/ppt/viewProps.xml" Id="R7b748cd5e25b4859" /><Relationship Type="http://schemas.openxmlformats.org/officeDocument/2006/relationships/tableStyles" Target="/ppt/tableStyles.xml" Id="Ra797b948e2474c15" /><Relationship Type="http://schemas.openxmlformats.org/officeDocument/2006/relationships/font" Target="/ppt/fonts/font.dat" Id="R14a8da8942074cd9" /><Relationship Type="http://schemas.openxmlformats.org/officeDocument/2006/relationships/font" Target="/ppt/fonts/font2.dat" Id="R19dc2a00012c4434" /><Relationship Type="http://schemas.openxmlformats.org/officeDocument/2006/relationships/font" Target="/ppt/fonts/font3.dat" Id="Rfb2a8aca4aae41cd" /><Relationship Type="http://schemas.openxmlformats.org/officeDocument/2006/relationships/font" Target="/ppt/fonts/font4.dat" Id="R824a11e1fba741ee" /><Relationship Type="http://schemas.openxmlformats.org/officeDocument/2006/relationships/font" Target="/ppt/fonts/font5.dat" Id="R8210af6dbd3e4ac4" /><Relationship Type="http://schemas.openxmlformats.org/officeDocument/2006/relationships/slide" Target="/ppt/slides/slide1.xml" Id="Rc1dfbb96152642e1" /><Relationship Type="http://schemas.openxmlformats.org/officeDocument/2006/relationships/slide" Target="/ppt/slides/slide2.xml" Id="R9ec81843769141f0" /><Relationship Type="http://schemas.openxmlformats.org/officeDocument/2006/relationships/slide" Target="/ppt/slides/slide3.xml" Id="Rca678d774b264752" /><Relationship Type="http://schemas.openxmlformats.org/officeDocument/2006/relationships/slide" Target="/ppt/slides/slide4.xml" Id="Recd3499d68eb4d9f" /><Relationship Type="http://schemas.openxmlformats.org/officeDocument/2006/relationships/slide" Target="/ppt/slides/slide5.xml" Id="Re572d55a07ff4e41" /><Relationship Type="http://schemas.openxmlformats.org/officeDocument/2006/relationships/slide" Target="/ppt/slides/slide6.xml" Id="Rd4f7630aec4f4bdb" /><Relationship Type="http://schemas.openxmlformats.org/officeDocument/2006/relationships/slide" Target="/ppt/slides/slide7.xml" Id="R4c9e6d660efd4583" /><Relationship Type="http://schemas.openxmlformats.org/officeDocument/2006/relationships/slide" Target="/ppt/slides/slide8.xml" Id="Rd7f13a6e808340d6" /><Relationship Type="http://schemas.openxmlformats.org/officeDocument/2006/relationships/slide" Target="/ppt/slides/slide9.xml" Id="R8a664755b447475d" /><Relationship Type="http://schemas.openxmlformats.org/officeDocument/2006/relationships/slide" Target="/ppt/slides/slide10.xml" Id="Reb5aa3adfe9540a6" /><Relationship Type="http://schemas.openxmlformats.org/officeDocument/2006/relationships/slide" Target="/ppt/slides/slide11.xml" Id="R11764f993b7848ae" /><Relationship Type="http://schemas.openxmlformats.org/officeDocument/2006/relationships/slide" Target="/ppt/slides/slide12.xml" Id="Rcb5305b331274beb" /><Relationship Type="http://schemas.openxmlformats.org/officeDocument/2006/relationships/slide" Target="/ppt/slides/slide13.xml" Id="R6bc68088562845a8" /><Relationship Type="http://schemas.openxmlformats.org/officeDocument/2006/relationships/slide" Target="/ppt/slides/slide14.xml" Id="R66f868ed2ab946c6" /><Relationship Type="http://schemas.openxmlformats.org/officeDocument/2006/relationships/slide" Target="/ppt/slides/slide15.xml" Id="R61fdae6e55fa4040" /><Relationship Type="http://schemas.openxmlformats.org/officeDocument/2006/relationships/slide" Target="/ppt/slides/slide16.xml" Id="R8bb488d64cc04d3b" /><Relationship Type="http://schemas.openxmlformats.org/officeDocument/2006/relationships/slide" Target="/ppt/slides/slide17.xml" Id="R0f19c5a637094e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d64ca8b188945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8dc6a0b8c46b1" /><Relationship Type="http://schemas.openxmlformats.org/officeDocument/2006/relationships/notesMaster" Target="/ppt/notesMasters/notesMaster1.xml" Id="Re7040b423919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c172ce004e4d72" /><Relationship Type="http://schemas.openxmlformats.org/officeDocument/2006/relationships/notesMaster" Target="/ppt/notesMasters/notesMaster1.xml" Id="R91e1c312f7ce45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19317e4654ecc" /><Relationship Type="http://schemas.openxmlformats.org/officeDocument/2006/relationships/notesMaster" Target="/ppt/notesMasters/notesMaster1.xml" Id="R714cc27a125c43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9ee0883a845f2" /><Relationship Type="http://schemas.openxmlformats.org/officeDocument/2006/relationships/notesMaster" Target="/ppt/notesMasters/notesMaster1.xml" Id="R61b5342d2bdb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96bfbfad74572" /><Relationship Type="http://schemas.openxmlformats.org/officeDocument/2006/relationships/notesMaster" Target="/ppt/notesMasters/notesMaster1.xml" Id="R189a976bf89f46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249fc7ccc49b4" /><Relationship Type="http://schemas.openxmlformats.org/officeDocument/2006/relationships/notesMaster" Target="/ppt/notesMasters/notesMaster1.xml" Id="R5172e44e029a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3f97eaf1d416b" /><Relationship Type="http://schemas.openxmlformats.org/officeDocument/2006/relationships/notesMaster" Target="/ppt/notesMasters/notesMaster1.xml" Id="R7bc256ff9d1e4e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d7d33d38464314" /><Relationship Type="http://schemas.openxmlformats.org/officeDocument/2006/relationships/notesMaster" Target="/ppt/notesMasters/notesMaster1.xml" Id="Ra3b04a63594e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be961e352b42f5" /><Relationship Type="http://schemas.openxmlformats.org/officeDocument/2006/relationships/notesMaster" Target="/ppt/notesMasters/notesMaster1.xml" Id="Rea38ddff97e0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c764575b0144d3" /><Relationship Type="http://schemas.openxmlformats.org/officeDocument/2006/relationships/notesMaster" Target="/ppt/notesMasters/notesMaster1.xml" Id="R5906cadff03a45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4ac79f141644aa" /><Relationship Type="http://schemas.openxmlformats.org/officeDocument/2006/relationships/notesMaster" Target="/ppt/notesMasters/notesMaster1.xml" Id="R9e9699c41d1b4a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dbd4de8acd4180" /><Relationship Type="http://schemas.openxmlformats.org/officeDocument/2006/relationships/notesMaster" Target="/ppt/notesMasters/notesMaster1.xml" Id="Rf51c6d2edc1a4c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7555f81dfe476a" /><Relationship Type="http://schemas.openxmlformats.org/officeDocument/2006/relationships/notesMaster" Target="/ppt/notesMasters/notesMaster1.xml" Id="R495383f3c0654c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abdc9846e94a7c" /><Relationship Type="http://schemas.openxmlformats.org/officeDocument/2006/relationships/notesMaster" Target="/ppt/notesMasters/notesMaster1.xml" Id="R1a3b8763e0c343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444c44cf944502" /><Relationship Type="http://schemas.openxmlformats.org/officeDocument/2006/relationships/notesMaster" Target="/ppt/notesMasters/notesMaster1.xml" Id="R3d27a07e266b4c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cef1510a4f4f0f" /><Relationship Type="http://schemas.openxmlformats.org/officeDocument/2006/relationships/notesMaster" Target="/ppt/notesMasters/notesMaster1.xml" Id="R12d50b0b3c1046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2db4ecceac4c83" /><Relationship Type="http://schemas.openxmlformats.org/officeDocument/2006/relationships/notesMaster" Target="/ppt/notesMasters/notesMaster1.xml" Id="R4fd166eeb54d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作品以任务级端云协同调度中间件为主体。技能复用是辅助创新，购物是说明业务闭环的样例。P1 承担主控，云端按授权提供规划和复杂推理。当前具备桌面调度和执行原型，获板后完成真实端云模型闭环。</a:t>
            </a:r>
          </a:p>
          <a:p xmlns:a="http://schemas.openxmlformats.org/drawingml/2006/main"/>
          <a:p xmlns:a="http://schemas.openxmlformats.org/drawingml/2006/main"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本页按项目定义、具体痛点、目标用户和 Agent 核心价值展开。芯枢是任务级端云协同调度中间件，运行在 P1，复用合法工具和模型接口，不接管内核或芯片驱动。目标用户和调用频率属于拟定产品定位，未开展用户规模调查，不编造市场数字。购物仅作为具体验证场景，后续插件复用是设计目标。减少等待与开发成本是待通过同质量对照验证的目标，不是已获得的实验结论。当前代码基线09af76c。源码：https://github.com/fangluyang7-debug/Cixin/tree/codex/cixin-multi-device-runtime/cixin-agent 。赛事要求：https://developer.cixtech.com/EcoCompetition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用购物说明端云闭环，而非把购物功能当核心作品。Embedding 是把图片转为检索用特征向量的本地模型；向量检索/预算尺码过滤是程序。是否需要云复核由工具质量规则决定，不能擅自降低质量。当前TaskGraph按拓扑串行执行。云规划、自动重规划和输出业务验证待实现。官方赛道要求来自用户提供截图及 https://developer.cixtech.com/EcoCompetition 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完整数据流为目标架构。云Planner是待建设接口，TaskGraph回P1校验，云模型不能直接控制P1硬件。云端仅基于API额度、限流、质量与请求预算准入，不承诺托管云物理硬件分配。反馈既含工具结果也含实际配置和耗时，本地资源采样用于调度输入。现有CPU工具和通用Worker宿主已实现，真实NOE与云执行未集成。来源：src/contracts/cixin.ts、src/runtime/fleet-runtime.ts、src/runtime/board-node.ts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候选为本次补充建议，不是既有部署事实。CLIP ViT-B/32 视觉编码用于图片检索，MIT许可来源 https://github.com/openai/CLIP 。云候选 Qwen/Qwen2.5-VL-7B-Instruct 官方模型卡 https://huggingface.co/Qwen/Qwen2.5-VL-7B-Instruct ，图文/结构化能力、Apache-2.0。AnyInt模型清单未核验，不能保证提供该具体型号或版本。https://2026agentic-ai.readthedocs.io/en/latest/cloud-models/index.html 推荐应用API、OpenAI Chat Completions兼容协议。端侧 https://2026agentic-ai.readthedocs.io/en/latest/edge-ai/index.html 给出NOE Embedding路线，非任意CLIP已兼容承诺。优先核对 https://modelscope.cn/models/cix/ai_model_hub_26_Q2 。如更换编码模型须重建索引并重验质量。候选并非宣称最优或调研最终结论。服务条款与开源权重许可分别核对。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依据package.json：typescript ^5.7.2、Node&gt;=22，package-lock锁定TypeScript 5.9.3，没有LangChain/AutoGen依赖。现有FleetRuntime按拓扑序串行调度，工具执行器不是多个LLM Agent。TaskGraph/ToolRegistry及合法档位接口解耦业务与模型。现有轻量成本模型分环境存储样本，完整云路径成本待接入。框架比较是团队当前取舍，不声称通用框架不能做资源调度。固定调用链是后续实验对照。工具descriptor支持retry字段不等于整图自动重试已完成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官方环境 https://2026agentic-ai.readthedocs.io/en/latest/environment/index.html 说明Debian12/Linux6.6/P1 SDK2026Q2，BSP按板型不同。源码deploy/cixin-agent.service；plugins/process-worker.ts使用spawn、stdin/stdout JSON进行probe/execute；runtime/util.ts本地JSON临时文件rename；plugins/vector-search.ts精确余弦遍历、输入上限10000。部署方式为现有systemd文件与计划中的ARM64执行。云数据库COS是协作者可迁移业务资产，独立cixinRuntime尚未接好。精确检索选择作为质量基线，未来近似索引必须验证召回与成本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来源：https://2026agentic-ai.readthedocs.io/en/latest/overview.html ：12核Armv9.2 CPU、10核Arm Immortalis G720 GPU、30TOPS NPU及参考32GB开发板。https://2026agentic-ai.readthedocs.io/en/latest/edge-ai/index.html ：NOE/NPU支持Embedding类路线。https://2026agentic-ai.readthedocs.io/en/latest/environment/index.html ：Debian12/Linux6.6及NOE环境，BSP需按板型核对。预算只是示例：100M×1byte=100MB；100000×512×4byte=204.8MB，不是锁定模型测量。首版不依赖本地LLM或GPU。已有适配：CPU差分、Linux MemAvailable、可配置sysfs、环境指纹、Worker摘要与实际后端验证。尚无P1实机验收。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截图来自之前实际启动的Windows x64 / Node24.19.0 Runtime，代码基线未变。工具catalog.vector_search，query=[1,0,0]，shoe-a=[1,0,0]，shoe-b=[0,1,0]，结果1和0。7ms为单次微型任务执行端记录，不是端到端性能实验。27项自动化测试已有通过证据，双localhost协议demo使用指定远端和降低样本门槛，不能当作自动调度加速证据。P1/NOE、云规划、云执行、商品图片业务尚未集成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团队和正式期限待定，此页是相对工作计划。与上一版相比，端云调度与P1闭环是首要交付，技能复用属于后续增量，避免主创新开发阻塞赛道基本要求。需优先完成真实云调用、输入驻留与外发规则、NOE模型执行和成本校准，不能将桌面fixture代替获板验收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团队真实个人信息未提供，不编造成员数量、获奖、用户规模或技术资历。云端资产指同仓库harmony-agent/original_app相关接口，可复用不等于已集成进cixin-agent。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现有ConstrainedPolicy、AdaptiveCostModel和FleetRuntime具备设备/配置候选、硬约束、本地复核及回执反馈基础。云候选需新增独立CloudExecutor/Planner及外发许可。质量不能靠速度得分抵消；工具没有兼容实现时不构造替代能力。现有默认本地单槽，CPU向量插件实际单Worker，不能以预算2表示已经双Worker加速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AdaptiveCostModel采用EWMA：旧均值0.75 + 新样本0.25，结合偏差和近期分位数，不宣称统计上校准的置信区间。256桶、每桶50条为现实现限制。云链路需输入所在位置、输出去向、字节数、链路带宽、存储读写、队列/限流、费用、签名时效。数据已经在COS时不再假设手机重新上传；Worker耗时已包含加载时不能再次计入。调度自身耗时与网络Quote等待分开测量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320ms算式是人为构造的说明例，不能计算并对外宣传加速倍数。完整可行性仍需模型/工具兼容性和质量验证、设备白名单、授权、样本门槛、剩余预算。示例假设收益差满足切换阈值。若云模型不具备相同输出契约，不列为同一步骤替代候选。2秒时限用于使三行速度例均可行；两侧均不可行不能自动强行执行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TL并不消除传感器和网络延迟。现默认CPU/内存/链路3秒、温度30秒，按样本年龄判断；Quote按需存活检查不是后台广播发现。目标再采样仍须保守。响应丢失状态unknown，不自动退回本地重复执行；reconcile查询原尝试。取消须等待实际停止。状态文件原子替换不等于数据库级exactly-once，图级自动恢复和整体取消当前不完善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killCompiler/Validator/Registry/Resolver待实现，首版只生成由已注册工具构成的受限JSON流程，不生成任意Shell。技能复用不能绕过授权、质量和当前资源调度。此处系统创新是流程验证与资源约束联动，不宣称技能库/任务图/EWMA是首创。评价需计入提取、验证、回退成本，并与人工模板比较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实验保持同输入、模型、数据、质量门槛与硬件状态，区分冷启动/热运行，记录样本数和故障注入条件。不要把调度CPU时间与Quote网络等待混为一项；延迟看用户端到端，不只工具执行端。技能验证成本要纳入累计收益。可复用接口为TaskGraph/ToolDescriptor、Runtime API和probe/execute Worker协议，通用性限于已注册兼容工具。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c5d78545c4c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59d6c313c47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441bdfd4f46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3a065e87d44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ec699abf54a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6b793284042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1901c485b42b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7c1ba16fe49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312015de548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34a3cecb448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9ef59b5444b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cf75d17de647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ae073a8cc0446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b10eb8cd0642b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9333b417214ab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96508c48ae4a9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6e26fb2e864c8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2267e9c02248b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b6703295004d7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47d066f2ac463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06497f44c144b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7f55cb827642f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795d9fda68492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61155a7989469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c9f0dd69a14e8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90BBA2-99A2-4C50-911E-AA87CC5D555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BA824D-37AC-46B9-AD82-8A63EED11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F54D09-CAFE-4D6E-A0EC-554C5FCB3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00A5E-2B82-45F9-84F6-C8ECFAF4EC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C4FA2D-6036-4974-A5AE-B3D5BC52D5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10F8E-69FE-405A-B8B2-8E6AC8616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D8D9D-AC5F-45BB-9610-82C8476394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DD9A69-AEF6-4164-8B2D-70C8749E1B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02843-425F-4F53-BA77-C88B40285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2C9CC0-0F3C-40B4-BDDA-548C33D751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DE1302-5653-453F-B7BF-45FD1238A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93F2C2-A6C3-4E1E-802D-84B9B25EC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F7FFC7-4C01-40BE-B67D-A155542452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3D1086-00E1-47F5-B726-5DB6B660F0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F1712D-A796-4FCD-B190-1D439491EC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705863-CBAE-47B6-B7D7-951C3943A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F27A57-1137-4991-83AA-A9EDE0B41B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0C1C809-3D17-40DE-8C07-A8A046A7D8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A0F6128-8400-445F-9DA7-C968FC7E2A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C8DEADD-F4C1-4CF7-8C2F-5883F8C907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F6C915-F59F-4A96-BC79-D694BD99D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5B597F-B8F1-4686-A430-076306095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F7E966-E84B-443E-9D84-7B020FF03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4AF3B4-C554-4A61-B822-8821A94D3A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603C07B-9725-488C-B581-B27C358635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F2E9D8-8F4C-413A-99CA-6ACACF909B8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11D208E-CFD1-48E6-B9F0-C60788C56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AE213B9-2016-4317-8113-C84F55F3C2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ADDA1A7-B4EC-4790-B374-70C56CCBB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CF6A6A-AFB8-4F84-91C1-1F73D2111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D9ED955-A6BA-4DB8-BB87-45E31506CD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47A94B7-1A07-41BC-8050-A3A71AD1B2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EF894F-AB56-4FD7-99E8-10E9DB4E1C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A6BEF91-419B-4349-9A68-3135B722EF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C5DEBB-5372-4177-AF96-B6E5E83C28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EAC354-E70A-4830-8EB0-A105F809C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A97E24-869E-4405-9782-692E98333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6EE296-D6EC-46EA-AA3D-267229B479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189F59-2732-42A7-8CCC-8A02328257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6CFBB7-FC1E-46A4-A5EA-42EC3A7B35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07D4FD-4378-4F82-A12B-BB6E11E914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F073D2-3067-4197-84F7-7FC6A9D58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AF44C0-1EF0-4B12-965A-B2CA7BFF7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4EEF1A-CA1B-433A-8117-86713A19404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FC260C-F208-4B50-9F25-7738AA7D73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E3A985C-1C92-4BF7-BD0C-A9C7C9C7A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E8878D0-8F68-48D9-B68C-AD0079AF2C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93C9529-1459-4384-B3C1-287E6289E2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B1B0FF-2215-4F6C-AB7B-808CB2550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66017-445D-46D8-9365-D4EF5889AD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04F02B-867E-43E3-856F-0116BEFFE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19071E-7DCD-44D4-A908-0EBA820C64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D35D8C-5D50-445F-9FBC-CD3EBB119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BF9ADC1-1955-4BA9-A680-287985C51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8DFA62-2A25-4D69-A9D4-0E7BDA3D5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8F03A-142B-4088-8FD4-F445105F4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068139-148B-48B3-A359-FC8301B5D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B4594-3EA8-4F7E-B324-EA777C277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E1DA49-BB5D-43FD-84CA-B8BC82F601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A3CB6BA-8549-4825-B1B2-5F6B1DFB34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94ACD042-6FF3-4CB8-82A4-82B9FC22CF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C5D27B10-C4DF-4A0E-B424-8A9A1B05E4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0B2BD8E1-D8C2-4856-A88D-0A1EFBCCB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7015B8-86C4-4C73-9C30-D738B9354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3618A3C-0017-49AA-904E-EAA2650DDF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7D8A12-C06B-4FFE-85B9-47325F8523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2614ABD-04F5-4C70-BC5D-5373A7E84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6DD2F3-8FCC-49FC-B858-E13ADD78B5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40C5C9-C51D-4F89-BC84-BF35FB4C2B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A5A4D0-9127-4B54-8483-3D8652BA2AC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65C381-4652-4B8A-BEB8-1539CFBA5B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060D44-1D22-4C29-B4AE-5C5FCFBB06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3C00E7-D98B-4E67-914D-1A88350BE6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4C86E5-05CD-41F8-A6E6-4CEDC2A64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3863C1-624B-4ED7-AD94-CC5DA2027D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6F0C59-F694-4C27-BFBB-B6882E8D10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01CD964-E31E-4E5E-87AE-B1BF8BD323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E70A1F7-FE4E-447B-A34C-1AC45579CD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1DE01E-E358-4964-9A35-E0E926914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7BEC20-63B7-4235-B46E-BE627FB3B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ED05DD1-E034-4617-9BAA-CEADC22EB1B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04000"/>
            <a:ext cx="53424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48DE783-FA92-4064-83C0-3CB4E71C1F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79DDF4C-8D9E-43BF-AE96-6B61339B190B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04000"/>
            <a:ext cx="53424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846A0C7-9B09-4765-A7B7-7ABC5DA4C5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A2AD6AE-A685-44B9-98FA-D55E63BB0A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713C838-19AE-4ABE-AFF0-E675DB032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38402A-0C97-4D2F-BAE6-4C644B6318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633D45-D419-4B10-9C8B-8968AEC75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554FB2A-3F95-482B-A8D3-13B970918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7A71F8-BFBF-454D-BA0B-8BC30AAD45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06C91CD-37DF-46B5-BF3A-41D7732C32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86C5717-7A6E-4604-A02B-3F7BD3F1F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3FEE954-5A3E-4093-89E1-14474A3DF5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A52A3E4-0AA2-46DD-81EB-60FF9EED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CAC6B1C-B353-4D14-AFC9-2579A751B71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A77EA5A-338F-48EC-8943-E39C6616DC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044343F-B984-42D7-A51E-813EC77A8E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EC3E510-C939-44BE-8F80-CD2BC15A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FC589D4-FEF6-4923-AFA7-EF8CB9ED73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3C7745F1-A6B1-43E4-8815-674535022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D95169A-F8AA-4938-BB75-48C517CE740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94D2441-2C97-4812-8376-725CFC51D1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03402A-CF75-4A1F-AA0D-86346E166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2B40472-74D6-4379-97D7-E6F5E30520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F91466-9531-4971-A137-F4D1462CC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75C5CDF-12CD-432C-B25C-B68052C09F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595F4B8-EBA5-4453-AD17-7B96376A13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BA107D-DAB4-4532-B767-CCE65936C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42AC2CA-5B06-42BE-AFB8-F40B7C94971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AD550CE-76E4-4374-9E43-FCBAE0003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1AD7209-BA56-453D-B4EE-C22B042ED6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EF7967-F296-4862-AF3B-96DB516DE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30673B-7F15-473F-AFED-68B024A9E7E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397600"/>
            <a:ext cx="97992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7D262FAF-6114-48B9-BEBA-93534B92D75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userDrawn="1">
  <p:cSld name="2 column slide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807C08-8A11-4C2D-B2E0-27C154093061}"/>
              </a:ext>
            </a:extLst>
          </p:cNvPr>
          <p:cNvSpPr>
            <a:spLocks xmlns:a="http://schemas.openxmlformats.org/drawingml/2006/main" noGrp="1"/>
          </p:cNvSpPr>
          <p:nvPr>
            <p:ph idx="19" hasCustomPrompt="1"/>
          </p:nvPr>
        </p:nvSpPr>
        <p:spPr>
          <a:xfrm xmlns:a="http://schemas.openxmlformats.org/drawingml/2006/main">
            <a:off x="341681" y="2202443"/>
            <a:ext cx="5515504" cy="3933245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581660" indent="-16700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947420" indent="-16700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93495" indent="-17335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518920" indent="-16827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07C05F-84BB-4D57-BA23-09012536732F}"/>
              </a:ext>
            </a:extLst>
          </p:cNvPr>
          <p:cNvSpPr>
            <a:spLocks xmlns:a="http://schemas.openxmlformats.org/drawingml/2006/main" noGrp="1"/>
          </p:cNvSpPr>
          <p:nvPr>
            <p:ph idx="21" hasCustomPrompt="1"/>
          </p:nvPr>
        </p:nvSpPr>
        <p:spPr>
          <a:xfrm xmlns:a="http://schemas.openxmlformats.org/drawingml/2006/main">
            <a:off x="6339946" y="2202442"/>
            <a:ext cx="5517085" cy="3933246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58166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94742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93495" indent="-17335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518920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69BFE38-4993-4523-90DE-5D2F5D6562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3" y="333375"/>
            <a:ext cx="11233150" cy="451869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3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Title Style</a:t>
            </a:r>
          </a:p>
        </p:txBody>
      </p:sp>
      <p:sp>
        <p:nvSpPr>
          <p:cNvPr id="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709A6B1-5B65-4B1A-B269-D5319DE206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34963" y="785244"/>
            <a:ext cx="11233150" cy="3444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8" name="Text Placeholder 131">
            <a:extLst xmlns:a="http://schemas.openxmlformats.org/drawingml/2006/main">
              <a:ext uri="{FF2B5EF4-FFF2-40B4-BE49-F238E27FC236}">
                <a16:creationId xmlns:a16="http://schemas.microsoft.com/office/drawing/2014/main" id="{412050E2-10CC-4E26-8128-BC39A3557F0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339946" y="1629286"/>
            <a:ext cx="5517092" cy="542459"/>
          </a:xfrm>
        </p:spPr>
        <p:txBody>
          <a:bodyPr xmlns:a="http://schemas.openxmlformats.org/drawingml/2006/main" anchor="t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/>
              <a:buNone/>
              <a:defRPr b="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69DDD17F-146A-4681-A3FB-D5E6B0C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1950"/>
            <a:ext cx="0" cy="444060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 Placeholder 131">
            <a:extLst xmlns:a="http://schemas.openxmlformats.org/drawingml/2006/main">
              <a:ext uri="{FF2B5EF4-FFF2-40B4-BE49-F238E27FC236}">
                <a16:creationId xmlns:a16="http://schemas.microsoft.com/office/drawing/2014/main" id="{3A36C32B-537A-4016-AC17-A2551EC6E70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341681" y="1629286"/>
            <a:ext cx="5517088" cy="542459"/>
          </a:xfrm>
        </p:spPr>
        <p:txBody>
          <a:bodyPr xmlns:a="http://schemas.openxmlformats.org/drawingml/2006/main" anchor="t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/>
              <a:buNone/>
              <a:defRPr b="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1 column slide w/ Su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C2456-0CBC-4AF6-9636-329F7F5277B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3" y="333375"/>
            <a:ext cx="11233150" cy="451869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3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Title Style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F04ABA7C-9F46-4AC7-820A-D47E5FFE631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34963" y="785244"/>
            <a:ext cx="11233150" cy="3444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E30438-F873-4AE6-A377-5E3165114B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34962" y="1333362"/>
            <a:ext cx="11522075" cy="4937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400">
                <a:solidFill>
                  <a:schemeClr val="tx1"/>
                </a:solidFill>
              </a:defRPr>
            </a:lvl1pPr>
            <a:lvl2pPr marL="58166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2pPr>
            <a:lvl3pPr marL="85598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02055" indent="-17335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427480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b58428da94333" /><Relationship Type="http://schemas.openxmlformats.org/officeDocument/2006/relationships/slideLayout" Target="/ppt/slideLayouts/slideLayout1.xml" Id="R5b588dc8d16d4b9c" /><Relationship Type="http://schemas.openxmlformats.org/officeDocument/2006/relationships/slideLayout" Target="/ppt/slideLayouts/slideLayout2.xml" Id="Rb54d54f488d74f4d" /><Relationship Type="http://schemas.openxmlformats.org/officeDocument/2006/relationships/slideLayout" Target="/ppt/slideLayouts/slideLayout3.xml" Id="Rc2cfdf88812e4d6f" /><Relationship Type="http://schemas.openxmlformats.org/officeDocument/2006/relationships/slideLayout" Target="/ppt/slideLayouts/slideLayout4.xml" Id="R537f644b720b41ec" /><Relationship Type="http://schemas.openxmlformats.org/officeDocument/2006/relationships/slideLayout" Target="/ppt/slideLayouts/slideLayout5.xml" Id="R5bea14e7afa14ebc" /><Relationship Type="http://schemas.openxmlformats.org/officeDocument/2006/relationships/slideLayout" Target="/ppt/slideLayouts/slideLayout6.xml" Id="R0ab7ce17daf14512" /><Relationship Type="http://schemas.openxmlformats.org/officeDocument/2006/relationships/slideLayout" Target="/ppt/slideLayouts/slideLayout7.xml" Id="R51263e46bb554de6" /><Relationship Type="http://schemas.openxmlformats.org/officeDocument/2006/relationships/slideLayout" Target="/ppt/slideLayouts/slideLayout8.xml" Id="Rdfa487061ef74bf9" /><Relationship Type="http://schemas.openxmlformats.org/officeDocument/2006/relationships/slideLayout" Target="/ppt/slideLayouts/slideLayout9.xml" Id="Rb8b20f429f4945e2" /><Relationship Type="http://schemas.openxmlformats.org/officeDocument/2006/relationships/slideLayout" Target="/ppt/slideLayouts/slideLayout10.xml" Id="R0f28f772ca314ecb" /><Relationship Type="http://schemas.openxmlformats.org/officeDocument/2006/relationships/slideLayout" Target="/ppt/slideLayouts/slideLayout11.xml" Id="R368f1ae21b424d4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0c6083dd00a943b3" /><Relationship Type="http://schemas.openxmlformats.org/officeDocument/2006/relationships/image" Target="/ppt/media/image2.png" Id="Reae08bc5d17c459d" /><Relationship Type="http://schemas.openxmlformats.org/officeDocument/2006/relationships/image" Target="/ppt/media/image3.png" Id="Ra3b6b8ba31344663" /><Relationship Type="http://schemas.openxmlformats.org/officeDocument/2006/relationships/theme" Target="/ppt/slideMasters/theme/theme3.xml" Id="Rc2ee41a438f948f1" /><Relationship Type="http://schemas.openxmlformats.org/officeDocument/2006/relationships/slideLayout" Target="/ppt/slideLayouts/slideLayout12.xml" Id="R9e2771efd77345d6" /><Relationship Type="http://schemas.openxmlformats.org/officeDocument/2006/relationships/slideLayout" Target="/ppt/slideLayouts/slideLayout13.xml" Id="Recd27de530ac48bf" /><Relationship Type="http://schemas.openxmlformats.org/officeDocument/2006/relationships/slideLayout" Target="/ppt/slideLayouts/slideLayout14.xml" Id="Rb14895a0d6c54a31" /><Relationship Type="http://schemas.openxmlformats.org/officeDocument/2006/relationships/slideLayout" Target="/ppt/slideLayouts/slideLayout15.xml" Id="Rb37e6d8ce4fa43eb" /><Relationship Type="http://schemas.openxmlformats.org/officeDocument/2006/relationships/slideLayout" Target="/ppt/slideLayouts/slideLayout16.xml" Id="R48762c8d33fd461a" /><Relationship Type="http://schemas.openxmlformats.org/officeDocument/2006/relationships/slideLayout" Target="/ppt/slideLayouts/slideLayout17.xml" Id="R1274e6a43acd4430" /><Relationship Type="http://schemas.openxmlformats.org/officeDocument/2006/relationships/slideLayout" Target="/ppt/slideLayouts/slideLayout18.xml" Id="Rada97362d4a34826" /><Relationship Type="http://schemas.openxmlformats.org/officeDocument/2006/relationships/slideLayout" Target="/ppt/slideLayouts/slideLayout19.xml" Id="R6aa0d4462912458f" /><Relationship Type="http://schemas.openxmlformats.org/officeDocument/2006/relationships/slideLayout" Target="/ppt/slideLayouts/slideLayout20.xml" Id="R95fddf15a77a41e4" /><Relationship Type="http://schemas.openxmlformats.org/officeDocument/2006/relationships/slideLayout" Target="/ppt/slideLayouts/slideLayout21.xml" Id="Rc540a8da9f7d4d89" /><Relationship Type="http://schemas.openxmlformats.org/officeDocument/2006/relationships/slideLayout" Target="/ppt/slideLayouts/slideLayout22.xml" Id="R712743b0d4f941fb" /><Relationship Type="http://schemas.openxmlformats.org/officeDocument/2006/relationships/slideLayout" Target="/ppt/slideLayouts/slideLayout23.xml" Id="R8051738c6861433d" /><Relationship Type="http://schemas.openxmlformats.org/officeDocument/2006/relationships/slideLayout" Target="/ppt/slideLayouts/slideLayout24.xml" Id="R302ca1e0290e4b6d" /><Relationship Type="http://schemas.openxmlformats.org/officeDocument/2006/relationships/slideLayout" Target="/ppt/slideLayouts/slideLayout25.xml" Id="R72616b1f9ddc44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021A74-3552-423F-9614-9244A43D5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B4D9C9-A659-444D-BE1C-B68C1DFA6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D1EB83-3213-4632-8320-72A41CD34C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26E4F6-9205-4B18-A0EF-DAED5D09FE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341CD9-C148-426D-94A4-BCD19ABB37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88dc8d16d4b9c"/>
    <p:sldLayoutId xmlns:r="http://schemas.openxmlformats.org/officeDocument/2006/relationships" id="2147483650" r:id="Rb54d54f488d74f4d"/>
    <p:sldLayoutId xmlns:r="http://schemas.openxmlformats.org/officeDocument/2006/relationships" id="2147483651" r:id="Rc2cfdf88812e4d6f"/>
    <p:sldLayoutId xmlns:r="http://schemas.openxmlformats.org/officeDocument/2006/relationships" id="2147483652" r:id="R537f644b720b41ec"/>
    <p:sldLayoutId xmlns:r="http://schemas.openxmlformats.org/officeDocument/2006/relationships" id="2147483653" r:id="R5bea14e7afa14ebc"/>
    <p:sldLayoutId xmlns:r="http://schemas.openxmlformats.org/officeDocument/2006/relationships" id="2147483654" r:id="R0ab7ce17daf14512"/>
    <p:sldLayoutId xmlns:r="http://schemas.openxmlformats.org/officeDocument/2006/relationships" id="2147483655" r:id="R51263e46bb554de6"/>
    <p:sldLayoutId xmlns:r="http://schemas.openxmlformats.org/officeDocument/2006/relationships" id="2147483656" r:id="Rdfa487061ef74bf9"/>
    <p:sldLayoutId xmlns:r="http://schemas.openxmlformats.org/officeDocument/2006/relationships" id="2147483657" r:id="Rb8b20f429f4945e2"/>
    <p:sldLayoutId xmlns:r="http://schemas.openxmlformats.org/officeDocument/2006/relationships" id="2147483658" r:id="R0f28f772ca314ecb"/>
    <p:sldLayoutId xmlns:r="http://schemas.openxmlformats.org/officeDocument/2006/relationships" id="2147483659" r:id="R368f1ae21b424d4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083dd00a943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626860"/>
            <a:ext cx="12191365" cy="231140"/>
          </a:xfrm>
          <a:prstGeom xmlns:a="http://schemas.openxmlformats.org/drawingml/2006/main" prst="rect">
            <a:avLst/>
          </a:prstGeom>
        </p:spPr>
      </p:pic>
      <p:pic>
        <p:nvPicPr>
          <p:cNvPr id="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08bc5d17c45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460375"/>
          </a:xfrm>
          <a:prstGeom xmlns:a="http://schemas.openxmlformats.org/drawingml/2006/main" prst="rect">
            <a:avLst/>
          </a:prstGeom>
        </p:spPr>
      </p:pic>
      <p:pic>
        <p:nvPicPr>
          <p:cNvPr id="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b8ba313446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" y="3810"/>
            <a:ext cx="991870" cy="46355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01140AE-674B-4F61-AF31-5AA80E0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330" y="79375"/>
            <a:ext cx="40640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此芯科技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Agentic AI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开发者大赛</a:t>
            </a:r>
            <a:endParaRPr sz="1400" i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e2771efd77345d6"/>
    <p:sldLayoutId xmlns:r="http://schemas.openxmlformats.org/officeDocument/2006/relationships" id="2147483662" r:id="Recd27de530ac48bf"/>
    <p:sldLayoutId xmlns:r="http://schemas.openxmlformats.org/officeDocument/2006/relationships" id="2147483663" r:id="Rb14895a0d6c54a31"/>
    <p:sldLayoutId xmlns:r="http://schemas.openxmlformats.org/officeDocument/2006/relationships" id="2147483664" r:id="Rb37e6d8ce4fa43eb"/>
    <p:sldLayoutId xmlns:r="http://schemas.openxmlformats.org/officeDocument/2006/relationships" id="2147483665" r:id="R48762c8d33fd461a"/>
    <p:sldLayoutId xmlns:r="http://schemas.openxmlformats.org/officeDocument/2006/relationships" id="2147483666" r:id="R1274e6a43acd4430"/>
    <p:sldLayoutId xmlns:r="http://schemas.openxmlformats.org/officeDocument/2006/relationships" id="2147483667" r:id="Rada97362d4a34826"/>
    <p:sldLayoutId xmlns:r="http://schemas.openxmlformats.org/officeDocument/2006/relationships" id="2147483668" r:id="R6aa0d4462912458f"/>
    <p:sldLayoutId xmlns:r="http://schemas.openxmlformats.org/officeDocument/2006/relationships" id="2147483669" r:id="R95fddf15a77a41e4"/>
    <p:sldLayoutId xmlns:r="http://schemas.openxmlformats.org/officeDocument/2006/relationships" id="2147483670" r:id="Rc540a8da9f7d4d89"/>
    <p:sldLayoutId xmlns:r="http://schemas.openxmlformats.org/officeDocument/2006/relationships" id="2147483671" r:id="R712743b0d4f941fb"/>
    <p:sldLayoutId xmlns:r="http://schemas.openxmlformats.org/officeDocument/2006/relationships" id="2147483672" r:id="R8051738c6861433d"/>
    <p:sldLayoutId xmlns:r="http://schemas.openxmlformats.org/officeDocument/2006/relationships" id="2147483673" r:id="R302ca1e0290e4b6d"/>
    <p:sldLayoutId xmlns:r="http://schemas.openxmlformats.org/officeDocument/2006/relationships" id="2147483674" r:id="R72616b1f9ddc443b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6daa8f0210c4086" /><Relationship Type="http://schemas.openxmlformats.org/officeDocument/2006/relationships/image" Target="/ppt/media/image.jpeg" Id="R8a61348107804e63" /><Relationship Type="http://schemas.openxmlformats.org/officeDocument/2006/relationships/notesSlide" Target="/ppt/notesSlides/notesSlide1.xml" Id="Rbfe7afecf4264b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56a8eb53ca450d" /><Relationship Type="http://schemas.openxmlformats.org/officeDocument/2006/relationships/notesSlide" Target="/ppt/notesSlides/notesSlide2.xml" Id="Redfb510d1cc54a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f8af91126544b6c" /><Relationship Type="http://schemas.openxmlformats.org/officeDocument/2006/relationships/notesSlide" Target="/ppt/notesSlides/notesSlide3.xml" Id="R4d8948278574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ff15cf6741417f" /><Relationship Type="http://schemas.openxmlformats.org/officeDocument/2006/relationships/notesSlide" Target="/ppt/notesSlides/notesSlide4.xml" Id="Rb77c11ebfef0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5b8850a4154cc3" /><Relationship Type="http://schemas.openxmlformats.org/officeDocument/2006/relationships/notesSlide" Target="/ppt/notesSlides/notesSlide5.xml" Id="R4473a98ef45846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1ea8469a8c449c" /><Relationship Type="http://schemas.openxmlformats.org/officeDocument/2006/relationships/notesSlide" Target="/ppt/notesSlides/notesSlide6.xml" Id="Rdd64d90d59d942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0b8cd3c981486a" /><Relationship Type="http://schemas.openxmlformats.org/officeDocument/2006/relationships/notesSlide" Target="/ppt/notesSlides/notesSlide7.xml" Id="R00bc65772ebf42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6c20e30dfd4563" /><Relationship Type="http://schemas.openxmlformats.org/officeDocument/2006/relationships/notesSlide" Target="/ppt/notesSlides/notesSlide8.xml" Id="R92c3cbcb83364c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52cd84a43c4f37" /><Relationship Type="http://schemas.openxmlformats.org/officeDocument/2006/relationships/image" Target="/ppt/media/image2.jpeg" Id="Rb90d0300878943de" /><Relationship Type="http://schemas.openxmlformats.org/officeDocument/2006/relationships/hyperlink" Target="https://github.com/fangluyang7-debug/Cixin/tree/codex/cixin-multi-device-runtime/cixin-agent" TargetMode="External" Id="R123ee7ff30db400c" /><Relationship Type="http://schemas.openxmlformats.org/officeDocument/2006/relationships/notesSlide" Target="/ppt/notesSlides/notesSlide9.xml" Id="R8110f47d58974f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d1ed7291a54eca" /><Relationship Type="http://schemas.openxmlformats.org/officeDocument/2006/relationships/notesSlide" Target="/ppt/notesSlides/notesSlide10.xml" Id="R0ff149f0171c41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0d1f6e69d440a1" /><Relationship Type="http://schemas.openxmlformats.org/officeDocument/2006/relationships/notesSlide" Target="/ppt/notesSlides/notesSlide11.xml" Id="Raa248fa5bfd44b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ab6f70b2014e17" /><Relationship Type="http://schemas.openxmlformats.org/officeDocument/2006/relationships/notesSlide" Target="/ppt/notesSlides/notesSlide12.xml" Id="R1536562160be4c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a2dc8b8f1c4638" /><Relationship Type="http://schemas.openxmlformats.org/officeDocument/2006/relationships/notesSlide" Target="/ppt/notesSlides/notesSlide13.xml" Id="R8de1eada9a5c4e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31cf94b8f142c9" /><Relationship Type="http://schemas.openxmlformats.org/officeDocument/2006/relationships/notesSlide" Target="/ppt/notesSlides/notesSlide14.xml" Id="Rcb02aa70dfa045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949499a9f34633" /><Relationship Type="http://schemas.openxmlformats.org/officeDocument/2006/relationships/notesSlide" Target="/ppt/notesSlides/notesSlide15.xml" Id="Rdd350c63b8d14b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b3cda2e1c14960" /><Relationship Type="http://schemas.openxmlformats.org/officeDocument/2006/relationships/notesSlide" Target="/ppt/notesSlides/notesSlide16.xml" Id="Ra1da000a69a048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390987928845ba" /><Relationship Type="http://schemas.openxmlformats.org/officeDocument/2006/relationships/notesSlide" Target="/ppt/notesSlides/notesSlide17.xml" Id="Rd4f5ada3e55947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134810780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446567"/>
            <a:ext cx="12191365" cy="6697877"/>
          </a:xfrm>
          <a:prstGeom xmlns:a="http://schemas.openxmlformats.org/drawingml/2006/main" prst="rect">
            <a:avLst/>
          </a:prstGeom>
        </p:spPr>
      </p:pic>
      <p:sp>
        <p:nvSpPr>
          <p:cNvPr id="7" name="芯枢调度">
            <a:extLst xmlns:a="http://schemas.openxmlformats.org/drawingml/2006/main">
              <a:ext uri="{FF2B5EF4-FFF2-40B4-BE49-F238E27FC236}">
                <a16:creationId xmlns:a16="http://schemas.microsoft.com/office/drawing/2014/main" id="{9B4B44CA-6589-4744-AE87-EA3F804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1028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5700" b="1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芯枢调度</a:t>
            </a:r>
            <a:endParaRPr sz="5700" b="1">
              <a:solidFill>
                <a:srgbClr val="FFFFFF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面向 CIX P1 的 Agent 端云协同调度中间件">
            <a:extLst xmlns:a="http://schemas.openxmlformats.org/drawingml/2006/main">
              <a:ext uri="{FF2B5EF4-FFF2-40B4-BE49-F238E27FC236}">
                <a16:creationId xmlns:a16="http://schemas.microsoft.com/office/drawing/2014/main" id="{646ED3C3-81D6-4D15-B9C6-09706B9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0">
                <a:solidFill>
                  <a:srgbClr val="E6EFF8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E6EFF8"/>
                </a:solidFill>
                <a:latin typeface="Alibaba PuHuiTi 3.0 55 Regular"/>
                <a:ea typeface="Alibaba PuHuiTi 3.0 55 Regular"/>
                <a:cs typeface="Alibaba PuHuiTi 3.0 55 Regular"/>
              </a:rPr>
              <a:t>面向 CIX P1 的 Agent 端云协同调度中间件</a:t>
            </a:r>
            <a:endParaRPr sz="2625" b="0">
              <a:solidFill>
                <a:srgbClr val="E6EFF8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由 P1 管理任务，让本地模型与云端模型按需协作">
            <a:extLst xmlns:a="http://schemas.openxmlformats.org/drawingml/2006/main">
              <a:ext uri="{FF2B5EF4-FFF2-40B4-BE49-F238E27FC236}">
                <a16:creationId xmlns:a16="http://schemas.microsoft.com/office/drawing/2014/main" id="{B39975DA-E698-41A2-8263-E507178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 P1 管理任务，让本地模型与云端模型按需协作</a:t>
            </a:r>
            <a:endParaRPr sz="1875" b="0">
              <a:solidFill>
                <a:srgbClr val="B6CEE3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赛道二：端云协同调度智能体">
            <a:extLst xmlns:a="http://schemas.openxmlformats.org/drawingml/2006/main">
              <a:ext uri="{FF2B5EF4-FFF2-40B4-BE49-F238E27FC236}">
                <a16:creationId xmlns:a16="http://schemas.microsoft.com/office/drawing/2014/main" id="{E935D3C8-4DDE-498D-8EF8-8482876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赛道二：端云协同调度智能体</a:t>
            </a:r>
            <a:endParaRPr sz="1725" b="0">
              <a:solidFill>
                <a:srgbClr val="FFFFFF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团队名称及成员待确认">
            <a:extLst xmlns:a="http://schemas.openxmlformats.org/drawingml/2006/main">
              <a:ext uri="{FF2B5EF4-FFF2-40B4-BE49-F238E27FC236}">
                <a16:creationId xmlns:a16="http://schemas.microsoft.com/office/drawing/2014/main" id="{2B63E683-FC7D-4F47-9E3B-18F8EC94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149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团队名称及成员待确认</a:t>
            </a:r>
            <a:endParaRPr sz="1275" b="0">
              <a:solidFill>
                <a:srgbClr val="B6CEE3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18157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DFE4F4-98B3-411E-BF8F-F18633C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2  项目概述">
            <a:extLst xmlns:a="http://schemas.openxmlformats.org/drawingml/2006/main">
              <a:ext uri="{FF2B5EF4-FFF2-40B4-BE49-F238E27FC236}">
                <a16:creationId xmlns:a16="http://schemas.microsoft.com/office/drawing/2014/main" id="{CC1A1756-F0BC-4D17-AA6F-DD4A0ED7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  项目概述</a:t>
            </a:r>
          </a:p>
        </p:txBody>
      </p:sp>
      <p:sp>
        <p:nvSpPr>
          <p:cNvPr id="4" name="面向端侧 AI 应用的端云协同调度中间件">
            <a:extLst xmlns:a="http://schemas.openxmlformats.org/drawingml/2006/main">
              <a:ext uri="{FF2B5EF4-FFF2-40B4-BE49-F238E27FC236}">
                <a16:creationId xmlns:a16="http://schemas.microsoft.com/office/drawing/2014/main" id="{379487FB-9736-41FB-9E79-706A590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面向端侧 AI 应用的端云协同调度中间件</a:t>
            </a:r>
          </a:p>
        </p:txBody>
      </p:sp>
      <p:sp>
        <p:nvSpPr>
          <p:cNvPr id="5" name="divider-148">
            <a:extLst xmlns:a="http://schemas.openxmlformats.org/drawingml/2006/main">
              <a:ext uri="{FF2B5EF4-FFF2-40B4-BE49-F238E27FC236}">
                <a16:creationId xmlns:a16="http://schemas.microsoft.com/office/drawing/2014/main" id="{189D323B-AE7B-49E9-9CDC-F45BC26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2659E72-D65D-4500-9954-6E705A3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7" name="一句话定义">
            <a:extLst xmlns:a="http://schemas.openxmlformats.org/drawingml/2006/main">
              <a:ext uri="{FF2B5EF4-FFF2-40B4-BE49-F238E27FC236}">
                <a16:creationId xmlns:a16="http://schemas.microsoft.com/office/drawing/2014/main" id="{0C517A89-0691-4DBC-A416-B08316E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8592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一句话定义</a:t>
            </a:r>
          </a:p>
        </p:txBody>
      </p:sp>
      <p:sp>
        <p:nvSpPr>
          <p:cNvPr id="8" name="以 CIX P1 为运行主控，根据任务要求、设备负载和网络状况，&#10;为 Agent 的每一步选择本">
            <a:extLst xmlns:a="http://schemas.openxmlformats.org/drawingml/2006/main">
              <a:ext uri="{FF2B5EF4-FFF2-40B4-BE49-F238E27FC236}">
                <a16:creationId xmlns:a16="http://schemas.microsoft.com/office/drawing/2014/main" id="{04CE4396-351A-401E-AEE0-966847B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85925"/>
            <a:ext cx="889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以 CIX P1 为运行主控，根据任务要求、设备负载和网络状况，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为 Agent 的每一步选择本地或云端执行，并管理资源配置与任务状态。</a:t>
            </a:r>
          </a:p>
        </p:txBody>
      </p:sp>
      <p:sp>
        <p:nvSpPr>
          <p:cNvPr id="9" name="divider-264">
            <a:extLst xmlns:a="http://schemas.openxmlformats.org/drawingml/2006/main">
              <a:ext uri="{FF2B5EF4-FFF2-40B4-BE49-F238E27FC236}">
                <a16:creationId xmlns:a16="http://schemas.microsoft.com/office/drawing/2014/main" id="{3895155E-7671-4F1D-8E45-318C6253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AD21CD5-0559-4564-B6B5-364879F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</a:p>
        </p:txBody>
      </p:sp>
      <p:sp>
        <p:nvSpPr>
          <p:cNvPr id="11" name="具体痛点">
            <a:extLst xmlns:a="http://schemas.openxmlformats.org/drawingml/2006/main">
              <a:ext uri="{FF2B5EF4-FFF2-40B4-BE49-F238E27FC236}">
                <a16:creationId xmlns:a16="http://schemas.microsoft.com/office/drawing/2014/main" id="{C47AFFC5-1BD5-4B26-B9CC-C718177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2415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具体痛点</a:t>
            </a:r>
          </a:p>
        </p:txBody>
      </p:sp>
      <p:sp>
        <p:nvSpPr>
          <p:cNvPr id="12" name="拍图找商品时，图片编码、检索筛选和复杂复核需要不同计算能力。&#10;固定分工遇到本地忙碌或网络变慢，容">
            <a:extLst xmlns:a="http://schemas.openxmlformats.org/drawingml/2006/main">
              <a:ext uri="{FF2B5EF4-FFF2-40B4-BE49-F238E27FC236}">
                <a16:creationId xmlns:a16="http://schemas.microsoft.com/office/drawing/2014/main" id="{BC06A424-9B8D-4C16-ADFB-C4771788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24150"/>
            <a:ext cx="8896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拍图找商品时，图片编码、检索筛选和复杂复核需要不同计算能力。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固定分工遇到本地忙碌或网络变慢，容易增加排队和传输等待。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开发者还需为每条调用链重复处理资源分配、任务状态与失败回执。</a:t>
            </a:r>
          </a:p>
        </p:txBody>
      </p:sp>
      <p:sp>
        <p:nvSpPr>
          <p:cNvPr id="13" name="divider-390">
            <a:extLst xmlns:a="http://schemas.openxmlformats.org/drawingml/2006/main">
              <a:ext uri="{FF2B5EF4-FFF2-40B4-BE49-F238E27FC236}">
                <a16:creationId xmlns:a16="http://schemas.microsoft.com/office/drawing/2014/main" id="{0CBD0CF7-192E-484E-BFA9-B546AC5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808EE8DA-1340-4F76-89C8-C8F7F66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</a:p>
        </p:txBody>
      </p:sp>
      <p:sp>
        <p:nvSpPr>
          <p:cNvPr id="15" name="目标用户">
            <a:extLst xmlns:a="http://schemas.openxmlformats.org/drawingml/2006/main">
              <a:ext uri="{FF2B5EF4-FFF2-40B4-BE49-F238E27FC236}">
                <a16:creationId xmlns:a16="http://schemas.microsoft.com/office/drawing/2014/main" id="{E4046EBD-3B12-455A-B846-76F902E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1477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目标用户</a:t>
            </a:r>
          </a:p>
        </p:txBody>
      </p:sp>
      <p:sp>
        <p:nvSpPr>
          <p:cNvPr id="16" name="直接用户是端侧 AI 应用开发团队，首个验证场景为购物检索，&#10;后续可接入文档处理、知识检索等插件">
            <a:extLst xmlns:a="http://schemas.openxmlformats.org/drawingml/2006/main">
              <a:ext uri="{FF2B5EF4-FFF2-40B4-BE49-F238E27FC236}">
                <a16:creationId xmlns:a16="http://schemas.microsoft.com/office/drawing/2014/main" id="{9F3F5293-9AF9-4AB5-A729-388E424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14775"/>
            <a:ext cx="889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直接用户是端侧 AI 应用开发团队，首个验证场景为购物检索，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后续可接入文档处理、知识检索等插件。应用每次提交多步任务时自动调用。</a:t>
            </a:r>
          </a:p>
        </p:txBody>
      </p:sp>
      <p:sp>
        <p:nvSpPr>
          <p:cNvPr id="17" name="divider-497">
            <a:extLst xmlns:a="http://schemas.openxmlformats.org/drawingml/2006/main">
              <a:ext uri="{FF2B5EF4-FFF2-40B4-BE49-F238E27FC236}">
                <a16:creationId xmlns:a16="http://schemas.microsoft.com/office/drawing/2014/main" id="{1ED75F47-C7A8-4289-AEFC-DCDDF28D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C2068E5C-74D3-49EF-9FC7-B22834D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</a:p>
        </p:txBody>
      </p:sp>
      <p:sp>
        <p:nvSpPr>
          <p:cNvPr id="19" name="Agent 核心价值">
            <a:extLst xmlns:a="http://schemas.openxmlformats.org/drawingml/2006/main">
              <a:ext uri="{FF2B5EF4-FFF2-40B4-BE49-F238E27FC236}">
                <a16:creationId xmlns:a16="http://schemas.microsoft.com/office/drawing/2014/main" id="{C2BCF10D-6943-49AB-BD88-694EED6B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4347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Agent 核心价值</a:t>
            </a:r>
          </a:p>
        </p:txBody>
      </p:sp>
      <p:sp>
        <p:nvSpPr>
          <p:cNvPr id="20" name="Agent 理解目标、规划步骤，芯枢安排在哪里、何时、以什么配置执行。&#10;相比手写固定调用链，先校">
            <a:extLst xmlns:a="http://schemas.openxmlformats.org/drawingml/2006/main">
              <a:ext uri="{FF2B5EF4-FFF2-40B4-BE49-F238E27FC236}">
                <a16:creationId xmlns:a16="http://schemas.microsoft.com/office/drawing/2014/main" id="{865274E2-5C1D-458E-9ACF-49BDAAC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43475"/>
            <a:ext cx="889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Agent 理解目标、规划步骤，芯枢安排在哪里、何时、以什么配置执行。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相比手写固定调用链，先校验能力与授权，再比较排队、传输和执行总耗时，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并用实际回执校准预测。目标是在质量约束下减少等待、降低重复适配成本。</a:t>
            </a:r>
          </a:p>
        </p:txBody>
      </p:sp>
      <p:sp>
        <p:nvSpPr>
          <p:cNvPr id="21" name="已有桌面调度与执行原型；P1 模型适配、云端完整链路及收益验证按开发计划推进。">
            <a:extLst xmlns:a="http://schemas.openxmlformats.org/drawingml/2006/main">
              <a:ext uri="{FF2B5EF4-FFF2-40B4-BE49-F238E27FC236}">
                <a16:creationId xmlns:a16="http://schemas.microsoft.com/office/drawing/2014/main" id="{107A9445-115C-457F-BD17-30D63DB1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已有桌面调度与执行原型；P1 模型适配、云端完整链路及收益验证按开发计划推进。</a:t>
            </a:r>
          </a:p>
        </p:txBody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4BCCCC2F-2E47-4087-A0A9-89A0FDB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9843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03  Agent 核心业务流">
            <a:extLst xmlns:a="http://schemas.openxmlformats.org/drawingml/2006/main">
              <a:ext uri="{FF2B5EF4-FFF2-40B4-BE49-F238E27FC236}">
                <a16:creationId xmlns:a16="http://schemas.microsoft.com/office/drawing/2014/main" id="{19ECF9AD-3B37-42F0-AFA3-0176F51F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  Agent 核心业务流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" name="一张图片如何经过端云协作得到候选结果">
            <a:extLst xmlns:a="http://schemas.openxmlformats.org/drawingml/2006/main">
              <a:ext uri="{FF2B5EF4-FFF2-40B4-BE49-F238E27FC236}">
                <a16:creationId xmlns:a16="http://schemas.microsoft.com/office/drawing/2014/main" id="{2F6F478C-35E5-4DE2-9206-F45465C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一张图片如何经过端云协作得到候选结果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A23EBD8-3696-4758-8858-9551B3F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示例目标：根据图片，找出预算和尺码符合要求的候选商品。">
            <a:extLst xmlns:a="http://schemas.openxmlformats.org/drawingml/2006/main">
              <a:ext uri="{FF2B5EF4-FFF2-40B4-BE49-F238E27FC236}">
                <a16:creationId xmlns:a16="http://schemas.microsoft.com/office/drawing/2014/main" id="{E36E49E1-2CFA-4979-9C7B-21173D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示例目标：根据图片，找出预算和尺码符合要求的候选商品。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A2BBC747-40E0-4E10-8462-3B7B2C43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CEA1241-723D-4341-8DC0-B1BC1E3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2C8693-572F-46EF-9E93-6F8466E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12776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8" name="云端大模型">
            <a:extLst xmlns:a="http://schemas.openxmlformats.org/drawingml/2006/main">
              <a:ext uri="{FF2B5EF4-FFF2-40B4-BE49-F238E27FC236}">
                <a16:creationId xmlns:a16="http://schemas.microsoft.com/office/drawing/2014/main" id="{30B4AE40-49AA-4A13-849C-B1634F4F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云端大模型</a:t>
            </a:r>
            <a:endParaRPr sz="12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CIX P1&#10;本地执行">
            <a:extLst xmlns:a="http://schemas.openxmlformats.org/drawingml/2006/main">
              <a:ext uri="{FF2B5EF4-FFF2-40B4-BE49-F238E27FC236}">
                <a16:creationId xmlns:a16="http://schemas.microsoft.com/office/drawing/2014/main" id="{BA19BFAE-D378-4ED0-A138-9F2B6A4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CIX P1</a:t>
            </a:r>
            <a:endParaRPr sz="1650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本地执行</a:t>
            </a:r>
            <a:endParaRPr sz="1650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F44FDE-9941-4183-A814-91549DEF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657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11" name="1 生成计划">
            <a:extLst xmlns:a="http://schemas.openxmlformats.org/drawingml/2006/main">
              <a:ext uri="{FF2B5EF4-FFF2-40B4-BE49-F238E27FC236}">
                <a16:creationId xmlns:a16="http://schemas.microsoft.com/office/drawing/2014/main" id="{3AD447DC-AB46-402A-8E0B-772DC285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0325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生成计划</a:t>
            </a:r>
            <a:endParaRPr sz="15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理解用户目标&#10;返回任务步骤">
            <a:extLst xmlns:a="http://schemas.openxmlformats.org/drawingml/2006/main">
              <a:ext uri="{FF2B5EF4-FFF2-40B4-BE49-F238E27FC236}">
                <a16:creationId xmlns:a16="http://schemas.microsoft.com/office/drawing/2014/main" id="{6A586C3B-8506-44F5-AB54-B8243A7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33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理解用户目标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返回任务步骤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BDCD29A-304B-47D2-A84D-2B94597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4" name="2 校验计划">
            <a:extLst xmlns:a="http://schemas.openxmlformats.org/drawingml/2006/main">
              <a:ext uri="{FF2B5EF4-FFF2-40B4-BE49-F238E27FC236}">
                <a16:creationId xmlns:a16="http://schemas.microsoft.com/office/drawing/2014/main" id="{38D4AADE-CC47-48AD-A5AA-B82BB1B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 校验计划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核对工具、依赖&#10;和数据授权">
            <a:extLst xmlns:a="http://schemas.openxmlformats.org/drawingml/2006/main">
              <a:ext uri="{FF2B5EF4-FFF2-40B4-BE49-F238E27FC236}">
                <a16:creationId xmlns:a16="http://schemas.microsoft.com/office/drawing/2014/main" id="{E42BB14B-8C26-472B-8255-B8352DDE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核对工具、依赖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和数据授权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433EC9-870B-45F9-87F5-CD0B2CF9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7" name="3 图片编码">
            <a:extLst xmlns:a="http://schemas.openxmlformats.org/drawingml/2006/main">
              <a:ext uri="{FF2B5EF4-FFF2-40B4-BE49-F238E27FC236}">
                <a16:creationId xmlns:a16="http://schemas.microsoft.com/office/drawing/2014/main" id="{99A64D3A-7F9A-4E1A-908A-7DB6917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图片编码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本地模型提取&#10;图像特征向量">
            <a:extLst xmlns:a="http://schemas.openxmlformats.org/drawingml/2006/main">
              <a:ext uri="{FF2B5EF4-FFF2-40B4-BE49-F238E27FC236}">
                <a16:creationId xmlns:a16="http://schemas.microsoft.com/office/drawing/2014/main" id="{2239D8D9-C948-405D-A4A7-D8B447F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本地模型提取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图像特征向量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5E0E6E2-A611-4EA3-A8C1-20F6E6B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0" name="4 检索筛选">
            <a:extLst xmlns:a="http://schemas.openxmlformats.org/drawingml/2006/main">
              <a:ext uri="{FF2B5EF4-FFF2-40B4-BE49-F238E27FC236}">
                <a16:creationId xmlns:a16="http://schemas.microsoft.com/office/drawing/2014/main" id="{2E5CEAEC-333B-404D-A8E4-0F63903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 检索筛选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向量检索&#10;预算尺码筛选">
            <a:extLst xmlns:a="http://schemas.openxmlformats.org/drawingml/2006/main">
              <a:ext uri="{FF2B5EF4-FFF2-40B4-BE49-F238E27FC236}">
                <a16:creationId xmlns:a16="http://schemas.microsoft.com/office/drawing/2014/main" id="{416AE81D-6FD4-4AAC-B4AD-A35F28B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向量检索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预算尺码筛选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3E8EBAF-8514-431C-9810-EE78FA4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1657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23" name="5 复杂复核">
            <a:extLst xmlns:a="http://schemas.openxmlformats.org/drawingml/2006/main">
              <a:ext uri="{FF2B5EF4-FFF2-40B4-BE49-F238E27FC236}">
                <a16:creationId xmlns:a16="http://schemas.microsoft.com/office/drawing/2014/main" id="{C3678D72-6135-424A-BFBB-3809E34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5 复杂复核</a:t>
            </a:r>
            <a:endParaRPr sz="15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歧义候选交给&#10;云视觉模型">
            <a:extLst xmlns:a="http://schemas.openxmlformats.org/drawingml/2006/main">
              <a:ext uri="{FF2B5EF4-FFF2-40B4-BE49-F238E27FC236}">
                <a16:creationId xmlns:a16="http://schemas.microsoft.com/office/drawing/2014/main" id="{D8442402-D163-4331-84CE-A5BA052D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33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歧义候选交给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云视觉模型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6F4D21A-24EF-4132-AF94-5F584EB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6" name="6 验证返回">
            <a:extLst xmlns:a="http://schemas.openxmlformats.org/drawingml/2006/main">
              <a:ext uri="{FF2B5EF4-FFF2-40B4-BE49-F238E27FC236}">
                <a16:creationId xmlns:a16="http://schemas.microsoft.com/office/drawing/2014/main" id="{741473A9-1F51-41E1-9A81-50652ECA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116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验证返回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核对输出&#10;返回候选">
            <a:extLst xmlns:a="http://schemas.openxmlformats.org/drawingml/2006/main">
              <a:ext uri="{FF2B5EF4-FFF2-40B4-BE49-F238E27FC236}">
                <a16:creationId xmlns:a16="http://schemas.microsoft.com/office/drawing/2014/main" id="{D48B3ACB-AE51-4EC4-9E70-0D2D582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81525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核对输出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返回候选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32" name="肘形连接符 65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447800" y="3476625"/>
            <a:ext cx="18954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3" name="直接箭头连接符 66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71950" y="4638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34" name="直接箭头连接符 67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67425" y="4638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35" name="肘形连接符 68"/>
          <p:cNvCxnSpPr>
            <a:stCxn xmlns:a="http://schemas.openxmlformats.org/drawingml/2006/main" id="19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7134225" y="3476625"/>
            <a:ext cx="18954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6" name="肘形连接符 69"/>
          <p:cNvCxnSpPr>
            <a:stCxn xmlns:a="http://schemas.openxmlformats.org/drawingml/2006/main" id="22" idx="3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858375" y="2976563"/>
            <a:ext cx="971550" cy="11477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7" name="直接箭头连接符 70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962900" y="4638675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需复杂复核">
            <a:extLst xmlns:a="http://schemas.openxmlformats.org/drawingml/2006/main">
              <a:ext uri="{FF2B5EF4-FFF2-40B4-BE49-F238E27FC236}">
                <a16:creationId xmlns:a16="http://schemas.microsoft.com/office/drawing/2014/main" id="{7ACC2D91-E7B5-4FD7-AE09-08335828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528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需复杂复核</a:t>
            </a:r>
            <a:endParaRPr sz="1350" b="0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5" name="本地证据达标可直接返回">
            <a:extLst xmlns:a="http://schemas.openxmlformats.org/drawingml/2006/main">
              <a:ext uri="{FF2B5EF4-FFF2-40B4-BE49-F238E27FC236}">
                <a16:creationId xmlns:a16="http://schemas.microsoft.com/office/drawing/2014/main" id="{B17ADD9C-8D29-4209-8FF9-9C90765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本地证据达标可直接返回</a:t>
            </a:r>
            <a:endParaRPr sz="13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6" name="状态记忆：P1 记录上下文和每步回执">
            <a:extLst xmlns:a="http://schemas.openxmlformats.org/drawingml/2006/main">
              <a:ext uri="{FF2B5EF4-FFF2-40B4-BE49-F238E27FC236}">
                <a16:creationId xmlns:a16="http://schemas.microsoft.com/office/drawing/2014/main" id="{0D77AB8C-EDF6-46AD-ACAC-BD023922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5514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状态记忆：P1 记录上下文和每步回执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7" name="结果不达标：带失败原因请求受限重规划">
            <a:extLst xmlns:a="http://schemas.openxmlformats.org/drawingml/2006/main">
              <a:ext uri="{FF2B5EF4-FFF2-40B4-BE49-F238E27FC236}">
                <a16:creationId xmlns:a16="http://schemas.microsoft.com/office/drawing/2014/main" id="{34F6EF1A-8C40-457B-A025-5897A9D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34050"/>
            <a:ext cx="5505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结果不达标：带失败原因请求受限重规划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8" name="目标业务流程。虚线为待接入部分；现有检索处理人工向量，图片模型、云服务和完整商品业务待集成。">
            <a:extLst xmlns:a="http://schemas.openxmlformats.org/drawingml/2006/main">
              <a:ext uri="{FF2B5EF4-FFF2-40B4-BE49-F238E27FC236}">
                <a16:creationId xmlns:a16="http://schemas.microsoft.com/office/drawing/2014/main" id="{08450DFC-3CB6-4321-86BF-78B7374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目标业务流程。虚线为待接入部分；现有检索处理人工向量，图片模型、云服务和完整商品业务待集成。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29271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4  技术架构 1/4 · 整体数据流">
            <a:extLst xmlns:a="http://schemas.openxmlformats.org/drawingml/2006/main">
              <a:ext uri="{FF2B5EF4-FFF2-40B4-BE49-F238E27FC236}">
                <a16:creationId xmlns:a16="http://schemas.microsoft.com/office/drawing/2014/main" id="{89AA6AFD-00D1-4B17-9006-DFCA894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04  技术架构 1/4 · 整体数据流</a:t>
            </a:r>
          </a:p>
        </p:txBody>
      </p:sp>
      <p:sp>
        <p:nvSpPr>
          <p:cNvPr id="5" name="云端提出计划，P1 校验并控制执行">
            <a:extLst xmlns:a="http://schemas.openxmlformats.org/drawingml/2006/main">
              <a:ext uri="{FF2B5EF4-FFF2-40B4-BE49-F238E27FC236}">
                <a16:creationId xmlns:a16="http://schemas.microsoft.com/office/drawing/2014/main" id="{E6D3F297-D8F2-44B1-95C0-0E12838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云端提出计划，P1 校验并控制执行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E8064-0045-4BC8-861A-1FE288D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目标架构：业务目标进入规划层，结构化任务回到 P1，执行结果持续反馈给调度器。">
            <a:extLst xmlns:a="http://schemas.openxmlformats.org/drawingml/2006/main">
              <a:ext uri="{FF2B5EF4-FFF2-40B4-BE49-F238E27FC236}">
                <a16:creationId xmlns:a16="http://schemas.microsoft.com/office/drawing/2014/main" id="{B68CD32E-B849-494C-B879-328C2B45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目标架构：业务目标进入规划层，结构化任务回到 P1，执行结果持续反馈给调度器。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075C7327-DB44-4C29-A3BA-FFB6B47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D443B-6B26-4DA7-9054-A3856BE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0" name="业务 App">
            <a:extLst xmlns:a="http://schemas.openxmlformats.org/drawingml/2006/main">
              <a:ext uri="{FF2B5EF4-FFF2-40B4-BE49-F238E27FC236}">
                <a16:creationId xmlns:a16="http://schemas.microsoft.com/office/drawing/2014/main" id="{C945D0D4-78C1-4775-9343-B905DA3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业务 App</a:t>
            </a:r>
          </a:p>
        </p:txBody>
      </p:sp>
      <p:sp>
        <p:nvSpPr>
          <p:cNvPr id="11" name="目标 / 约束 / 已授权信息">
            <a:extLst xmlns:a="http://schemas.openxmlformats.org/drawingml/2006/main">
              <a:ext uri="{FF2B5EF4-FFF2-40B4-BE49-F238E27FC236}">
                <a16:creationId xmlns:a16="http://schemas.microsoft.com/office/drawing/2014/main" id="{6932B185-EC8B-4836-8C97-9CD3D02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 / 约束 / 已授权信息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72686-A1CA-482E-800F-BA09FBE2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71725"/>
            <a:ext cx="3276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13" name="云规划适配器">
            <a:extLst xmlns:a="http://schemas.openxmlformats.org/drawingml/2006/main">
              <a:ext uri="{FF2B5EF4-FFF2-40B4-BE49-F238E27FC236}">
                <a16:creationId xmlns:a16="http://schemas.microsoft.com/office/drawing/2014/main" id="{8AFD2769-C231-4CB2-90C7-6AE2794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云规划适配器</a:t>
            </a:r>
          </a:p>
        </p:txBody>
      </p:sp>
      <p:sp>
        <p:nvSpPr>
          <p:cNvPr id="14" name="大模型返回 TaskGraph">
            <a:extLst xmlns:a="http://schemas.openxmlformats.org/drawingml/2006/main">
              <a:ext uri="{FF2B5EF4-FFF2-40B4-BE49-F238E27FC236}">
                <a16:creationId xmlns:a16="http://schemas.microsoft.com/office/drawing/2014/main" id="{30862482-A716-4C67-BC9A-99B68705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289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大模型返回 TaskGraph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30F00-0706-4841-8E34-A12B9CD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71725"/>
            <a:ext cx="2990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6" name="P1 任务图校验">
            <a:extLst xmlns:a="http://schemas.openxmlformats.org/drawingml/2006/main">
              <a:ext uri="{FF2B5EF4-FFF2-40B4-BE49-F238E27FC236}">
                <a16:creationId xmlns:a16="http://schemas.microsoft.com/office/drawing/2014/main" id="{F9E4E784-54D9-497F-94D4-D8F80F6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任务图校验</a:t>
            </a:r>
          </a:p>
        </p:txBody>
      </p:sp>
      <p:sp>
        <p:nvSpPr>
          <p:cNvPr id="17" name="工具 / 依赖 / 输入 / 授权">
            <a:extLst xmlns:a="http://schemas.openxmlformats.org/drawingml/2006/main">
              <a:ext uri="{FF2B5EF4-FFF2-40B4-BE49-F238E27FC236}">
                <a16:creationId xmlns:a16="http://schemas.microsoft.com/office/drawing/2014/main" id="{DB063DA4-A3AF-4F04-81F1-1CB8099B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 / 依赖 / 输入 / 授权</a:t>
            </a:r>
          </a:p>
        </p:txBody>
      </p: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824163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67625" y="2824163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0" name="目标与工具说明">
            <a:extLst xmlns:a="http://schemas.openxmlformats.org/drawingml/2006/main">
              <a:ext uri="{FF2B5EF4-FFF2-40B4-BE49-F238E27FC236}">
                <a16:creationId xmlns:a16="http://schemas.microsoft.com/office/drawing/2014/main" id="{1EA9DCBB-55E9-4B00-9920-222A5D0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85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目标与工具说明</a:t>
            </a:r>
          </a:p>
        </p:txBody>
      </p:sp>
      <p:sp>
        <p:nvSpPr>
          <p:cNvPr id="21" name="步骤与依赖">
            <a:extLst xmlns:a="http://schemas.openxmlformats.org/drawingml/2006/main">
              <a:ext uri="{FF2B5EF4-FFF2-40B4-BE49-F238E27FC236}">
                <a16:creationId xmlns:a16="http://schemas.microsoft.com/office/drawing/2014/main" id="{49D86008-A41D-43D2-B689-4BF11CE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859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步骤与依赖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4A86E-A322-49DA-B0F3-BE764FD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3" name="本地执行">
            <a:extLst xmlns:a="http://schemas.openxmlformats.org/drawingml/2006/main">
              <a:ext uri="{FF2B5EF4-FFF2-40B4-BE49-F238E27FC236}">
                <a16:creationId xmlns:a16="http://schemas.microsoft.com/office/drawing/2014/main" id="{49AFA5C0-B107-4C28-A543-5A50C858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本地执行</a:t>
            </a:r>
          </a:p>
        </p:txBody>
      </p:sp>
      <p:sp>
        <p:nvSpPr>
          <p:cNvPr id="24" name="CPU 工具 / NOE 模型 Worker">
            <a:extLst xmlns:a="http://schemas.openxmlformats.org/drawingml/2006/main">
              <a:ext uri="{FF2B5EF4-FFF2-40B4-BE49-F238E27FC236}">
                <a16:creationId xmlns:a16="http://schemas.microsoft.com/office/drawing/2014/main" id="{F746DC38-EABF-4F82-970C-EC79D5B3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647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CPU 工具 / NOE 模型 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FF306-0BBB-485A-8801-909267C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67175"/>
            <a:ext cx="3276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6" name="P1 调度与准入">
            <a:extLst xmlns:a="http://schemas.openxmlformats.org/drawingml/2006/main">
              <a:ext uri="{FF2B5EF4-FFF2-40B4-BE49-F238E27FC236}">
                <a16:creationId xmlns:a16="http://schemas.microsoft.com/office/drawing/2014/main" id="{701ED5B3-D602-4C53-8406-C2105BCF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调度与准入</a:t>
            </a:r>
          </a:p>
        </p:txBody>
      </p:sp>
      <p:sp>
        <p:nvSpPr>
          <p:cNvPr id="27" name="合法候选 / 路径成本 / 配置">
            <a:extLst xmlns:a="http://schemas.openxmlformats.org/drawingml/2006/main">
              <a:ext uri="{FF2B5EF4-FFF2-40B4-BE49-F238E27FC236}">
                <a16:creationId xmlns:a16="http://schemas.microsoft.com/office/drawing/2014/main" id="{C55B95A8-FC23-4094-A8F9-146A0B7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24375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合法候选 / 路径成本 / 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0C952-885B-409A-A018-ECBC38BC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2990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29" name="云模型执行">
            <a:extLst xmlns:a="http://schemas.openxmlformats.org/drawingml/2006/main">
              <a:ext uri="{FF2B5EF4-FFF2-40B4-BE49-F238E27FC236}">
                <a16:creationId xmlns:a16="http://schemas.microsoft.com/office/drawing/2014/main" id="{ABEFBE23-2E64-401A-ACB4-D7FB0C0B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云模型执行</a:t>
            </a:r>
          </a:p>
        </p:txBody>
      </p:sp>
      <p:sp>
        <p:nvSpPr>
          <p:cNvPr id="30" name="复杂分析 / 业务复核">
            <a:extLst xmlns:a="http://schemas.openxmlformats.org/drawingml/2006/main">
              <a:ext uri="{FF2B5EF4-FFF2-40B4-BE49-F238E27FC236}">
                <a16:creationId xmlns:a16="http://schemas.microsoft.com/office/drawing/2014/main" id="{0987CE8F-8B24-48A9-9EC6-64A797A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24375"/>
            <a:ext cx="2686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复杂分析 / 业务复核</a:t>
            </a:r>
          </a:p>
        </p:txBody>
      </p:sp>
      <p:cxnSp>
        <p:nvCxnSpPr>
          <p:cNvPr id="72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29325" y="3276600"/>
            <a:ext cx="4210050" cy="790575"/>
          </a:xfrm>
          <a:prstGeom xmlns:a="http://schemas.openxmlformats.org/drawingml/2006/main" prst="bentConnector4">
            <a:avLst>
              <a:gd name="adj1" fmla="val 0"/>
              <a:gd name="adj2" fmla="val 28916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409950" y="45529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667625" y="45529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执行请求">
            <a:extLst xmlns:a="http://schemas.openxmlformats.org/drawingml/2006/main">
              <a:ext uri="{FF2B5EF4-FFF2-40B4-BE49-F238E27FC236}">
                <a16:creationId xmlns:a16="http://schemas.microsoft.com/office/drawing/2014/main" id="{B00FB4E2-B265-4D7E-864D-D04522F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执行请求</a:t>
            </a:r>
          </a:p>
        </p:txBody>
      </p:sp>
      <p:sp>
        <p:nvSpPr>
          <p:cNvPr id="35" name="API 请求">
            <a:extLst xmlns:a="http://schemas.openxmlformats.org/drawingml/2006/main">
              <a:ext uri="{FF2B5EF4-FFF2-40B4-BE49-F238E27FC236}">
                <a16:creationId xmlns:a16="http://schemas.microsoft.com/office/drawing/2014/main" id="{F870E71D-C2BC-483D-92E4-A51F1FC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052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API 请求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E5721-7A25-4420-BBAB-39976A81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C9D4DF"/>
            </a:solidFill>
            <a:prstDash val="solid"/>
          </a:ln>
        </p:spPr>
      </p:sp>
      <p:sp>
        <p:nvSpPr>
          <p:cNvPr id="37" name="P1 状态与反馈">
            <a:extLst xmlns:a="http://schemas.openxmlformats.org/drawingml/2006/main">
              <a:ext uri="{FF2B5EF4-FFF2-40B4-BE49-F238E27FC236}">
                <a16:creationId xmlns:a16="http://schemas.microsoft.com/office/drawing/2014/main" id="{5ED57DAB-CDE5-44CA-9051-D8C973A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状态与反馈</a:t>
            </a:r>
          </a:p>
        </p:txBody>
      </p:sp>
      <p:sp>
        <p:nvSpPr>
          <p:cNvPr id="38" name="结果 + 实际配置 + 耗时回执；结合资源采样，更新下一步选择">
            <a:extLst xmlns:a="http://schemas.openxmlformats.org/drawingml/2006/main">
              <a:ext uri="{FF2B5EF4-FFF2-40B4-BE49-F238E27FC236}">
                <a16:creationId xmlns:a16="http://schemas.microsoft.com/office/drawing/2014/main" id="{A30F5D5C-10DD-4CF0-B76B-76C7782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结果 + 实际配置 + 耗时回执；结合资源采样，更新下一步选择</a:t>
            </a:r>
          </a:p>
        </p:txBody>
      </p:sp>
      <p:cxnSp>
        <p:nvCxnSpPr>
          <p:cNvPr id="80" name=""/>
          <p:cNvCxnSpPr>
            <a:stCxn xmlns:a="http://schemas.openxmlformats.org/drawingml/2006/main" id="2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933575" y="5038725"/>
            <a:ext cx="416242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8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6096000" y="5038725"/>
            <a:ext cx="41433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36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H="1" flipV="1">
            <a:off x="6029325" y="5038725"/>
            <a:ext cx="666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42" name="虚线含待接入模块。图为目标闭环；现有任务图、调度与回执可运行，NOE / 云模型适配待完成。">
            <a:extLst xmlns:a="http://schemas.openxmlformats.org/drawingml/2006/main">
              <a:ext uri="{FF2B5EF4-FFF2-40B4-BE49-F238E27FC236}">
                <a16:creationId xmlns:a16="http://schemas.microsoft.com/office/drawing/2014/main" id="{02C2C950-EB44-46F5-8DD0-2B9D312B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虚线含待接入模块。图为目标闭环；现有任务图、调度与回执可运行，NOE / 云模型适配待完成。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5  技术架构 2/4 · 基座模型">
            <a:extLst xmlns:a="http://schemas.openxmlformats.org/drawingml/2006/main">
              <a:ext uri="{FF2B5EF4-FFF2-40B4-BE49-F238E27FC236}">
                <a16:creationId xmlns:a16="http://schemas.microsoft.com/office/drawing/2014/main" id="{3037808D-1E2D-44DE-AD5C-4E2B85F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05  技术架构 2/4 · 基座模型</a:t>
            </a:r>
          </a:p>
        </p:txBody>
      </p:sp>
      <p:sp>
        <p:nvSpPr>
          <p:cNvPr id="5" name="端侧提取检索特征，云端承担规划与复杂复核">
            <a:extLst xmlns:a="http://schemas.openxmlformats.org/drawingml/2006/main">
              <a:ext uri="{FF2B5EF4-FFF2-40B4-BE49-F238E27FC236}">
                <a16:creationId xmlns:a16="http://schemas.microsoft.com/office/drawing/2014/main" id="{6C99F905-4D6C-497F-89AF-32EF1C9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端侧提取检索特征，云端承担规划与复杂复核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350E2-44FD-403B-83BB-67F3A396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以下为首轮验证候选。模型名称具体列出，最终版本由 P1 兼容性与云账号可用性确定。">
            <a:extLst xmlns:a="http://schemas.openxmlformats.org/drawingml/2006/main">
              <a:ext uri="{FF2B5EF4-FFF2-40B4-BE49-F238E27FC236}">
                <a16:creationId xmlns:a16="http://schemas.microsoft.com/office/drawing/2014/main" id="{A76B6998-B612-447F-A404-D4449E7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以下为首轮验证候选。模型名称具体列出，最终版本由 P1 兼容性与云账号可用性确定。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E729CC37-FDD8-4E97-BCDE-1BA39F50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57200" y="225742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57575"/>
                <a:gridCol w="5581650"/>
              </a:tblGrid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任务 / 位置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首轮候选与推理路线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选择理由与待验证条件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图片编码 / P1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CLIP ViT-B/32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视觉编码器 · MIT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拟接 NOE / NPU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提取图片特征，便于 CPU 同模型对照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先核对官方模型包、算子和量化质量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尚未确认该权重可直接在 NOE 运行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规划与复核 / 云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Qwen2.5-VL-7B-Instruct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Apache-2.0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拟经 AnyInt 应用 API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图文理解与结构化输出支持两类任务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核对具体服务型号、额度与业务质量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AnyInt 是否提供该型号仍待确认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0" name="为什么这样分工">
            <a:extLst xmlns:a="http://schemas.openxmlformats.org/drawingml/2006/main">
              <a:ext uri="{FF2B5EF4-FFF2-40B4-BE49-F238E27FC236}">
                <a16:creationId xmlns:a16="http://schemas.microsoft.com/office/drawing/2014/main" id="{B3279CA7-EEFB-447F-B86E-DEF59BF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为什么这样分工</a:t>
            </a:r>
          </a:p>
        </p:txBody>
      </p:sp>
      <p:sp>
        <p:nvSpPr>
          <p:cNvPr id="11" name="高频编码与检索留在端侧，复杂规划与歧义复核按需调用云端。">
            <a:extLst xmlns:a="http://schemas.openxmlformats.org/drawingml/2006/main">
              <a:ext uri="{FF2B5EF4-FFF2-40B4-BE49-F238E27FC236}">
                <a16:creationId xmlns:a16="http://schemas.microsoft.com/office/drawing/2014/main" id="{0524BBB3-B96E-4917-AB01-D89C4ED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76850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高频编码与检索留在端侧，复杂规划与歧义复核按需调用云端。</a:t>
            </a:r>
          </a:p>
        </p:txBody>
      </p:sp>
      <p:sp>
        <p:nvSpPr>
          <p:cNvPr id="12" name="相较全程云调用，目标是减少上传和调用；相较端侧常驻大语言模型，优先保留调度与检索资源。">
            <a:extLst xmlns:a="http://schemas.openxmlformats.org/drawingml/2006/main">
              <a:ext uri="{FF2B5EF4-FFF2-40B4-BE49-F238E27FC236}">
                <a16:creationId xmlns:a16="http://schemas.microsoft.com/office/drawing/2014/main" id="{4F20468E-A8BE-41C2-A05C-B0F7D4F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相较全程云调用，目标是减少上传和调用；相较端侧常驻大语言模型，优先保留调度与检索资源。</a:t>
            </a:r>
          </a:p>
        </p:txBody>
      </p:sp>
      <p:sp>
        <p:nvSpPr>
          <p:cNvPr id="13" name="接入后锁定模型 / 权重或服务修订、精度、SDK 与许可证；性能、质量和费用均以实际验证为准。">
            <a:extLst xmlns:a="http://schemas.openxmlformats.org/drawingml/2006/main">
              <a:ext uri="{FF2B5EF4-FFF2-40B4-BE49-F238E27FC236}">
                <a16:creationId xmlns:a16="http://schemas.microsoft.com/office/drawing/2014/main" id="{F8A100FE-94C0-4FC5-9DE9-58DAC18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接入后锁定模型 / 权重或服务修订、精度、SDK 与许可证；性能、质量和费用均以实际验证为准。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6  技术架构 3/4 · Agent 框架">
            <a:extLst xmlns:a="http://schemas.openxmlformats.org/drawingml/2006/main">
              <a:ext uri="{FF2B5EF4-FFF2-40B4-BE49-F238E27FC236}">
                <a16:creationId xmlns:a16="http://schemas.microsoft.com/office/drawing/2014/main" id="{E2667350-C618-41C0-8089-BB5917F6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06  技术架构 3/4 · Agent 框架</a:t>
            </a:r>
          </a:p>
        </p:txBody>
      </p:sp>
      <p:sp>
        <p:nvSpPr>
          <p:cNvPr id="5" name="单 Agent 多步编排，自研 Runtime 承担调度">
            <a:extLst xmlns:a="http://schemas.openxmlformats.org/drawingml/2006/main">
              <a:ext uri="{FF2B5EF4-FFF2-40B4-BE49-F238E27FC236}">
                <a16:creationId xmlns:a16="http://schemas.microsoft.com/office/drawing/2014/main" id="{567E1C3A-55E8-44F0-A93B-4D9FEE4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 Agent 多步编排，自研 Runtime 承担调度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F5E36-844C-4F3D-9F17-CAE113C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采用 TypeScript 5.9.3 + Node.js 22+，复用已有调度核心，并通过工具">
            <a:extLst xmlns:a="http://schemas.openxmlformats.org/drawingml/2006/main">
              <a:ext uri="{FF2B5EF4-FFF2-40B4-BE49-F238E27FC236}">
                <a16:creationId xmlns:a16="http://schemas.microsoft.com/office/drawing/2014/main" id="{4B4F2C96-7D75-4592-B357-A84AA0C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 TypeScript 5.9.3 + Node.js 22+，复用已有调度核心，并通过工具契约连接不同模型。</a:t>
            </a:r>
          </a:p>
        </p:txBody>
      </p:sp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85A46651-7DEF-427F-A4AF-2A0B938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ED8C9-6EC7-4D48-ABE2-E065240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0" name="TaskGraph">
            <a:extLst xmlns:a="http://schemas.openxmlformats.org/drawingml/2006/main">
              <a:ext uri="{FF2B5EF4-FFF2-40B4-BE49-F238E27FC236}">
                <a16:creationId xmlns:a16="http://schemas.microsoft.com/office/drawing/2014/main" id="{56CD5EAB-D752-46BA-B0A6-45FE5182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TaskGraph</a:t>
            </a:r>
          </a:p>
        </p:txBody>
      </p:sp>
      <p:sp>
        <p:nvSpPr>
          <p:cNvPr id="11" name="任务图：步骤与依赖">
            <a:extLst xmlns:a="http://schemas.openxmlformats.org/drawingml/2006/main">
              <a:ext uri="{FF2B5EF4-FFF2-40B4-BE49-F238E27FC236}">
                <a16:creationId xmlns:a16="http://schemas.microsoft.com/office/drawing/2014/main" id="{AD5445F5-8760-4945-8B71-CC9176D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任务图：步骤与依赖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FF7DA-46FA-4FCB-95AE-485FD7C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3" name="FleetRuntime">
            <a:extLst xmlns:a="http://schemas.openxmlformats.org/drawingml/2006/main">
              <a:ext uri="{FF2B5EF4-FFF2-40B4-BE49-F238E27FC236}">
                <a16:creationId xmlns:a16="http://schemas.microsoft.com/office/drawing/2014/main" id="{99F483A5-8B59-4D9D-BFF5-C78CD83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FleetRuntime</a:t>
            </a:r>
          </a:p>
        </p:txBody>
      </p:sp>
      <p:sp>
        <p:nvSpPr>
          <p:cNvPr id="14" name="校验图 / 按依赖推进">
            <a:extLst xmlns:a="http://schemas.openxmlformats.org/drawingml/2006/main">
              <a:ext uri="{FF2B5EF4-FFF2-40B4-BE49-F238E27FC236}">
                <a16:creationId xmlns:a16="http://schemas.microsoft.com/office/drawing/2014/main" id="{1A885B08-0A71-49D8-9296-550F85F9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校验图 / 按依赖推进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76418-32D5-4CA8-A6D1-16268C76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6" name="ToolRegistry">
            <a:extLst xmlns:a="http://schemas.openxmlformats.org/drawingml/2006/main">
              <a:ext uri="{FF2B5EF4-FFF2-40B4-BE49-F238E27FC236}">
                <a16:creationId xmlns:a16="http://schemas.microsoft.com/office/drawing/2014/main" id="{6CB4DCF4-EA92-478B-8815-3359C49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ToolRegistry</a:t>
            </a:r>
          </a:p>
        </p:txBody>
      </p:sp>
      <p:sp>
        <p:nvSpPr>
          <p:cNvPr id="17" name="工具能力与合法配置">
            <a:extLst xmlns:a="http://schemas.openxmlformats.org/drawingml/2006/main">
              <a:ext uri="{FF2B5EF4-FFF2-40B4-BE49-F238E27FC236}">
                <a16:creationId xmlns:a16="http://schemas.microsoft.com/office/drawing/2014/main" id="{BDB6C7B8-DB87-43B8-A841-1829D5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工具能力与合法配置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801BB-C294-4618-84BA-390C731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9" name="执行与回执">
            <a:extLst xmlns:a="http://schemas.openxmlformats.org/drawingml/2006/main">
              <a:ext uri="{FF2B5EF4-FFF2-40B4-BE49-F238E27FC236}">
                <a16:creationId xmlns:a16="http://schemas.microsoft.com/office/drawing/2014/main" id="{C196AB16-6D71-4C0B-A507-0622E4A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执行与回执</a:t>
            </a:r>
          </a:p>
        </p:txBody>
      </p:sp>
      <p:sp>
        <p:nvSpPr>
          <p:cNvPr id="20" name="工具结果 / 状态更新">
            <a:extLst xmlns:a="http://schemas.openxmlformats.org/drawingml/2006/main">
              <a:ext uri="{FF2B5EF4-FFF2-40B4-BE49-F238E27FC236}">
                <a16:creationId xmlns:a16="http://schemas.microsoft.com/office/drawing/2014/main" id="{9F5AEF48-12C8-4F35-B636-0956076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工具结果 / 状态更新</a:t>
            </a:r>
          </a:p>
        </p:txBody>
      </p: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47975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72525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4" name="调度实现：约束过滤 + 成本预测 + 优先级队列；真实执行回执用于轻量在线校准。">
            <a:extLst xmlns:a="http://schemas.openxmlformats.org/drawingml/2006/main">
              <a:ext uri="{FF2B5EF4-FFF2-40B4-BE49-F238E27FC236}">
                <a16:creationId xmlns:a16="http://schemas.microsoft.com/office/drawing/2014/main" id="{1444F51D-B722-4870-9588-D33CECB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调度实现：约束过滤 + 成本预测 + 优先级队列；真实执行回执用于轻量在线校准。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457200" y="3943350"/>
          <a:ext xmlns:a="http://schemas.openxmlformats.org/drawingml/2006/main" cx="11277600" cy="200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24200"/>
                <a:gridCol w="8153400"/>
              </a:tblGrid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路线对比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本项目的取舍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手写固定调用链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接入简单，但资源变化需增加专门分支；保留为对照基线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通用 Agent 编排框架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可承接上层规划；本项目尚未引入，板内准入与执行核验仍需适配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自研 TypeScript Runtime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已具备任务图、工具契约和调度代码；便于直接核验执行配置与回执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26" name="当前任务图按拓扑串行执行；未实现整图自动重试 / 恢复。快速调度走本地规则与统计预测，不逐次请求">
            <a:extLst xmlns:a="http://schemas.openxmlformats.org/drawingml/2006/main">
              <a:ext uri="{FF2B5EF4-FFF2-40B4-BE49-F238E27FC236}">
                <a16:creationId xmlns:a16="http://schemas.microsoft.com/office/drawing/2014/main" id="{8EF11AB0-33A4-4B01-A49A-26382ED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当前任务图按拓扑串行执行；未实现整图自动重试 / 恢复。快速调度走本地规则与统计预测，不逐次请求大模型。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7  技术架构 4/4 · 基础环境">
            <a:extLst xmlns:a="http://schemas.openxmlformats.org/drawingml/2006/main">
              <a:ext uri="{FF2B5EF4-FFF2-40B4-BE49-F238E27FC236}">
                <a16:creationId xmlns:a16="http://schemas.microsoft.com/office/drawing/2014/main" id="{E09A92CF-2936-4620-82C6-347A574E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07  技术架构 4/4 · 基础环境</a:t>
            </a:r>
          </a:p>
        </p:txBody>
      </p:sp>
      <p:sp>
        <p:nvSpPr>
          <p:cNvPr id="5" name="板端原生部署，模型执行与业务数据分层接入">
            <a:extLst xmlns:a="http://schemas.openxmlformats.org/drawingml/2006/main">
              <a:ext uri="{FF2B5EF4-FFF2-40B4-BE49-F238E27FC236}">
                <a16:creationId xmlns:a16="http://schemas.microsoft.com/office/drawing/2014/main" id="{A94E33B2-A837-4D2D-90B0-7750F3C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板端原生部署，模型执行与业务数据分层接入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05E2E-FAD0-45BB-8727-BCB54BD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先形成可复现的单板闭环，再按数据规模与运维需求增加基础设施。">
            <a:extLst xmlns:a="http://schemas.openxmlformats.org/drawingml/2006/main">
              <a:ext uri="{FF2B5EF4-FFF2-40B4-BE49-F238E27FC236}">
                <a16:creationId xmlns:a16="http://schemas.microsoft.com/office/drawing/2014/main" id="{FD344BE8-CFB8-41E1-B07B-05F8550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先形成可复现的单板闭环，再按数据规模与运维需求增加基础设施。</a:t>
            </a:r>
          </a:p>
        </p:txBody>
      </p:sp>
      <p:sp>
        <p:nvSpPr>
          <p:cNvPr id="8" name="07">
            <a:extLst xmlns:a="http://schemas.openxmlformats.org/drawingml/2006/main">
              <a:ext uri="{FF2B5EF4-FFF2-40B4-BE49-F238E27FC236}">
                <a16:creationId xmlns:a16="http://schemas.microsoft.com/office/drawing/2014/main" id="{4DBD88BD-2509-4BA7-B278-74ABC6D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57200" y="2276475"/>
          <a:ext xmlns:a="http://schemas.openxmlformats.org/drawingml/2006/main" cx="112776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6925"/>
                <a:gridCol w="4267200"/>
                <a:gridCol w="4943475"/>
              </a:tblGrid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基础能力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当前 / 拟采用方案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选择理由与状态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运行与部署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Debian 12 / Linux 6.6 / ARM64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Node.js 22+ + systemd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对齐官方 P1 环境；已有服务文件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具体 BSP 与驱动版本获板后核对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模型推理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独立进程 Worker + JSON 协议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拟接 NOE SDK 2026Q2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隔离 SDK，探测能力并报告实际后端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通用宿主已有，NOE 执行体待接入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状态与检索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 JSON 运行记录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TypeScript 精确余弦检索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便于复现；当前输入最多 1 万条向量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暂未引入独立向量数据库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业务数据与云服务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HTTP / JSON 业务插件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数据库 / COS 接口待迁移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商品数据与调度状态分开管理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协作者资产可复用，此芯链路待集成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0" name="首版选择 systemd 原生进程，减少板端驱动与资源采集的适配环节。">
            <a:extLst xmlns:a="http://schemas.openxmlformats.org/drawingml/2006/main">
              <a:ext uri="{FF2B5EF4-FFF2-40B4-BE49-F238E27FC236}">
                <a16:creationId xmlns:a16="http://schemas.microsoft.com/office/drawing/2014/main" id="{AEBC4DF4-05D6-4112-9CBB-BA2A4A3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首版选择 systemd 原生进程，减少板端驱动与资源采集的适配环节。</a:t>
            </a:r>
          </a:p>
        </p:txBody>
      </p:sp>
      <p:sp>
        <p:nvSpPr>
          <p:cNvPr id="11" name="Docker / Kubernetes / vLLM 未列入当前依赖；本地 JSON 记录不等于">
            <a:extLst xmlns:a="http://schemas.openxmlformats.org/drawingml/2006/main">
              <a:ext uri="{FF2B5EF4-FFF2-40B4-BE49-F238E27FC236}">
                <a16:creationId xmlns:a16="http://schemas.microsoft.com/office/drawing/2014/main" id="{420D9424-40AE-47BD-B5C7-E8C54E7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Docker / Kubernetes / vLLM 未列入当前依赖；本地 JSON 记录不等于数据库事务或完整任务断点恢复。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3F8433-5C51-4189-99B4-AF93C71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5  硬件 / 算力规划">
            <a:extLst xmlns:a="http://schemas.openxmlformats.org/drawingml/2006/main">
              <a:ext uri="{FF2B5EF4-FFF2-40B4-BE49-F238E27FC236}">
                <a16:creationId xmlns:a16="http://schemas.microsoft.com/office/drawing/2014/main" id="{77842ADC-644D-48CD-AE62-6F152F71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08  硬件 / 算力规划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4" name="P1 主控与本地模型的具体分工">
            <a:extLst xmlns:a="http://schemas.openxmlformats.org/drawingml/2006/main">
              <a:ext uri="{FF2B5EF4-FFF2-40B4-BE49-F238E27FC236}">
                <a16:creationId xmlns:a16="http://schemas.microsoft.com/office/drawing/2014/main" id="{7483EEC7-1980-46FA-AF8D-1C2EF25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主控与本地模型的具体分工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C19E7513-D3F5-4C20-BA63-30C23E0E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开发配置：1 台 P1，建议 32 GB 内存、至少 256 GB SSD；第二台板不作为交付前">
            <a:extLst xmlns:a="http://schemas.openxmlformats.org/drawingml/2006/main">
              <a:ext uri="{FF2B5EF4-FFF2-40B4-BE49-F238E27FC236}">
                <a16:creationId xmlns:a16="http://schemas.microsoft.com/office/drawing/2014/main" id="{95A3637A-5DDD-48C4-901C-FE37D7B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开发配置：1 台 P1，建议 32 GB 内存、至少 256 GB SSD；第二台板不作为交付前提。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308915C6-4F05-48DE-8B60-518A692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08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graphicFrame>
        <p:nvGraphicFramePr>
          <p:cNvPr id="21" name="表格 19"/>
          <p:cNvGraphicFramePr/>
          <p:nvPr/>
        </p:nvGraphicFramePr>
        <p:xfrm>
          <a:off xmlns:a="http://schemas.openxmlformats.org/drawingml/2006/main" x="457200" y="2333625"/>
          <a:ext xmlns:a="http://schemas.openxmlformats.org/drawingml/2006/main" cx="112776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4162425"/>
                <a:gridCol w="4572000"/>
              </a:tblGrid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执行资源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具体工作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适配方式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CPU（12 核）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编排、队列、预处理、检索与规则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Linux ARM64，控制 Worker 预算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NPU（30 TOPS）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 Embedding，输出特征向量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NOE SDK，核对模型质量与真实后端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云模型 API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复杂目标规划、歧义候选复核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优先 AnyInt API，版本待验证锁定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GPU（10 核）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兼容模型的可选推理后端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后续实测有收益再启用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9" name="容量预算示例">
            <a:extLst xmlns:a="http://schemas.openxmlformats.org/drawingml/2006/main">
              <a:ext uri="{FF2B5EF4-FFF2-40B4-BE49-F238E27FC236}">
                <a16:creationId xmlns:a16="http://schemas.microsoft.com/office/drawing/2014/main" id="{D8BDF1D3-55D2-4006-8DF6-984ACEF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65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容量预算示例</a:t>
            </a:r>
            <a:endParaRPr sz="180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100M 参数、INT8、batch 1：权重约 100 MB&#10;10 万条 512 维 FP32">
            <a:extLst xmlns:a="http://schemas.openxmlformats.org/drawingml/2006/main">
              <a:ext uri="{FF2B5EF4-FFF2-40B4-BE49-F238E27FC236}">
                <a16:creationId xmlns:a16="http://schemas.microsoft.com/office/drawing/2014/main" id="{3774CE0A-67CC-44CE-991A-E49BF267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648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100M 参数、INT8、batch 1：权重约 100 MB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 万条 512 维 FP32 向量约 205 MB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获板适配链路">
            <a:extLst xmlns:a="http://schemas.openxmlformats.org/drawingml/2006/main">
              <a:ext uri="{FF2B5EF4-FFF2-40B4-BE49-F238E27FC236}">
                <a16:creationId xmlns:a16="http://schemas.microsoft.com/office/drawing/2014/main" id="{A2110C05-E24C-4614-B20C-FB5171A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1970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获板适配链路</a:t>
            </a:r>
            <a:endParaRPr sz="180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ARM64 部署 → NOE 探测 → 质量对齐&#10;资源采样与回执核验 → 压力下校准">
            <a:extLst xmlns:a="http://schemas.openxmlformats.org/drawingml/2006/main">
              <a:ext uri="{FF2B5EF4-FFF2-40B4-BE49-F238E27FC236}">
                <a16:creationId xmlns:a16="http://schemas.microsoft.com/office/drawing/2014/main" id="{7CB9C8D2-DB22-427D-B330-2FA624B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638800"/>
            <a:ext cx="4391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ARM64 部署 → NOE 探测 → 质量对齐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资源采样与回执核验 → 压力下校准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规格为官方峰值，预算为假设测算，另计激活和运行时开销。具体模型、精度与实测内存峰值待获板确定。">
            <a:extLst xmlns:a="http://schemas.openxmlformats.org/drawingml/2006/main">
              <a:ext uri="{FF2B5EF4-FFF2-40B4-BE49-F238E27FC236}">
                <a16:creationId xmlns:a16="http://schemas.microsoft.com/office/drawing/2014/main" id="{8E467FEC-A9E6-4F65-98C3-9A0B4F7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规格为官方峰值，预算为假设测算，另计激活和运行时开销。具体模型、精度与实测内存峰值待获板确定。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75072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92CBD6-8EC6-4DB8-BCBD-A8B8F0F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4DA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0677B7-A739-4513-8F54-AB32DC0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6  Demo 现状与预期效果">
            <a:extLst xmlns:a="http://schemas.openxmlformats.org/drawingml/2006/main">
              <a:ext uri="{FF2B5EF4-FFF2-40B4-BE49-F238E27FC236}">
                <a16:creationId xmlns:a16="http://schemas.microsoft.com/office/drawing/2014/main" id="{F5281C38-C60E-4612-8EA1-79A788F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09  Demo 现状与预期效果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已有真实执行原型，下一步接通端云模型">
            <a:extLst xmlns:a="http://schemas.openxmlformats.org/drawingml/2006/main">
              <a:ext uri="{FF2B5EF4-FFF2-40B4-BE49-F238E27FC236}">
                <a16:creationId xmlns:a16="http://schemas.microsoft.com/office/drawing/2014/main" id="{F9DB3255-1342-49CD-BBBC-B273FE3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已有真实执行原型，下一步接通端云模型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D7D38A2F-8DC8-44D4-877A-A1FEDB2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当前可复现：提交向量任务，CPU 完成检索，同一运行 ID 查看结果和调度记录。">
            <a:extLst xmlns:a="http://schemas.openxmlformats.org/drawingml/2006/main">
              <a:ext uri="{FF2B5EF4-FFF2-40B4-BE49-F238E27FC236}">
                <a16:creationId xmlns:a16="http://schemas.microsoft.com/office/drawing/2014/main" id="{80EFFFD3-AD6D-40BF-8D54-861CDFA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当前可复现：提交向量任务，CPU 完成检索，同一运行 ID 查看结果和调度记录。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8AE4CD92-347F-4224-85A2-91CCB02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09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pic>
        <p:nvPicPr>
          <p:cNvPr id="24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d03008789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364214"/>
            <a:ext cx="7286625" cy="4101247"/>
          </a:xfrm>
          <a:prstGeom xmlns:a="http://schemas.openxmlformats.org/drawingml/2006/main" prst="rect">
            <a:avLst/>
          </a:prstGeom>
        </p:spPr>
      </p:pic>
      <p:sp>
        <p:nvSpPr>
          <p:cNvPr id="10" name="已有验证">
            <a:extLst xmlns:a="http://schemas.openxmlformats.org/drawingml/2006/main">
              <a:ext uri="{FF2B5EF4-FFF2-40B4-BE49-F238E27FC236}">
                <a16:creationId xmlns:a16="http://schemas.microsoft.com/office/drawing/2014/main" id="{65B7FBCE-CC6C-4F92-9E5D-369EFB3E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已有验证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27 项自动测试通过&#10;真实 CPU 执行与回执&#10;双 HTTP 节点协议联测">
            <a:extLst xmlns:a="http://schemas.openxmlformats.org/drawingml/2006/main">
              <a:ext uri="{FF2B5EF4-FFF2-40B4-BE49-F238E27FC236}">
                <a16:creationId xmlns:a16="http://schemas.microsoft.com/office/drawing/2014/main" id="{44D624BC-303E-4B8E-8475-2841040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600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27 项自动测试通过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真实 CPU 执行与回执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 HTTP 节点协议联测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下一阶段演示">
            <a:extLst xmlns:a="http://schemas.openxmlformats.org/drawingml/2006/main">
              <a:ext uri="{FF2B5EF4-FFF2-40B4-BE49-F238E27FC236}">
                <a16:creationId xmlns:a16="http://schemas.microsoft.com/office/drawing/2014/main" id="{83A17A54-5B27-4443-B78E-5B88056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下一阶段演示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P1 本地模型与云模型协作&#10;改变网络或本地负载&#10;观察候选、选择原因和结果">
            <a:extLst xmlns:a="http://schemas.openxmlformats.org/drawingml/2006/main">
              <a:ext uri="{FF2B5EF4-FFF2-40B4-BE49-F238E27FC236}">
                <a16:creationId xmlns:a16="http://schemas.microsoft.com/office/drawing/2014/main" id="{08C081B0-22DB-41DC-83D0-63EA28D5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600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本地模型与云模型协作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改变网络或本地负载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观察候选、选择原因和结果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代码及复现步骤 ↗">
            <a:extLst xmlns:a="http://schemas.openxmlformats.org/drawingml/2006/main">
              <a:ext uri="{FF2B5EF4-FFF2-40B4-BE49-F238E27FC236}">
                <a16:creationId xmlns:a16="http://schemas.microsoft.com/office/drawing/2014/main" id="{13133D40-22DE-4FDF-9A08-666116E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3600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  <a:hlinkClick xmlns:r="http://schemas.openxmlformats.org/officeDocument/2006/relationships" r:id="R123ee7ff30db400c"/>
              </a:rPr>
              <a:t>代码及复现步骤 ↗</a:t>
            </a:r>
            <a:endParaRPr sz="15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桌面人工向量测试截图；单次耗时不代表 P1 性能或调度加速。">
            <a:extLst xmlns:a="http://schemas.openxmlformats.org/drawingml/2006/main">
              <a:ext uri="{FF2B5EF4-FFF2-40B4-BE49-F238E27FC236}">
                <a16:creationId xmlns:a16="http://schemas.microsoft.com/office/drawing/2014/main" id="{5381E21B-DA84-4A79-BD22-3759574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86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桌面人工向量测试截图；单次耗时不代表 P1 性能或调度加速。</a:t>
            </a:r>
            <a:endParaRPr sz="1050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8566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9C723D4-A469-4445-839B-47D79A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7  开发计划与里程碑">
            <a:extLst xmlns:a="http://schemas.openxmlformats.org/drawingml/2006/main">
              <a:ext uri="{FF2B5EF4-FFF2-40B4-BE49-F238E27FC236}">
                <a16:creationId xmlns:a16="http://schemas.microsoft.com/office/drawing/2014/main" id="{F6F29AC2-0EDA-472A-9F54-839372AA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  开发计划与里程碑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4" name="先完成端云调度闭环，再叠加技能复用">
            <a:extLst xmlns:a="http://schemas.openxmlformats.org/drawingml/2006/main">
              <a:ext uri="{FF2B5EF4-FFF2-40B4-BE49-F238E27FC236}">
                <a16:creationId xmlns:a16="http://schemas.microsoft.com/office/drawing/2014/main" id="{69BCAACF-8E1E-42BE-B80D-A669416D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先完成端云调度闭环，再叠加技能复用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709C62C2-5C09-4AE4-9B9B-6E28910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按相对周次安排，P1 适配在获板后并行开展。">
            <a:extLst xmlns:a="http://schemas.openxmlformats.org/drawingml/2006/main">
              <a:ext uri="{FF2B5EF4-FFF2-40B4-BE49-F238E27FC236}">
                <a16:creationId xmlns:a16="http://schemas.microsoft.com/office/drawing/2014/main" id="{7C3AB697-6516-484F-81BB-D82A04B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按相对周次安排，P1 适配在获板后并行开展。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7">
            <a:extLst xmlns:a="http://schemas.openxmlformats.org/drawingml/2006/main">
              <a:ext uri="{FF2B5EF4-FFF2-40B4-BE49-F238E27FC236}">
                <a16:creationId xmlns:a16="http://schemas.microsoft.com/office/drawing/2014/main" id="{BC2F4673-693A-4DD6-9909-6EA6E38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112776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4095750"/>
                <a:gridCol w="5314950"/>
              </a:tblGrid>
              <a:tr h="546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阶段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主要交付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验收条件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1—2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云适配器、业务工具、统一回执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一次任务真实调用本地工具与云服务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获板后 1—2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ARM64 / NOE 模型与资源采集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推理成功，质量和实际后端可核验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3—4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完整成本与反馈校准、压力测试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 / 负载变化时作出可解释选择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4—5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验证式技能复用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新输入复算，越界或不兼容时停用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6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对照实验、视频、部署与文档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同质量基线可复现，结果与边界完整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9" name="最小交付">
            <a:extLst xmlns:a="http://schemas.openxmlformats.org/drawingml/2006/main">
              <a:ext uri="{FF2B5EF4-FFF2-40B4-BE49-F238E27FC236}">
                <a16:creationId xmlns:a16="http://schemas.microsoft.com/office/drawing/2014/main" id="{8CC86089-01AB-4304-B970-852D3064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51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最小交付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1 台 P1 + 1 个本地模型 + 1 个云服务 + 1 条业务链 + 调度对照实验">
            <a:extLst xmlns:a="http://schemas.openxmlformats.org/drawingml/2006/main">
              <a:ext uri="{FF2B5EF4-FFF2-40B4-BE49-F238E27FC236}">
                <a16:creationId xmlns:a16="http://schemas.microsoft.com/office/drawing/2014/main" id="{06DD2E29-DEC0-4531-AEEF-C39212C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台 P1 + 1 个本地模型 + 1 个云服务 + 1 条业务链 + 调度对照实验</a:t>
            </a:r>
            <a:endParaRPr sz="172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优先保证调度主体。GPU、多板、本地大语言模型、复杂 DAG 并行为增强项，按时间和能力取舍。">
            <a:extLst xmlns:a="http://schemas.openxmlformats.org/drawingml/2006/main">
              <a:ext uri="{FF2B5EF4-FFF2-40B4-BE49-F238E27FC236}">
                <a16:creationId xmlns:a16="http://schemas.microsoft.com/office/drawing/2014/main" id="{67A78B60-FFF9-4834-9D83-999FBB0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优先保证调度主体。GPU、多板、本地大语言模型、复杂 DAG 并行为增强项，按时间和能力取舍。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23789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2AC36C1-F3DF-4B65-B195-FF6AF21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8  团队背景与分工">
            <a:extLst xmlns:a="http://schemas.openxmlformats.org/drawingml/2006/main">
              <a:ext uri="{FF2B5EF4-FFF2-40B4-BE49-F238E27FC236}">
                <a16:creationId xmlns:a16="http://schemas.microsoft.com/office/drawing/2014/main" id="{B4632051-C07B-45FB-A9A3-9BC3FF5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  团队背景与分工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4" name="按调度、模型和应用接口划分协作职责">
            <a:extLst xmlns:a="http://schemas.openxmlformats.org/drawingml/2006/main">
              <a:ext uri="{FF2B5EF4-FFF2-40B4-BE49-F238E27FC236}">
                <a16:creationId xmlns:a16="http://schemas.microsoft.com/office/drawing/2014/main" id="{1B10858F-618E-45E8-A53C-9094CA3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按调度、模型和应用接口划分协作职责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113CEE0-4024-479A-8423-8CAD4CB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已具备可运行的框架基础，接下来围绕独立模块并行推进。">
            <a:extLst xmlns:a="http://schemas.openxmlformats.org/drawingml/2006/main">
              <a:ext uri="{FF2B5EF4-FFF2-40B4-BE49-F238E27FC236}">
                <a16:creationId xmlns:a16="http://schemas.microsoft.com/office/drawing/2014/main" id="{65F69A44-B4FD-4388-8779-015B3FC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已具备可运行的框架基础，接下来围绕独立模块并行推进。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1FE92321-9A18-4979-BC1D-89E1801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已有项目基础">
            <a:extLst xmlns:a="http://schemas.openxmlformats.org/drawingml/2006/main">
              <a:ext uri="{FF2B5EF4-FFF2-40B4-BE49-F238E27FC236}">
                <a16:creationId xmlns:a16="http://schemas.microsoft.com/office/drawing/2014/main" id="{EF09BB86-AAD6-4811-89B3-8C8ECAD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520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已有项目基础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调度与执行代码">
            <a:extLst xmlns:a="http://schemas.openxmlformats.org/drawingml/2006/main">
              <a:ext uri="{FF2B5EF4-FFF2-40B4-BE49-F238E27FC236}">
                <a16:creationId xmlns:a16="http://schemas.microsoft.com/office/drawing/2014/main" id="{512095B1-DCA1-4E1B-9FFF-70A3E1AF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调度与执行代码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受约束策略、成本预测、HTTP 节点协议">
            <a:extLst xmlns:a="http://schemas.openxmlformats.org/drawingml/2006/main">
              <a:ext uri="{FF2B5EF4-FFF2-40B4-BE49-F238E27FC236}">
                <a16:creationId xmlns:a16="http://schemas.microsoft.com/office/drawing/2014/main" id="{47F858EE-5F93-4B26-B68A-AB25256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受约束策略、成本预测、HTTP 节点协议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应用与观测页面">
            <a:extLst xmlns:a="http://schemas.openxmlformats.org/drawingml/2006/main">
              <a:ext uri="{FF2B5EF4-FFF2-40B4-BE49-F238E27FC236}">
                <a16:creationId xmlns:a16="http://schemas.microsoft.com/office/drawing/2014/main" id="{F303E2FC-AD3A-4D2D-B7FE-022AD5E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应用与观测页面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任务提交、调度盘、运行状态与实际回执">
            <a:extLst xmlns:a="http://schemas.openxmlformats.org/drawingml/2006/main">
              <a:ext uri="{FF2B5EF4-FFF2-40B4-BE49-F238E27FC236}">
                <a16:creationId xmlns:a16="http://schemas.microsoft.com/office/drawing/2014/main" id="{CF189838-641E-4B86-8581-9493BB1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任务提交、调度盘、运行状态与实际回执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业务与云端资产">
            <a:extLst xmlns:a="http://schemas.openxmlformats.org/drawingml/2006/main">
              <a:ext uri="{FF2B5EF4-FFF2-40B4-BE49-F238E27FC236}">
                <a16:creationId xmlns:a16="http://schemas.microsoft.com/office/drawing/2014/main" id="{97F0EF2D-4331-4148-BC20-CD673AE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业务与云端资产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购物系统、数据库与 COS 接口可迁移复用">
            <a:extLst xmlns:a="http://schemas.openxmlformats.org/drawingml/2006/main">
              <a:ext uri="{FF2B5EF4-FFF2-40B4-BE49-F238E27FC236}">
                <a16:creationId xmlns:a16="http://schemas.microsoft.com/office/drawing/2014/main" id="{A8BC41D1-A337-4454-9137-2FD34780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购物系统、数据库与 COS 接口可迁移复用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拟定分工与交付物">
            <a:extLst xmlns:a="http://schemas.openxmlformats.org/drawingml/2006/main">
              <a:ext uri="{FF2B5EF4-FFF2-40B4-BE49-F238E27FC236}">
                <a16:creationId xmlns:a16="http://schemas.microsoft.com/office/drawing/2014/main" id="{B627A777-4AD7-47DB-918E-6EAB50F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535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拟定分工与交付物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调度 / Runtime">
            <a:extLst xmlns:a="http://schemas.openxmlformats.org/drawingml/2006/main">
              <a:ext uri="{FF2B5EF4-FFF2-40B4-BE49-F238E27FC236}">
                <a16:creationId xmlns:a16="http://schemas.microsoft.com/office/drawing/2014/main" id="{6F3A6FE2-8FE1-4881-8C88-51BEE81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 / Runtime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路由策略、完整成本模型、可靠执行">
            <a:extLst xmlns:a="http://schemas.openxmlformats.org/drawingml/2006/main">
              <a:ext uri="{FF2B5EF4-FFF2-40B4-BE49-F238E27FC236}">
                <a16:creationId xmlns:a16="http://schemas.microsoft.com/office/drawing/2014/main" id="{D43C99CA-E6DB-423F-A2C5-787AF37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路由策略、完整成本模型、可靠执行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P1 / 模型">
            <a:extLst xmlns:a="http://schemas.openxmlformats.org/drawingml/2006/main">
              <a:ext uri="{FF2B5EF4-FFF2-40B4-BE49-F238E27FC236}">
                <a16:creationId xmlns:a16="http://schemas.microsoft.com/office/drawing/2014/main" id="{BE5C0968-EA56-4278-96AB-58C0D1F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/ 模型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NOE Worker、质量对齐、板端测量">
            <a:extLst xmlns:a="http://schemas.openxmlformats.org/drawingml/2006/main">
              <a:ext uri="{FF2B5EF4-FFF2-40B4-BE49-F238E27FC236}">
                <a16:creationId xmlns:a16="http://schemas.microsoft.com/office/drawing/2014/main" id="{CCA97E86-831E-4AD7-90A4-D14953D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NOE Worker、质量对齐、板端测量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云端 / 业务">
            <a:extLst xmlns:a="http://schemas.openxmlformats.org/drawingml/2006/main">
              <a:ext uri="{FF2B5EF4-FFF2-40B4-BE49-F238E27FC236}">
                <a16:creationId xmlns:a16="http://schemas.microsoft.com/office/drawing/2014/main" id="{A78D7DAB-4144-4F73-B3E1-4275AC97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 / 业务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云规划与复核、工具契约、业务闭环">
            <a:extLst xmlns:a="http://schemas.openxmlformats.org/drawingml/2006/main">
              <a:ext uri="{FF2B5EF4-FFF2-40B4-BE49-F238E27FC236}">
                <a16:creationId xmlns:a16="http://schemas.microsoft.com/office/drawing/2014/main" id="{175B2C72-7E31-46D6-AAE9-E0605BE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云规划与复核、工具契约、业务闭环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Demo / 实验 / 材料">
            <a:extLst xmlns:a="http://schemas.openxmlformats.org/drawingml/2006/main">
              <a:ext uri="{FF2B5EF4-FFF2-40B4-BE49-F238E27FC236}">
                <a16:creationId xmlns:a16="http://schemas.microsoft.com/office/drawing/2014/main" id="{5779B8BC-07E2-4551-BE55-DAD3C77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81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Demo / 实验 / 材料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3" name="对照报告、复现脚本、演示与答辩">
            <a:extLst xmlns:a="http://schemas.openxmlformats.org/drawingml/2006/main">
              <a:ext uri="{FF2B5EF4-FFF2-40B4-BE49-F238E27FC236}">
                <a16:creationId xmlns:a16="http://schemas.microsoft.com/office/drawing/2014/main" id="{6C0C06F5-F942-4988-BD2B-9BADFB7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34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对照报告、复现脚本、演示与答辩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姓名、学校、专业及可核验个人成果待补充。上述为职责分工，可兼任，不代表已确定团队人数。">
            <a:extLst xmlns:a="http://schemas.openxmlformats.org/drawingml/2006/main">
              <a:ext uri="{FF2B5EF4-FFF2-40B4-BE49-F238E27FC236}">
                <a16:creationId xmlns:a16="http://schemas.microsoft.com/office/drawing/2014/main" id="{F078BC9D-F2C8-4AAF-BC6C-3ED21603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姓名、学校、专业及可核验个人成果待补充。上述为职责分工，可兼任，不代表已确定团队人数。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9893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0D5CA2F-971B-469A-BF8A-BD5F006C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3466663-1A8E-4C3B-8E7F-D74D1C2F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9  调度方法详解">
            <a:extLst xmlns:a="http://schemas.openxmlformats.org/drawingml/2006/main">
              <a:ext uri="{FF2B5EF4-FFF2-40B4-BE49-F238E27FC236}">
                <a16:creationId xmlns:a16="http://schemas.microsoft.com/office/drawing/2014/main" id="{90D9DE0A-B7AD-4352-9E9F-E80CF59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 调度方法详解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一次调度的输入、判断与输出">
            <a:extLst xmlns:a="http://schemas.openxmlformats.org/drawingml/2006/main">
              <a:ext uri="{FF2B5EF4-FFF2-40B4-BE49-F238E27FC236}">
                <a16:creationId xmlns:a16="http://schemas.microsoft.com/office/drawing/2014/main" id="{DEDF1FE6-9FE5-4CE6-AC22-4D2121A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一次调度的输入、判断与输出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9ED3876-938A-4D0C-B40D-B8441288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主方法：先排除不合规候选，再根据任务和资源状态选择可执行路径。">
            <a:extLst xmlns:a="http://schemas.openxmlformats.org/drawingml/2006/main">
              <a:ext uri="{FF2B5EF4-FFF2-40B4-BE49-F238E27FC236}">
                <a16:creationId xmlns:a16="http://schemas.microsoft.com/office/drawing/2014/main" id="{33E04A81-4EC0-4996-B4B0-02A725AD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主方法：先排除不合规候选，再根据任务和资源状态选择可执行路径。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09">
            <a:extLst xmlns:a="http://schemas.openxmlformats.org/drawingml/2006/main">
              <a:ext uri="{FF2B5EF4-FFF2-40B4-BE49-F238E27FC236}">
                <a16:creationId xmlns:a16="http://schemas.microsoft.com/office/drawing/2014/main" id="{2C32D74D-E9B7-4578-A62B-CA5CE11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9D2F257-2496-4EC7-B4BF-05B2ACE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0" name="输入画像">
            <a:extLst xmlns:a="http://schemas.openxmlformats.org/drawingml/2006/main">
              <a:ext uri="{FF2B5EF4-FFF2-40B4-BE49-F238E27FC236}">
                <a16:creationId xmlns:a16="http://schemas.microsoft.com/office/drawing/2014/main" id="{457F5365-7FEE-4756-9220-62C9610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输入画像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任务类型、规模、时限&#10;质量、授权、负载和网络">
            <a:extLst xmlns:a="http://schemas.openxmlformats.org/drawingml/2006/main">
              <a:ext uri="{FF2B5EF4-FFF2-40B4-BE49-F238E27FC236}">
                <a16:creationId xmlns:a16="http://schemas.microsoft.com/office/drawing/2014/main" id="{3887ACAD-9B12-4351-9D74-B58B07D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任务类型、规模、时限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质量、授权、负载和网络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4B41A47-D8F8-4462-A332-8EDEC2F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3" name="1 过滤候选">
            <a:extLst xmlns:a="http://schemas.openxmlformats.org/drawingml/2006/main">
              <a:ext uri="{FF2B5EF4-FFF2-40B4-BE49-F238E27FC236}">
                <a16:creationId xmlns:a16="http://schemas.microsoft.com/office/drawing/2014/main" id="{38D2DB26-5948-4505-AC28-4105D39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过滤候选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工具 / 模型能力匹配&#10;质量与外发条件满足">
            <a:extLst xmlns:a="http://schemas.openxmlformats.org/drawingml/2006/main">
              <a:ext uri="{FF2B5EF4-FFF2-40B4-BE49-F238E27FC236}">
                <a16:creationId xmlns:a16="http://schemas.microsoft.com/office/drawing/2014/main" id="{751E7FF0-1A56-4723-B8B8-0D57A99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 / 模型能力匹配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质量与外发条件满足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5839D-7C4C-46A2-8FBD-0277719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6" name="2 比较路径">
            <a:extLst xmlns:a="http://schemas.openxmlformats.org/drawingml/2006/main">
              <a:ext uri="{FF2B5EF4-FFF2-40B4-BE49-F238E27FC236}">
                <a16:creationId xmlns:a16="http://schemas.microsoft.com/office/drawing/2014/main" id="{168137EA-C778-4010-91AB-79FF7E3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 比较路径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预测排队、计算与传输&#10;保留不确定性余量">
            <a:extLst xmlns:a="http://schemas.openxmlformats.org/drawingml/2006/main">
              <a:ext uri="{FF2B5EF4-FFF2-40B4-BE49-F238E27FC236}">
                <a16:creationId xmlns:a16="http://schemas.microsoft.com/office/drawing/2014/main" id="{D34F13FD-03CC-44D1-B70F-9522DB1D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预测排队、计算与传输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保留不确定性余量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7F3620-E838-40BB-8AA1-362CE0A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00300"/>
            <a:ext cx="2333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9" name="3 派发">
            <a:extLst xmlns:a="http://schemas.openxmlformats.org/drawingml/2006/main">
              <a:ext uri="{FF2B5EF4-FFF2-40B4-BE49-F238E27FC236}">
                <a16:creationId xmlns:a16="http://schemas.microsoft.com/office/drawing/2014/main" id="{509729B7-5CE1-4D7A-A9B5-E8F51653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24125"/>
            <a:ext cx="2028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派发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位置、配置&#10;执行原因">
            <a:extLst xmlns:a="http://schemas.openxmlformats.org/drawingml/2006/main">
              <a:ext uri="{FF2B5EF4-FFF2-40B4-BE49-F238E27FC236}">
                <a16:creationId xmlns:a16="http://schemas.microsoft.com/office/drawing/2014/main" id="{385D26AA-AA44-4F55-AB10-8AF768E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57500"/>
            <a:ext cx="2028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位置、配置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执行原因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8" name="直接箭头连接符 53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81325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19" name="直接箭头连接符 54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62650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0" name="直接箭头连接符 55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943975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9D94077-7F75-48C2-BAE8-9AF4844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24375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5" name="4 执行端复核">
            <a:extLst xmlns:a="http://schemas.openxmlformats.org/drawingml/2006/main">
              <a:ext uri="{FF2B5EF4-FFF2-40B4-BE49-F238E27FC236}">
                <a16:creationId xmlns:a16="http://schemas.microsoft.com/office/drawing/2014/main" id="{01BD5A59-2E7E-48CB-BFCC-8B5F5E2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48200"/>
            <a:ext cx="2028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 执行端复核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6" name="本地资源能否接纳&#10;执行配置是否真实可用">
            <a:extLst xmlns:a="http://schemas.openxmlformats.org/drawingml/2006/main">
              <a:ext uri="{FF2B5EF4-FFF2-40B4-BE49-F238E27FC236}">
                <a16:creationId xmlns:a16="http://schemas.microsoft.com/office/drawing/2014/main" id="{EDBF606E-E39A-4A60-9BA4-4F3DA5BF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981575"/>
            <a:ext cx="20288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本地资源能否接纳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执行配置是否真实可用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35CCF1A-339A-4DE3-A794-3A85DBF3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24375"/>
            <a:ext cx="2524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8" name="5 核验与反馈">
            <a:extLst xmlns:a="http://schemas.openxmlformats.org/drawingml/2006/main">
              <a:ext uri="{FF2B5EF4-FFF2-40B4-BE49-F238E27FC236}">
                <a16:creationId xmlns:a16="http://schemas.microsoft.com/office/drawing/2014/main" id="{298B85B4-D692-49A1-AA18-039EC4A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 核验与反馈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9" name="实际配置 / 耗时 / 结果&#10;更新同环境的成本样本">
            <a:extLst xmlns:a="http://schemas.openxmlformats.org/drawingml/2006/main">
              <a:ext uri="{FF2B5EF4-FFF2-40B4-BE49-F238E27FC236}">
                <a16:creationId xmlns:a16="http://schemas.microsoft.com/office/drawing/2014/main" id="{B3509C27-9609-48C7-9ADD-FB08F5A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2219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实际配置 / 耗时 / 结果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更新同环境的成本样本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27" name="直接箭头连接符 62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0567988" y="37242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8" name="直接箭头连接符 63"/>
          <p:cNvCxnSpPr>
            <a:stCxn xmlns:a="http://schemas.openxmlformats.org/drawingml/2006/main" id="24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943975" y="5181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2" name="反馈用于下一次调度">
            <a:extLst xmlns:a="http://schemas.openxmlformats.org/drawingml/2006/main">
              <a:ext uri="{FF2B5EF4-FFF2-40B4-BE49-F238E27FC236}">
                <a16:creationId xmlns:a16="http://schemas.microsoft.com/office/drawing/2014/main" id="{397B47EF-4E46-476F-AF7E-D9040DB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29275"/>
            <a:ext cx="2924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反馈用于下一次调度</a:t>
            </a:r>
            <a:endParaRPr sz="172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30" name="肘形连接符 65"/>
          <p:cNvCxnSpPr>
            <a:stCxn xmlns:a="http://schemas.openxmlformats.org/drawingml/2006/main" id="2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4700588" y="3724275"/>
            <a:ext cx="1719263" cy="14573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只有结果契约与质量兼容的实现才可端云切换。云独有任务管理调用和失败，不强行降级为本地任务。">
            <a:extLst xmlns:a="http://schemas.openxmlformats.org/drawingml/2006/main">
              <a:ext uri="{FF2B5EF4-FFF2-40B4-BE49-F238E27FC236}">
                <a16:creationId xmlns:a16="http://schemas.microsoft.com/office/drawing/2014/main" id="{6F26D004-4FCD-4DA1-8E94-7528DFA3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只有结果契约与质量兼容的实现才可端云切换。云独有任务管理调用和失败，不强行降级为本地任务。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57221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10  完整路径成本与轻量预测">
            <a:extLst xmlns:a="http://schemas.openxmlformats.org/drawingml/2006/main">
              <a:ext uri="{FF2B5EF4-FFF2-40B4-BE49-F238E27FC236}">
                <a16:creationId xmlns:a16="http://schemas.microsoft.com/office/drawing/2014/main" id="{C9C7D2CB-1B94-4B7E-B5EA-6A58EAEF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13  完整路径成本与轻量预测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" name="比较完整等待时间，避免“推理快但任务慢”">
            <a:extLst xmlns:a="http://schemas.openxmlformats.org/drawingml/2006/main">
              <a:ext uri="{FF2B5EF4-FFF2-40B4-BE49-F238E27FC236}">
                <a16:creationId xmlns:a16="http://schemas.microsoft.com/office/drawing/2014/main" id="{5AF48E88-EEE7-4C7E-AAD2-7451333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比较完整等待时间，避免“推理快但任务慢”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8F93B33-6E5F-4D19-B155-FD1AD87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云端推理更快，也可能因为上传、排队和回传而增加用户等待。">
            <a:extLst xmlns:a="http://schemas.openxmlformats.org/drawingml/2006/main">
              <a:ext uri="{FF2B5EF4-FFF2-40B4-BE49-F238E27FC236}">
                <a16:creationId xmlns:a16="http://schemas.microsoft.com/office/drawing/2014/main" id="{DEF5A1C3-C9BE-4BB3-972F-B0845A0F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云端推理更快，也可能因为上传、排队和回传而增加用户等待。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D77BD83A-6DF5-41E7-BBEB-282DC06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13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BA1824-05ED-4CB8-A6D4-78DC958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7" name="准备">
            <a:extLst xmlns:a="http://schemas.openxmlformats.org/drawingml/2006/main">
              <a:ext uri="{FF2B5EF4-FFF2-40B4-BE49-F238E27FC236}">
                <a16:creationId xmlns:a16="http://schemas.microsoft.com/office/drawing/2014/main" id="{C0288CB4-7B17-48AB-AA3A-A965E545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准备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预处理 / 序列化">
            <a:extLst xmlns:a="http://schemas.openxmlformats.org/drawingml/2006/main">
              <a:ext uri="{FF2B5EF4-FFF2-40B4-BE49-F238E27FC236}">
                <a16:creationId xmlns:a16="http://schemas.microsoft.com/office/drawing/2014/main" id="{76B96B74-530C-444A-A6DC-C3B275B6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预处理 / 序列化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+">
            <a:extLst xmlns:a="http://schemas.openxmlformats.org/drawingml/2006/main">
              <a:ext uri="{FF2B5EF4-FFF2-40B4-BE49-F238E27FC236}">
                <a16:creationId xmlns:a16="http://schemas.microsoft.com/office/drawing/2014/main" id="{5BBE074A-C99A-4075-B163-F494E03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EAFDBA-59F9-4A15-BCD3-432DA66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11" name="传输">
            <a:extLst xmlns:a="http://schemas.openxmlformats.org/drawingml/2006/main">
              <a:ext uri="{FF2B5EF4-FFF2-40B4-BE49-F238E27FC236}">
                <a16:creationId xmlns:a16="http://schemas.microsoft.com/office/drawing/2014/main" id="{BAC09C1B-A479-412A-B0BB-DF101AD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传输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上传或对象读取">
            <a:extLst xmlns:a="http://schemas.openxmlformats.org/drawingml/2006/main">
              <a:ext uri="{FF2B5EF4-FFF2-40B4-BE49-F238E27FC236}">
                <a16:creationId xmlns:a16="http://schemas.microsoft.com/office/drawing/2014/main" id="{97F53076-8510-452F-9092-670F045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上传或对象读取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AF181593-7E7F-4870-9CE3-9469C8D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EA11C16-4284-447D-9828-715F8340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5" name="排队">
            <a:extLst xmlns:a="http://schemas.openxmlformats.org/drawingml/2006/main">
              <a:ext uri="{FF2B5EF4-FFF2-40B4-BE49-F238E27FC236}">
                <a16:creationId xmlns:a16="http://schemas.microsoft.com/office/drawing/2014/main" id="{7E394782-AB96-4239-B074-9C46264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排队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服务 / 本地队列">
            <a:extLst xmlns:a="http://schemas.openxmlformats.org/drawingml/2006/main">
              <a:ext uri="{FF2B5EF4-FFF2-40B4-BE49-F238E27FC236}">
                <a16:creationId xmlns:a16="http://schemas.microsoft.com/office/drawing/2014/main" id="{08DD24F2-73CD-4BAF-9F6C-0A2D5A41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服务 / 本地队列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+">
            <a:extLst xmlns:a="http://schemas.openxmlformats.org/drawingml/2006/main">
              <a:ext uri="{FF2B5EF4-FFF2-40B4-BE49-F238E27FC236}">
                <a16:creationId xmlns:a16="http://schemas.microsoft.com/office/drawing/2014/main" id="{4B08FDAC-BEDE-4DF7-9BD9-112AA92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AFC0AE5-475E-4C03-A6C6-FA85CB98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9" name="执行">
            <a:extLst xmlns:a="http://schemas.openxmlformats.org/drawingml/2006/main">
              <a:ext uri="{FF2B5EF4-FFF2-40B4-BE49-F238E27FC236}">
                <a16:creationId xmlns:a16="http://schemas.microsoft.com/office/drawing/2014/main" id="{F8B6E982-E676-4612-8F1C-2E83F69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加载与实际计算">
            <a:extLst xmlns:a="http://schemas.openxmlformats.org/drawingml/2006/main">
              <a:ext uri="{FF2B5EF4-FFF2-40B4-BE49-F238E27FC236}">
                <a16:creationId xmlns:a16="http://schemas.microsoft.com/office/drawing/2014/main" id="{A39FFEE2-679B-4D1F-82A8-3CD1BC9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加载与实际计算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+">
            <a:extLst xmlns:a="http://schemas.openxmlformats.org/drawingml/2006/main">
              <a:ext uri="{FF2B5EF4-FFF2-40B4-BE49-F238E27FC236}">
                <a16:creationId xmlns:a16="http://schemas.microsoft.com/office/drawing/2014/main" id="{39B15819-C065-4DE8-BC2F-B5C5365A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81C6DC2-7645-43C2-A29E-7B5135F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3" name="回传与验证">
            <a:extLst xmlns:a="http://schemas.openxmlformats.org/drawingml/2006/main">
              <a:ext uri="{FF2B5EF4-FFF2-40B4-BE49-F238E27FC236}">
                <a16:creationId xmlns:a16="http://schemas.microsoft.com/office/drawing/2014/main" id="{E739DC81-3446-4884-8CC1-0F5AEE5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回传与验证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返回及质量核验">
            <a:extLst xmlns:a="http://schemas.openxmlformats.org/drawingml/2006/main">
              <a:ext uri="{FF2B5EF4-FFF2-40B4-BE49-F238E27FC236}">
                <a16:creationId xmlns:a16="http://schemas.microsoft.com/office/drawing/2014/main" id="{FBF30356-0458-4588-9CA9-33A1A8D2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返回及质量核验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候选成本 = 上述实际阶段总和 + 不确定性余量">
            <a:extLst xmlns:a="http://schemas.openxmlformats.org/drawingml/2006/main">
              <a:ext uri="{FF2B5EF4-FFF2-40B4-BE49-F238E27FC236}">
                <a16:creationId xmlns:a16="http://schemas.microsoft.com/office/drawing/2014/main" id="{B175B3AB-3BF6-4725-BD37-FCD2B27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候选成本 = 上述实际阶段总和 + 不确定性余量</a:t>
            </a:r>
            <a:endParaRPr sz="21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6" name="预测要快">
            <a:extLst xmlns:a="http://schemas.openxmlformats.org/drawingml/2006/main">
              <a:ext uri="{FF2B5EF4-FFF2-40B4-BE49-F238E27FC236}">
                <a16:creationId xmlns:a16="http://schemas.microsoft.com/office/drawing/2014/main" id="{DA29363D-CA1A-43B6-BFD3-826463C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预测要快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读取有限候选和统计摘要&#10;每次调度不请求大模型">
            <a:extLst xmlns:a="http://schemas.openxmlformats.org/drawingml/2006/main">
              <a:ext uri="{FF2B5EF4-FFF2-40B4-BE49-F238E27FC236}">
                <a16:creationId xmlns:a16="http://schemas.microsoft.com/office/drawing/2014/main" id="{26D60A32-FCF2-494F-9158-5DED4E8C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86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读取有限候选和统计摘要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每次调度不请求大模型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8" name="样本要可比">
            <a:extLst xmlns:a="http://schemas.openxmlformats.org/drawingml/2006/main">
              <a:ext uri="{FF2B5EF4-FFF2-40B4-BE49-F238E27FC236}">
                <a16:creationId xmlns:a16="http://schemas.microsoft.com/office/drawing/2014/main" id="{5E009DEC-9EE3-4B78-A2EE-47CC1D4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9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样本要可比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9" name="按设备、模型、配置分桶&#10;用真实回执修正耗时预测">
            <a:extLst xmlns:a="http://schemas.openxmlformats.org/drawingml/2006/main">
              <a:ext uri="{FF2B5EF4-FFF2-40B4-BE49-F238E27FC236}">
                <a16:creationId xmlns:a16="http://schemas.microsoft.com/office/drawing/2014/main" id="{BA111231-7D48-4FA2-B7AA-F43ECF8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86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按设备、模型、配置分桶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用真实回执修正耗时预测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0" name="冷启动要保守">
            <a:extLst xmlns:a="http://schemas.openxmlformats.org/drawingml/2006/main">
              <a:ext uri="{FF2B5EF4-FFF2-40B4-BE49-F238E27FC236}">
                <a16:creationId xmlns:a16="http://schemas.microsoft.com/office/drawing/2014/main" id="{BA047708-1EE3-4FBE-84EE-0BE40E05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冷启动要保守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1" name="样本不足时不夸大收益&#10;环境变化后重新校准">
            <a:extLst xmlns:a="http://schemas.openxmlformats.org/drawingml/2006/main">
              <a:ext uri="{FF2B5EF4-FFF2-40B4-BE49-F238E27FC236}">
                <a16:creationId xmlns:a16="http://schemas.microsoft.com/office/drawing/2014/main" id="{FE6A0B96-9DBF-453F-879A-98B036D0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样本不足时不夸大收益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环境变化后重新校准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2" name="轻量预测已有实现，云端完整链路待迁入。256 个样本桶、每桶近期 50 条；成本样本当前重启后重">
            <a:extLst xmlns:a="http://schemas.openxmlformats.org/drawingml/2006/main">
              <a:ext uri="{FF2B5EF4-FFF2-40B4-BE49-F238E27FC236}">
                <a16:creationId xmlns:a16="http://schemas.microsoft.com/office/drawing/2014/main" id="{C206AB70-670B-4DAF-9B4D-E46B8D5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轻量预测已有实现，云端完整链路待迁入。256 个样本桶、每桶近期 50 条；成本样本当前重启后重新积累。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9589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8CB8300-2677-42A0-99EE-4F3C3E4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1A57794-2533-4263-8B0F-2FCE4CE4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11  调度算例">
            <a:extLst xmlns:a="http://schemas.openxmlformats.org/drawingml/2006/main">
              <a:ext uri="{FF2B5EF4-FFF2-40B4-BE49-F238E27FC236}">
                <a16:creationId xmlns:a16="http://schemas.microsoft.com/office/drawing/2014/main" id="{A1DB9374-B3A7-42FF-95FF-FC8BA4B2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14  调度算例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同一步骤，网络和负载变化会改变执行位置">
            <a:extLst xmlns:a="http://schemas.openxmlformats.org/drawingml/2006/main">
              <a:ext uri="{FF2B5EF4-FFF2-40B4-BE49-F238E27FC236}">
                <a16:creationId xmlns:a16="http://schemas.microsoft.com/office/drawing/2014/main" id="{22A93254-29BC-47E2-B39E-2A3AA60E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同一步骤，网络和负载变化会改变执行位置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8CDE1DEA-482D-43B6-8550-841F2BD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设计算例，非实测：假设两侧已有同质量合格实现、允许外发，任务时限 2 秒。">
            <a:extLst xmlns:a="http://schemas.openxmlformats.org/drawingml/2006/main">
              <a:ext uri="{FF2B5EF4-FFF2-40B4-BE49-F238E27FC236}">
                <a16:creationId xmlns:a16="http://schemas.microsoft.com/office/drawing/2014/main" id="{D1700793-47F6-404C-B2E1-E20B2E9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设计算例，非实测：假设两侧已有同质量合格实现、允许外发，任务时限 2 秒。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11">
            <a:extLst xmlns:a="http://schemas.openxmlformats.org/drawingml/2006/main">
              <a:ext uri="{FF2B5EF4-FFF2-40B4-BE49-F238E27FC236}">
                <a16:creationId xmlns:a16="http://schemas.microsoft.com/office/drawing/2014/main" id="{91D8DA87-ECF4-4EC6-B71B-DEE4B5E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14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云路径示例：50 准备/传输 + 70 排队 + 120 推理 + 40 回传/验证 + 40 ">
            <a:extLst xmlns:a="http://schemas.openxmlformats.org/drawingml/2006/main">
              <a:ext uri="{FF2B5EF4-FFF2-40B4-BE49-F238E27FC236}">
                <a16:creationId xmlns:a16="http://schemas.microsoft.com/office/drawing/2014/main" id="{BCD4033E-D772-4797-A37A-79FF21A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云路径示例：50 准备/传输 + 70 排队 + 120 推理 + 40 回传/验证 + 40 余量 = 320 ms</a:t>
            </a:r>
            <a:endParaRPr sz="16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graphicFrame>
        <p:nvGraphicFramePr>
          <p:cNvPr id="22" name="表格 20"/>
          <p:cNvGraphicFramePr/>
          <p:nvPr/>
        </p:nvGraphicFramePr>
        <p:xfrm>
          <a:off xmlns:a="http://schemas.openxmlformats.org/drawingml/2006/main" x="457200" y="3028950"/>
          <a:ext xmlns:a="http://schemas.openxmlformats.org/drawingml/2006/main" cx="112776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105025"/>
                <a:gridCol w="2105025"/>
                <a:gridCol w="42862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条件变化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本地保守预测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云端保守预测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调度选择与原因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网络与本地均正常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260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320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本地：完整等待更短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忙碌、排队增加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1,100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320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云端：扣除传输仍有收益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网络变慢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1,100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1,500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本地：避免弱网等待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禁止数据外发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可行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直接排除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本地：授权是硬约束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1" name="两侧都不满足质量或时限时，返回不可行或等待可用资源">
            <a:extLst xmlns:a="http://schemas.openxmlformats.org/drawingml/2006/main">
              <a:ext uri="{FF2B5EF4-FFF2-40B4-BE49-F238E27FC236}">
                <a16:creationId xmlns:a16="http://schemas.microsoft.com/office/drawing/2014/main" id="{BC653B6E-6C86-4203-A78D-D38E5B19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两侧都不满足质量或时限时，返回不可行或等待可用资源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所有数字用于解释决策逻辑，不代表 P1、云模型或本项目的实测成绩。">
            <a:extLst xmlns:a="http://schemas.openxmlformats.org/drawingml/2006/main">
              <a:ext uri="{FF2B5EF4-FFF2-40B4-BE49-F238E27FC236}">
                <a16:creationId xmlns:a16="http://schemas.microsoft.com/office/drawing/2014/main" id="{0DDD08A1-D90B-4C9A-95E6-A0F8E665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所有数字用于解释决策逻辑，不代表 P1、云模型或本项目的实测成绩。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24335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12  执行可靠性">
            <a:extLst xmlns:a="http://schemas.openxmlformats.org/drawingml/2006/main">
              <a:ext uri="{FF2B5EF4-FFF2-40B4-BE49-F238E27FC236}">
                <a16:creationId xmlns:a16="http://schemas.microsoft.com/office/drawing/2014/main" id="{5E866DFE-FD9F-4155-9D3B-73BA3FF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15  执行可靠性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" name="派发后的状态变化与未知结果如何处理">
            <a:extLst xmlns:a="http://schemas.openxmlformats.org/drawingml/2006/main">
              <a:ext uri="{FF2B5EF4-FFF2-40B4-BE49-F238E27FC236}">
                <a16:creationId xmlns:a16="http://schemas.microsoft.com/office/drawing/2014/main" id="{F29B5B78-B205-4097-B526-9BB899DB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派发后的状态变化与未知结果如何处理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69456B7-F03D-473D-B304-5B43C50C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源端提供候选建议，执行端保留最终准入权；网络断开不等于任务已经停止。">
            <a:extLst xmlns:a="http://schemas.openxmlformats.org/drawingml/2006/main">
              <a:ext uri="{FF2B5EF4-FFF2-40B4-BE49-F238E27FC236}">
                <a16:creationId xmlns:a16="http://schemas.microsoft.com/office/drawing/2014/main" id="{7F475754-6D76-453B-A447-62E30C6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源端提供候选建议，执行端保留最终准入权；网络断开不等于任务已经停止。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F8C87696-928C-46B3-92C9-24D056B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15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30CC78-527E-4424-B3F2-FA75D79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7" name="源端候选筛选">
            <a:extLst xmlns:a="http://schemas.openxmlformats.org/drawingml/2006/main">
              <a:ext uri="{FF2B5EF4-FFF2-40B4-BE49-F238E27FC236}">
                <a16:creationId xmlns:a16="http://schemas.microsoft.com/office/drawing/2014/main" id="{A792289D-FA29-4B15-8659-E50D966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源端候选筛选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状态有效期、能力、预算">
            <a:extLst xmlns:a="http://schemas.openxmlformats.org/drawingml/2006/main">
              <a:ext uri="{FF2B5EF4-FFF2-40B4-BE49-F238E27FC236}">
                <a16:creationId xmlns:a16="http://schemas.microsoft.com/office/drawing/2014/main" id="{11157BFE-765A-46BC-BEB8-EB3E7BC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状态有效期、能力、预算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EB27C6-C5BE-44A1-A666-6CBF3AF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0" name="目标设备重新准入">
            <a:extLst xmlns:a="http://schemas.openxmlformats.org/drawingml/2006/main">
              <a:ext uri="{FF2B5EF4-FFF2-40B4-BE49-F238E27FC236}">
                <a16:creationId xmlns:a16="http://schemas.microsoft.com/office/drawing/2014/main" id="{3134CB12-0ECE-4D9C-BCF0-1D4FA031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目标设备重新准入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复查本地资源与实际模型">
            <a:extLst xmlns:a="http://schemas.openxmlformats.org/drawingml/2006/main">
              <a:ext uri="{FF2B5EF4-FFF2-40B4-BE49-F238E27FC236}">
                <a16:creationId xmlns:a16="http://schemas.microsoft.com/office/drawing/2014/main" id="{A49744B9-7E0B-4351-86B7-60CCF88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复查本地资源与实际模型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A852E9-1FF1-4AAE-A8BC-974E742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3" name="执行与回执">
            <a:extLst xmlns:a="http://schemas.openxmlformats.org/drawingml/2006/main">
              <a:ext uri="{FF2B5EF4-FFF2-40B4-BE49-F238E27FC236}">
                <a16:creationId xmlns:a16="http://schemas.microsoft.com/office/drawing/2014/main" id="{4A0FF522-1A8A-4937-AD03-53796F0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执行与回执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记录尝试 ID、配置和结果">
            <a:extLst xmlns:a="http://schemas.openxmlformats.org/drawingml/2006/main">
              <a:ext uri="{FF2B5EF4-FFF2-40B4-BE49-F238E27FC236}">
                <a16:creationId xmlns:a16="http://schemas.microsoft.com/office/drawing/2014/main" id="{BB11E668-8ED9-4057-BE3C-BE33D26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记录尝试 ID、配置和结果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01" name="直接箭头连接符 48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38550" y="2824163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02" name="直接箭头连接符 49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86675" y="2824163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4F810-C003-4341-B51B-AF6C459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8" name="成功">
            <a:extLst xmlns:a="http://schemas.openxmlformats.org/drawingml/2006/main">
              <a:ext uri="{FF2B5EF4-FFF2-40B4-BE49-F238E27FC236}">
                <a16:creationId xmlns:a16="http://schemas.microsoft.com/office/drawing/2014/main" id="{BCAE8532-9305-49E9-B59D-65660E9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成功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核验结果与实际配置&#10;完成任务并记录样本">
            <a:extLst xmlns:a="http://schemas.openxmlformats.org/drawingml/2006/main">
              <a:ext uri="{FF2B5EF4-FFF2-40B4-BE49-F238E27FC236}">
                <a16:creationId xmlns:a16="http://schemas.microsoft.com/office/drawing/2014/main" id="{137C4465-54E7-4832-9042-B734D66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核验结果与实际配置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完成任务并记录样本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F60D013-3A96-4E6B-8C6E-3F0F375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1" name="明确拒绝，确认未执行">
            <a:extLst xmlns:a="http://schemas.openxmlformats.org/drawingml/2006/main">
              <a:ext uri="{FF2B5EF4-FFF2-40B4-BE49-F238E27FC236}">
                <a16:creationId xmlns:a16="http://schemas.microsoft.com/office/drawing/2014/main" id="{0CC278F4-98F2-4DC2-AAEE-BBD8C63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明确拒绝，确认未执行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重新检查候选与预算&#10;可行时再选择执行位置">
            <a:extLst xmlns:a="http://schemas.openxmlformats.org/drawingml/2006/main">
              <a:ext uri="{FF2B5EF4-FFF2-40B4-BE49-F238E27FC236}">
                <a16:creationId xmlns:a16="http://schemas.microsoft.com/office/drawing/2014/main" id="{390216A9-431B-4972-BCBB-04850D20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重新检查候选与预算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可行时再选择执行位置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0EB7AD2-7A25-4058-92D3-88837D4C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24" name="回执未知">
            <a:extLst xmlns:a="http://schemas.openxmlformats.org/drawingml/2006/main">
              <a:ext uri="{FF2B5EF4-FFF2-40B4-BE49-F238E27FC236}">
                <a16:creationId xmlns:a16="http://schemas.microsoft.com/office/drawing/2014/main" id="{931C64EB-39F5-4194-A789-BE3F8CD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回执未知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查询原尝试，先对账&#10;避免改派造成重复执行">
            <a:extLst xmlns:a="http://schemas.openxmlformats.org/drawingml/2006/main">
              <a:ext uri="{FF2B5EF4-FFF2-40B4-BE49-F238E27FC236}">
                <a16:creationId xmlns:a16="http://schemas.microsoft.com/office/drawing/2014/main" id="{B57DFDF8-3BC8-4F2B-B03C-C708B6F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查询原尝试，先对账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避免改派造成重复执行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2" name="直接箭头连接符 59"/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144125" y="3343275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F110228C-494A-419C-B1ED-FC93D32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704A4382-AF0A-4DB4-9F2B-B5AB8CD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43275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DA150A52-555A-4596-9323-9A9DC27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30" name="↓">
            <a:extLst xmlns:a="http://schemas.openxmlformats.org/drawingml/2006/main">
              <a:ext uri="{FF2B5EF4-FFF2-40B4-BE49-F238E27FC236}">
                <a16:creationId xmlns:a16="http://schemas.microsoft.com/office/drawing/2014/main" id="{C4CA54FF-4AD3-4140-8262-4212E030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↓</a:t>
            </a:r>
            <a:endParaRPr sz="1875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58F1C66C-F8DD-4275-9241-7DED0A40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32" name="↓">
            <a:extLst xmlns:a="http://schemas.openxmlformats.org/drawingml/2006/main">
              <a:ext uri="{FF2B5EF4-FFF2-40B4-BE49-F238E27FC236}">
                <a16:creationId xmlns:a16="http://schemas.microsoft.com/office/drawing/2014/main" id="{F0E9572F-6CCD-447D-B892-404EAD45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↓</a:t>
            </a:r>
            <a:endParaRPr sz="1875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3" name="取消请求也要等到执行停止确认，才能释放运行槽">
            <a:extLst xmlns:a="http://schemas.openxmlformats.org/drawingml/2006/main">
              <a:ext uri="{FF2B5EF4-FFF2-40B4-BE49-F238E27FC236}">
                <a16:creationId xmlns:a16="http://schemas.microsoft.com/office/drawing/2014/main" id="{65C9CA38-2020-480E-BE21-93CFD4E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取消请求也要等到执行停止确认，才能释放运行槽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4" name="现有 HTTP 节点协议已覆盖准入、去重、取消和对账。云 API 按其实际幂等、限流及取消能力适">
            <a:extLst xmlns:a="http://schemas.openxmlformats.org/drawingml/2006/main">
              <a:ext uri="{FF2B5EF4-FFF2-40B4-BE49-F238E27FC236}">
                <a16:creationId xmlns:a16="http://schemas.microsoft.com/office/drawing/2014/main" id="{9FDADF68-4AF0-4942-85B2-7971912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现有 HTTP 节点协议已覆盖准入、去重、取消和对账。云 API 按其实际幂等、限流及取消能力适配。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67709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7879797-E061-4E0A-9894-8CDAE082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18E8ABB-8E68-4D27-96F0-9AD38A4F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13  辅助创新：验证式技能复用">
            <a:extLst xmlns:a="http://schemas.openxmlformats.org/drawingml/2006/main">
              <a:ext uri="{FF2B5EF4-FFF2-40B4-BE49-F238E27FC236}">
                <a16:creationId xmlns:a16="http://schemas.microsoft.com/office/drawing/2014/main" id="{DB04D85D-5B8C-482F-AAB6-3AAFA64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 辅助创新：验证式技能复用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减少重复云规划，资源选择仍由调度器决定">
            <a:extLst xmlns:a="http://schemas.openxmlformats.org/drawingml/2006/main">
              <a:ext uri="{FF2B5EF4-FFF2-40B4-BE49-F238E27FC236}">
                <a16:creationId xmlns:a16="http://schemas.microsoft.com/office/drawing/2014/main" id="{CCD4B5FB-E3CF-4452-A45A-6A8953E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减少重复云规划，资源选择仍由调度器决定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8267CD63-DB6F-47E3-9DB1-37DDB87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将验证过的任务流程保存为参数化技能；再次使用时输入、结果和资源决策都重新计算。">
            <a:extLst xmlns:a="http://schemas.openxmlformats.org/drawingml/2006/main">
              <a:ext uri="{FF2B5EF4-FFF2-40B4-BE49-F238E27FC236}">
                <a16:creationId xmlns:a16="http://schemas.microsoft.com/office/drawing/2014/main" id="{7C4327BB-1240-4319-B148-32941CF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将验证过的任务流程保存为参数化技能；再次使用时输入、结果和资源决策都重新计算。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13">
            <a:extLst xmlns:a="http://schemas.openxmlformats.org/drawingml/2006/main">
              <a:ext uri="{FF2B5EF4-FFF2-40B4-BE49-F238E27FC236}">
                <a16:creationId xmlns:a16="http://schemas.microsoft.com/office/drawing/2014/main" id="{60EED69D-9CEA-47EE-9E35-AAA8AEE9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首次任务">
            <a:extLst xmlns:a="http://schemas.openxmlformats.org/drawingml/2006/main">
              <a:ext uri="{FF2B5EF4-FFF2-40B4-BE49-F238E27FC236}">
                <a16:creationId xmlns:a16="http://schemas.microsoft.com/office/drawing/2014/main" id="{825CDE46-4DE9-4381-B080-08A38A9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首次任务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A937167-9DAD-4608-8C9E-EC7D2CD7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38375"/>
            <a:ext cx="2695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11" name="云规划与执行">
            <a:extLst xmlns:a="http://schemas.openxmlformats.org/drawingml/2006/main">
              <a:ext uri="{FF2B5EF4-FFF2-40B4-BE49-F238E27FC236}">
                <a16:creationId xmlns:a16="http://schemas.microsoft.com/office/drawing/2014/main" id="{D8B6B73D-0923-4B98-A1A6-EA8C36F8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6220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云规划与执行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保存真实任务轨迹">
            <a:extLst xmlns:a="http://schemas.openxmlformats.org/drawingml/2006/main">
              <a:ext uri="{FF2B5EF4-FFF2-40B4-BE49-F238E27FC236}">
                <a16:creationId xmlns:a16="http://schemas.microsoft.com/office/drawing/2014/main" id="{5413B361-915D-4CDC-B12E-A9FC2AA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95575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保存真实任务轨迹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E978404-93EF-4105-B04D-9469D87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38375"/>
            <a:ext cx="2695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4" name="独立样例验证">
            <a:extLst xmlns:a="http://schemas.openxmlformats.org/drawingml/2006/main">
              <a:ext uri="{FF2B5EF4-FFF2-40B4-BE49-F238E27FC236}">
                <a16:creationId xmlns:a16="http://schemas.microsoft.com/office/drawing/2014/main" id="{AB2E1D96-075D-4730-8B9C-1EDDE15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6220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独立样例验证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新输入、越界反例、权限">
            <a:extLst xmlns:a="http://schemas.openxmlformats.org/drawingml/2006/main">
              <a:ext uri="{FF2B5EF4-FFF2-40B4-BE49-F238E27FC236}">
                <a16:creationId xmlns:a16="http://schemas.microsoft.com/office/drawing/2014/main" id="{96BA47CE-887C-4DCC-AEF6-E045159C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95575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新输入、越界反例、权限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A3198A5-63F1-4CB0-9ECD-08BF25F7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27336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7" name="技能入库">
            <a:extLst xmlns:a="http://schemas.openxmlformats.org/drawingml/2006/main">
              <a:ext uri="{FF2B5EF4-FFF2-40B4-BE49-F238E27FC236}">
                <a16:creationId xmlns:a16="http://schemas.microsoft.com/office/drawing/2014/main" id="{27AAD19E-A5CD-4F4C-B36F-3116439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622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技能入库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适用条件与依赖版本">
            <a:extLst xmlns:a="http://schemas.openxmlformats.org/drawingml/2006/main">
              <a:ext uri="{FF2B5EF4-FFF2-40B4-BE49-F238E27FC236}">
                <a16:creationId xmlns:a16="http://schemas.microsoft.com/office/drawing/2014/main" id="{F4CE3FB1-F961-482E-9A0F-6A6E064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955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适用条件与依赖版本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4" name="直接箭头连接符 51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38700" y="27098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15" name="直接箭头连接符 52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267700" y="27098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1" name="后续同类任务">
            <a:extLst xmlns:a="http://schemas.openxmlformats.org/drawingml/2006/main">
              <a:ext uri="{FF2B5EF4-FFF2-40B4-BE49-F238E27FC236}">
                <a16:creationId xmlns:a16="http://schemas.microsoft.com/office/drawing/2014/main" id="{7613ED72-E2DA-42CA-B9EE-C5223BC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后续同类任务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C039844-1759-4A4A-A8EB-EF02E256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86225"/>
            <a:ext cx="2695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3" name="新输入匹配技能">
            <a:extLst xmlns:a="http://schemas.openxmlformats.org/drawingml/2006/main">
              <a:ext uri="{FF2B5EF4-FFF2-40B4-BE49-F238E27FC236}">
                <a16:creationId xmlns:a16="http://schemas.microsoft.com/office/drawing/2014/main" id="{D358EF02-3CC3-415B-9CD2-F01709EE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1005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新输入匹配技能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实例化新的任务图">
            <a:extLst xmlns:a="http://schemas.openxmlformats.org/drawingml/2006/main">
              <a:ext uri="{FF2B5EF4-FFF2-40B4-BE49-F238E27FC236}">
                <a16:creationId xmlns:a16="http://schemas.microsoft.com/office/drawing/2014/main" id="{61E8BC22-F335-4DA7-920A-46C9838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543425"/>
            <a:ext cx="2390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实例化新的任务图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939527-7BC7-4520-B1B8-E9F63E6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86225"/>
            <a:ext cx="2695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6" name="同一调度中间件">
            <a:extLst xmlns:a="http://schemas.openxmlformats.org/drawingml/2006/main">
              <a:ext uri="{FF2B5EF4-FFF2-40B4-BE49-F238E27FC236}">
                <a16:creationId xmlns:a16="http://schemas.microsoft.com/office/drawing/2014/main" id="{AA0CD098-A41F-4F37-9513-1682BD0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同一调度中间件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按当前网络和资源选择">
            <a:extLst xmlns:a="http://schemas.openxmlformats.org/drawingml/2006/main">
              <a:ext uri="{FF2B5EF4-FFF2-40B4-BE49-F238E27FC236}">
                <a16:creationId xmlns:a16="http://schemas.microsoft.com/office/drawing/2014/main" id="{83D8D15B-B76D-4098-A020-EFF47933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543425"/>
            <a:ext cx="2390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按当前网络和资源选择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3D0C6DF-CF4E-49E8-A97E-D8E0510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86225"/>
            <a:ext cx="2733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9" name="重新执行与核验">
            <a:extLst xmlns:a="http://schemas.openxmlformats.org/drawingml/2006/main">
              <a:ext uri="{FF2B5EF4-FFF2-40B4-BE49-F238E27FC236}">
                <a16:creationId xmlns:a16="http://schemas.microsoft.com/office/drawing/2014/main" id="{C8E3CB69-D509-4DFC-9743-5EF8E33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100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重新执行与核验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0" name="必要时仍可请求云复核">
            <a:extLst xmlns:a="http://schemas.openxmlformats.org/drawingml/2006/main">
              <a:ext uri="{FF2B5EF4-FFF2-40B4-BE49-F238E27FC236}">
                <a16:creationId xmlns:a16="http://schemas.microsoft.com/office/drawing/2014/main" id="{3C34BCCB-C583-4BD9-91DF-1B63B9B7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43425"/>
            <a:ext cx="2428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必要时仍可请求云复核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26" name="直接箭头连接符 63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838700" y="45910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7" name="直接箭头连接符 64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67700" y="45910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3" name="范围或模型 / 工具 / 索引版本不兼容时停用技能，重新规划">
            <a:extLst xmlns:a="http://schemas.openxmlformats.org/drawingml/2006/main">
              <a:ext uri="{FF2B5EF4-FFF2-40B4-BE49-F238E27FC236}">
                <a16:creationId xmlns:a16="http://schemas.microsoft.com/office/drawing/2014/main" id="{981A2F3F-20F1-445F-BAD0-6AAB2D5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范围或模型 / 工具 / 索引版本不兼容时停用技能，重新规划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4" name="辅助创新处于设计阶段。一次成功只产生候选，独立验证通过后才能启用。">
            <a:extLst xmlns:a="http://schemas.openxmlformats.org/drawingml/2006/main">
              <a:ext uri="{FF2B5EF4-FFF2-40B4-BE49-F238E27FC236}">
                <a16:creationId xmlns:a16="http://schemas.microsoft.com/office/drawing/2014/main" id="{C0642151-0EE6-4A40-A6C7-95D35CC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辅助创新处于设计阶段。一次成功只产生候选，独立验证通过后才能启用。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830307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4  验证方案与复用价值">
            <a:extLst xmlns:a="http://schemas.openxmlformats.org/drawingml/2006/main">
              <a:ext uri="{FF2B5EF4-FFF2-40B4-BE49-F238E27FC236}">
                <a16:creationId xmlns:a16="http://schemas.microsoft.com/office/drawing/2014/main" id="{514750DA-78A8-486A-B99A-837927C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17  验证方案与复用价值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" name="用同质量对照，证明调度带来的实际收益">
            <a:extLst xmlns:a="http://schemas.openxmlformats.org/drawingml/2006/main">
              <a:ext uri="{FF2B5EF4-FFF2-40B4-BE49-F238E27FC236}">
                <a16:creationId xmlns:a16="http://schemas.microsoft.com/office/drawing/2014/main" id="{2EDE42B0-E088-452B-808E-0D2DA97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用同质量对照，证明调度带来的实际收益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B88D6D-3183-493F-851C-43F65CA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比较固定本地、固定端云分工和自适应调度；只比较各策略具备能力完成的同类任务。">
            <a:extLst xmlns:a="http://schemas.openxmlformats.org/drawingml/2006/main">
              <a:ext uri="{FF2B5EF4-FFF2-40B4-BE49-F238E27FC236}">
                <a16:creationId xmlns:a16="http://schemas.microsoft.com/office/drawing/2014/main" id="{46EBF9B5-425D-4094-99BD-4CBF40D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比较固定本地、固定端云分工和自适应调度；只比较各策略具备能力完成的同类任务。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D741DF0B-90F3-43B4-8C4E-F8D872F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17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graphicFrame>
        <p:nvGraphicFramePr>
          <p:cNvPr id="18" name="表格 15"/>
          <p:cNvGraphicFramePr/>
          <p:nvPr/>
        </p:nvGraphicFramePr>
        <p:xfrm>
          <a:off xmlns:a="http://schemas.openxmlformats.org/drawingml/2006/main" x="457200" y="2333625"/>
          <a:ext xmlns:a="http://schemas.openxmlformats.org/drawingml/2006/main" cx="112776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514850"/>
              </a:tblGrid>
              <a:tr h="5734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要证明什么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如何比较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看什么证据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调度能减少等待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正常网络 / 弱网 / 本地压力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端到端 P50、P95 与截止违约率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选择没有牺牲结果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固定模型、数据与质量门槛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完成率、质量分数、拒绝原因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调度本身足够轻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单独计时本地决策与网络等待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决策耗时、CPU 开销、预测误差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技能确实节省规划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每次规划 / 人工模板 / 验证技能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规划次数、费用、误匹配及前期成本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复用交付">
            <a:extLst xmlns:a="http://schemas.openxmlformats.org/drawingml/2006/main">
              <a:ext uri="{FF2B5EF4-FFF2-40B4-BE49-F238E27FC236}">
                <a16:creationId xmlns:a16="http://schemas.microsoft.com/office/drawing/2014/main" id="{34726430-73A4-480A-A3FC-532FC225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复用交付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工具契约 + 模型 Worker 协议 + P1 部署包 + 可复现实验">
            <a:extLst xmlns:a="http://schemas.openxmlformats.org/drawingml/2006/main">
              <a:ext uri="{FF2B5EF4-FFF2-40B4-BE49-F238E27FC236}">
                <a16:creationId xmlns:a16="http://schemas.microsoft.com/office/drawing/2014/main" id="{2FDB5DCE-850B-4019-888F-8DDC99F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34025"/>
            <a:ext cx="937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工具契约 + 模型 Worker 协议 + P1 部署包 + 可复现实验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后续接入文档处理、知识检索等场景时，业务插件替换，调度与回执机制复用。">
            <a:extLst xmlns:a="http://schemas.openxmlformats.org/drawingml/2006/main">
              <a:ext uri="{FF2B5EF4-FFF2-40B4-BE49-F238E27FC236}">
                <a16:creationId xmlns:a16="http://schemas.microsoft.com/office/drawing/2014/main" id="{430E0DD9-2FA2-4AFB-879D-1205667F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后续接入文档处理、知识检索等场景时，业务插件替换，调度与回执机制复用。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性能结果待实测。功耗有可靠测量条件再报告；云独有任务不宣称能由固定本地策略完成。">
            <a:extLst xmlns:a="http://schemas.openxmlformats.org/drawingml/2006/main">
              <a:ext uri="{FF2B5EF4-FFF2-40B4-BE49-F238E27FC236}">
                <a16:creationId xmlns:a16="http://schemas.microsoft.com/office/drawing/2014/main" id="{9469B4BC-4959-43E7-82B7-2FE5586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性能结果待实测。功耗有可靠测量条件再报告；云独有任务不宣称能由固定本地策略完成。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005719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2026-09-25T17:37:51.6240000Z</dcterms:created>
  <dcterms:modified xsi:type="dcterms:W3CDTF">2026-09-25T17:37:51.6240000Z</dcterms:modified>
</coreProperties>
</file>