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91" r:id="rId2"/>
    <p:sldId id="29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/>
              <a:t>本页明确区分已完成的通用 </a:t>
            </a:r>
            <a:r>
              <a:rPr lang="en-US" altLang="zh-CN"/>
              <a:t>Runtime </a:t>
            </a:r>
            <a:r>
              <a:rPr lang="zh-CN" altLang="en-US"/>
              <a:t>能力和仍待实板验收的模型能力。</a:t>
            </a:r>
            <a:r>
              <a:rPr lang="en-US" altLang="zh-CN"/>
              <a:t>Cixin-agent </a:t>
            </a:r>
            <a:r>
              <a:rPr lang="zh-CN" altLang="en-US"/>
              <a:t>的 </a:t>
            </a:r>
            <a:r>
              <a:rPr lang="en-US" altLang="zh-CN"/>
              <a:t>P1 </a:t>
            </a:r>
            <a:r>
              <a:rPr lang="zh-CN" altLang="en-US"/>
              <a:t>示例配置 </a:t>
            </a:r>
            <a:r>
              <a:rPr lang="en-US" altLang="zh-CN"/>
              <a:t>workers </a:t>
            </a:r>
            <a:r>
              <a:rPr lang="zh-CN" altLang="en-US"/>
              <a:t>为空，当前默认工具是宿主机可运行的 </a:t>
            </a:r>
            <a:r>
              <a:rPr lang="en-US" altLang="zh-CN"/>
              <a:t>CPU </a:t>
            </a:r>
            <a:r>
              <a:rPr lang="zh-CN" altLang="en-US"/>
              <a:t>精确向量检索；</a:t>
            </a:r>
            <a:r>
              <a:rPr lang="en-US" altLang="zh-CN"/>
              <a:t>NOE/GPU </a:t>
            </a:r>
            <a:r>
              <a:rPr lang="zh-CN" altLang="en-US"/>
              <a:t>接入只提供了安全的 </a:t>
            </a:r>
            <a:r>
              <a:rPr lang="en-US" altLang="zh-CN"/>
              <a:t>Worker </a:t>
            </a:r>
            <a:r>
              <a:rPr lang="zh-CN" altLang="en-US"/>
              <a:t>契约和探测边界，没有伪造厂商 </a:t>
            </a:r>
            <a:r>
              <a:rPr lang="en-US" altLang="zh-CN"/>
              <a:t>SDK </a:t>
            </a:r>
            <a:r>
              <a:rPr lang="zh-CN" altLang="en-US"/>
              <a:t>或 </a:t>
            </a:r>
            <a:r>
              <a:rPr lang="en-US" altLang="zh-CN"/>
              <a:t>P1 </a:t>
            </a:r>
            <a:r>
              <a:rPr lang="zh-CN" altLang="en-US"/>
              <a:t>性能。</a:t>
            </a:r>
            <a:r>
              <a:rPr lang="en-US" altLang="zh-CN"/>
              <a:t>SoleAI </a:t>
            </a:r>
            <a:r>
              <a:rPr lang="zh-CN" altLang="en-US"/>
              <a:t>只是演示入口，</a:t>
            </a:r>
            <a:r>
              <a:rPr lang="en-US" altLang="zh-CN"/>
              <a:t>P1 </a:t>
            </a:r>
            <a:r>
              <a:rPr lang="zh-CN" altLang="en-US"/>
              <a:t>接收的是通用任务与执行器契约。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/>
              <a:t>由于当前没有真实 </a:t>
            </a:r>
            <a:r>
              <a:rPr lang="en-US" altLang="zh-CN"/>
              <a:t>P1/NOE </a:t>
            </a:r>
            <a:r>
              <a:rPr lang="zh-CN" altLang="en-US"/>
              <a:t>模型接入，本页把模型部署放在增强路线，并给出可执行的优先级。首个模型建议是图像</a:t>
            </a:r>
            <a:r>
              <a:rPr lang="en-US" altLang="zh-CN"/>
              <a:t>/</a:t>
            </a:r>
            <a:r>
              <a:rPr lang="zh-CN" altLang="en-US"/>
              <a:t>多模态 </a:t>
            </a:r>
            <a:r>
              <a:rPr lang="en-US" altLang="zh-CN"/>
              <a:t>Embedding</a:t>
            </a:r>
            <a:r>
              <a:rPr lang="zh-CN" altLang="en-US"/>
              <a:t>：接口固定、质量可用 </a:t>
            </a:r>
            <a:r>
              <a:rPr lang="en-US" altLang="zh-CN"/>
              <a:t>Recall@K </a:t>
            </a:r>
            <a:r>
              <a:rPr lang="zh-CN" altLang="en-US"/>
              <a:t>等指标验证、权重较适合边缘驻留，也能直接服务 </a:t>
            </a:r>
            <a:r>
              <a:rPr lang="en-US" altLang="zh-CN"/>
              <a:t>SoleAI </a:t>
            </a:r>
            <a:r>
              <a:rPr lang="zh-CN" altLang="en-US"/>
              <a:t>的商品检索。复杂语言规划继续保留云端或 </a:t>
            </a:r>
            <a:r>
              <a:rPr lang="en-US" altLang="zh-CN"/>
              <a:t>CPU </a:t>
            </a:r>
            <a:r>
              <a:rPr lang="zh-CN" altLang="en-US"/>
              <a:t>路线，等 </a:t>
            </a:r>
            <a:r>
              <a:rPr lang="en-US" altLang="zh-CN"/>
              <a:t>P1 </a:t>
            </a:r>
            <a:r>
              <a:rPr lang="zh-CN" altLang="en-US"/>
              <a:t>资源、模型格式和实际收益明确后再评估本地 </a:t>
            </a:r>
            <a:r>
              <a:rPr lang="en-US" altLang="zh-CN"/>
              <a:t>LLM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BBA2-99A2-4C50-911E-AA87CC5D5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A824D-37AC-46B9-AD82-8A63EED11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54D09-CAFE-4D6E-A0EC-554C5FCB38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0A5E-2B82-45F9-84F6-C8ECFAF4EC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FA2D-6036-4974-A5AE-B3D5BC52D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0F8E-69FE-405A-B8B2-8E6AC861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8D9D-AC5F-45BB-9610-82C84763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D9A69-AEF6-4164-8B2D-70C8749E1B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02843-425F-4F53-BA77-C88B402857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9CC0-0F3C-40B4-BDDA-548C33D75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1302-5653-453F-B7BF-45FD1238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3F2C2-A6C3-4E1E-802D-84B9B25EC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7FFC7-4C01-40BE-B67D-A155542452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D1086-00E1-47F5-B726-5DB6B660F0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712D-A796-4FCD-B190-1D439491EC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5863-CBAE-47B6-B7D7-951C3943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7A57-1137-4991-83AA-A9EDE0B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1C809-3D17-40DE-8C07-A8A046A7D8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F6128-8400-445F-9DA7-C968FC7E2A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DEADD-F4C1-4CF7-8C2F-5883F8C90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6C915-F59F-4A96-BC79-D694BD99D0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597F-B8F1-4686-A430-07630609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7E966-E84B-443E-9D84-7B020FF03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AF3B4-C554-4A61-B822-8821A94D3A6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3C07B-9725-488C-B581-B27C358635D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2E9D8-8F4C-413A-99CA-6ACACF909B8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D208E-CFD1-48E6-B9F0-C60788C568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213B9-2016-4317-8113-C84F55F3C2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A1A7-B4EC-4790-B374-70C56CCBB7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6A6A-AFB8-4F84-91C1-1F73D211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ED955-A6BA-4DB8-BB87-45E31506CD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A94B7-1A07-41BC-8050-A3A71AD1B2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F894F-AB56-4FD7-99E8-10E9DB4E1C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BEF91-419B-4349-9A68-3135B722EF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5DEBB-5372-4177-AF96-B6E5E83C28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C354-E70A-4830-8EB0-A105F809C2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7E24-869E-4405-9782-692E9833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EE296-D6EC-46EA-AA3D-267229B4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89F59-2732-42A7-8CCC-8A02328257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CFBB7-FC1E-46A4-A5EA-42EC3A7B3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7D4FD-4378-4F82-A12B-BB6E11E914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073D2-3067-4197-84F7-7FC6A9D58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44C0-1EF0-4B12-965A-B2CA7BFF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EEF1A-CA1B-433A-8117-86713A194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C260C-F208-4B50-9F25-7738AA7D73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A985C-1C92-4BF7-BD0C-A9C7C9C7A5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878D0-8F68-48D9-B68C-AD0079AF2C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C9529-1459-4384-B3C1-287E6289E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B0FF-2215-4F6C-AB7B-808CB255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66017-445D-46D8-9365-D4EF5889A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F02B-867E-43E3-856F-0116BEFFEB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9071E-7DCD-44D4-A908-0EBA820C64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35D8C-5D50-445F-9FBC-CD3EBB119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9ADC1-1955-4BA9-A680-287985C5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DFA62-2A25-4D69-A9D4-0E7BDA3D5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8F03A-142B-4088-8FD4-F445105F4C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8139-148B-48B3-A359-FC8301B5DB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4594-3EA8-4F7E-B324-EA777C277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21A74-3552-423F-9614-9244A43D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4D9C9-A659-444D-BE1C-B68C1DFA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EB83-3213-4632-8320-72A41CD34CC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6E4F6-9205-4B18-A0EF-DAED5D09FE0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41CD9-C148-426D-94A4-BCD19ABB378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412227-4676-074A-CD6E-81DE015F5829}"/>
              </a:ext>
            </a:extLst>
          </p:cNvPr>
          <p:cNvSpPr txBox="1"/>
          <p:nvPr/>
        </p:nvSpPr>
        <p:spPr>
          <a:xfrm>
            <a:off x="457200" y="3429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19  P1 </a:t>
            </a:r>
            <a:r>
              <a:rPr lang="zh-CN" altLang="en-US" sz="930">
                <a:solidFill>
                  <a:srgbClr val="5890BE"/>
                </a:solidFill>
                <a:latin typeface="Alibaba PuHuiTi 3.0 55 Regular"/>
              </a:rPr>
              <a:t>专项适配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F354EB-62F2-C300-8FA7-84F69FEA5E88}"/>
              </a:ext>
            </a:extLst>
          </p:cNvPr>
          <p:cNvSpPr txBox="1"/>
          <p:nvPr/>
        </p:nvSpPr>
        <p:spPr>
          <a:xfrm>
            <a:off x="457200" y="6985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900" b="1">
                <a:solidFill>
                  <a:srgbClr val="102746"/>
                </a:solidFill>
                <a:latin typeface="Alibaba PuHuiTi 3.0 55 Regular"/>
              </a:rPr>
              <a:t>P1 </a:t>
            </a:r>
            <a:r>
              <a:rPr lang="zh-CN" altLang="en-US" sz="2900" b="1">
                <a:solidFill>
                  <a:srgbClr val="102746"/>
                </a:solidFill>
                <a:latin typeface="Alibaba PuHuiTi 3.0 55 Regular"/>
              </a:rPr>
              <a:t>接入的真实状态与验证边界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69D658-4A96-A7FA-54F0-55AA0EF5AC6A}"/>
              </a:ext>
            </a:extLst>
          </p:cNvPr>
          <p:cNvCxnSpPr/>
          <p:nvPr/>
        </p:nvCxnSpPr>
        <p:spPr>
          <a:xfrm>
            <a:off x="457200" y="1409700"/>
            <a:ext cx="11277600" cy="0"/>
          </a:xfrm>
          <a:prstGeom prst="line">
            <a:avLst/>
          </a:prstGeom>
          <a:ln w="1016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131502C-C1CA-D83F-494B-6EE2C053A412}"/>
              </a:ext>
            </a:extLst>
          </p:cNvPr>
          <p:cNvSpPr txBox="1"/>
          <p:nvPr/>
        </p:nvSpPr>
        <p:spPr>
          <a:xfrm>
            <a:off x="457200" y="6388100"/>
            <a:ext cx="1073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3879E"/>
                </a:solidFill>
                <a:latin typeface="Alibaba PuHuiTi 3.0 55 Regular"/>
              </a:rPr>
              <a:t>当前 </a:t>
            </a:r>
            <a:r>
              <a:rPr lang="en-US" altLang="zh-CN" sz="800">
                <a:solidFill>
                  <a:srgbClr val="73879E"/>
                </a:solidFill>
                <a:latin typeface="Alibaba PuHuiTi 3.0 55 Regular"/>
              </a:rPr>
              <a:t>P1/NOE </a:t>
            </a:r>
            <a:r>
              <a:rPr lang="zh-CN" altLang="en-US" sz="800">
                <a:solidFill>
                  <a:srgbClr val="73879E"/>
                </a:solidFill>
                <a:latin typeface="Alibaba PuHuiTi 3.0 55 Regular"/>
              </a:rPr>
              <a:t>仍待实板验收；先证明可探测、可执行、可停止，再进入自动调度。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134615-B496-28BB-59B4-6FA793C61FBD}"/>
              </a:ext>
            </a:extLst>
          </p:cNvPr>
          <p:cNvSpPr txBox="1"/>
          <p:nvPr/>
        </p:nvSpPr>
        <p:spPr>
          <a:xfrm>
            <a:off x="11531600" y="6553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50">
                <a:solidFill>
                  <a:srgbClr val="73879E"/>
                </a:solidFill>
                <a:latin typeface="Alibaba PuHuiTi 3.0 55 Regular"/>
              </a:rPr>
              <a:t>19</a:t>
            </a:r>
            <a:endParaRPr lang="zh-CN" altLang="en-US" sz="750">
              <a:solidFill>
                <a:srgbClr val="73879E"/>
              </a:solidFill>
              <a:latin typeface="Alibaba PuHuiTi 3.0 55 Regula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9E3838-DC02-8EAE-D902-7F126A1E66E3}"/>
              </a:ext>
            </a:extLst>
          </p:cNvPr>
          <p:cNvSpPr txBox="1"/>
          <p:nvPr/>
        </p:nvSpPr>
        <p:spPr>
          <a:xfrm>
            <a:off x="457200" y="16510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39516B"/>
                </a:solidFill>
                <a:latin typeface="Alibaba PuHuiTi 3.0 55 Regular"/>
              </a:rPr>
              <a:t>SoleAI </a:t>
            </a:r>
            <a:r>
              <a:rPr lang="zh-CN" altLang="en-US" sz="1500">
                <a:solidFill>
                  <a:srgbClr val="39516B"/>
                </a:solidFill>
                <a:latin typeface="Alibaba PuHuiTi 3.0 55 Regular"/>
              </a:rPr>
              <a:t>是演示入口；</a:t>
            </a:r>
            <a:r>
              <a:rPr lang="en-US" altLang="zh-CN" sz="1500">
                <a:solidFill>
                  <a:srgbClr val="39516B"/>
                </a:solidFill>
                <a:latin typeface="Alibaba PuHuiTi 3.0 55 Regular"/>
              </a:rPr>
              <a:t>P1 </a:t>
            </a:r>
            <a:r>
              <a:rPr lang="zh-CN" altLang="en-US" sz="1500">
                <a:solidFill>
                  <a:srgbClr val="39516B"/>
                </a:solidFill>
                <a:latin typeface="Alibaba PuHuiTi 3.0 55 Regular"/>
              </a:rPr>
              <a:t>对接的是通用 </a:t>
            </a:r>
            <a:r>
              <a:rPr lang="en-US" altLang="zh-CN" sz="1500">
                <a:solidFill>
                  <a:srgbClr val="39516B"/>
                </a:solidFill>
                <a:latin typeface="Alibaba PuHuiTi 3.0 55 Regular"/>
              </a:rPr>
              <a:t>Cixin Runtime </a:t>
            </a:r>
            <a:r>
              <a:rPr lang="zh-CN" altLang="en-US" sz="1500">
                <a:solidFill>
                  <a:srgbClr val="39516B"/>
                </a:solidFill>
                <a:latin typeface="Alibaba PuHuiTi 3.0 55 Regular"/>
              </a:rPr>
              <a:t>与执行器，不把 </a:t>
            </a:r>
            <a:r>
              <a:rPr lang="en-US" altLang="zh-CN" sz="1500">
                <a:solidFill>
                  <a:srgbClr val="39516B"/>
                </a:solidFill>
                <a:latin typeface="Alibaba PuHuiTi 3.0 55 Regular"/>
              </a:rPr>
              <a:t>App </a:t>
            </a:r>
            <a:r>
              <a:rPr lang="zh-CN" altLang="en-US" sz="1500">
                <a:solidFill>
                  <a:srgbClr val="39516B"/>
                </a:solidFill>
                <a:latin typeface="Alibaba PuHuiTi 3.0 55 Regular"/>
              </a:rPr>
              <a:t>业务搬进板端。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2EE8F2-62B2-F010-DDFE-00E2EE8DDB40}"/>
              </a:ext>
            </a:extLst>
          </p:cNvPr>
          <p:cNvSpPr/>
          <p:nvPr/>
        </p:nvSpPr>
        <p:spPr>
          <a:xfrm>
            <a:off x="8775700" y="1651000"/>
            <a:ext cx="2959100" cy="317500"/>
          </a:xfrm>
          <a:prstGeom prst="roundRect">
            <a:avLst/>
          </a:prstGeom>
          <a:solidFill>
            <a:srgbClr val="FFF0E4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04A17D-1466-383F-6AE5-76CAB644769D}"/>
              </a:ext>
            </a:extLst>
          </p:cNvPr>
          <p:cNvSpPr txBox="1"/>
          <p:nvPr/>
        </p:nvSpPr>
        <p:spPr>
          <a:xfrm>
            <a:off x="8877300" y="1701800"/>
            <a:ext cx="275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20" b="1">
                <a:solidFill>
                  <a:srgbClr val="C96B25"/>
                </a:solidFill>
                <a:latin typeface="Alibaba PuHuiTi 3.0 55 Regular"/>
              </a:rPr>
              <a:t>当前基线｜未接入真实 </a:t>
            </a:r>
            <a:r>
              <a:rPr lang="en-US" altLang="zh-CN" sz="1020" b="1">
                <a:solidFill>
                  <a:srgbClr val="C96B25"/>
                </a:solidFill>
                <a:latin typeface="Alibaba PuHuiTi 3.0 55 Regular"/>
              </a:rPr>
              <a:t>NOE </a:t>
            </a:r>
            <a:r>
              <a:rPr lang="zh-CN" altLang="en-US" sz="1020" b="1">
                <a:solidFill>
                  <a:srgbClr val="C96B25"/>
                </a:solidFill>
                <a:latin typeface="Alibaba PuHuiTi 3.0 55 Regular"/>
              </a:rPr>
              <a:t>模型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88ADC8-E03F-B3D4-B9A9-9546E867CE24}"/>
              </a:ext>
            </a:extLst>
          </p:cNvPr>
          <p:cNvSpPr txBox="1"/>
          <p:nvPr/>
        </p:nvSpPr>
        <p:spPr>
          <a:xfrm>
            <a:off x="457200" y="23749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01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81BC21-1AA4-BB24-FDB3-26D7D99A0B45}"/>
              </a:ext>
            </a:extLst>
          </p:cNvPr>
          <p:cNvSpPr txBox="1"/>
          <p:nvPr/>
        </p:nvSpPr>
        <p:spPr>
          <a:xfrm>
            <a:off x="1193800" y="23495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运行环境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92924C-F89C-22A3-7013-E75CCC47BEC3}"/>
              </a:ext>
            </a:extLst>
          </p:cNvPr>
          <p:cNvSpPr txBox="1"/>
          <p:nvPr/>
        </p:nvSpPr>
        <p:spPr>
          <a:xfrm>
            <a:off x="1193800" y="2743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目标为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Debian 12 / ARM64 / Node 22+ / systemd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；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BSP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、驱动、温度路径和设备权限必须上板确认。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9EEBECC-2295-7164-B5CD-A034485B50B3}"/>
              </a:ext>
            </a:extLst>
          </p:cNvPr>
          <p:cNvCxnSpPr/>
          <p:nvPr/>
        </p:nvCxnSpPr>
        <p:spPr>
          <a:xfrm>
            <a:off x="1193800" y="33909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B3B200A-A423-F382-4EF9-16CC8E2C302A}"/>
              </a:ext>
            </a:extLst>
          </p:cNvPr>
          <p:cNvSpPr txBox="1"/>
          <p:nvPr/>
        </p:nvSpPr>
        <p:spPr>
          <a:xfrm>
            <a:off x="457200" y="3632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02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FFA5A7-0697-B9E3-5542-7F7B9588CE8D}"/>
              </a:ext>
            </a:extLst>
          </p:cNvPr>
          <p:cNvSpPr txBox="1"/>
          <p:nvPr/>
        </p:nvSpPr>
        <p:spPr>
          <a:xfrm>
            <a:off x="1193800" y="360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当前可执行能力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C4AFB8-8E15-5C38-ED85-14085B392CC0}"/>
              </a:ext>
            </a:extLst>
          </p:cNvPr>
          <p:cNvSpPr txBox="1"/>
          <p:nvPr/>
        </p:nvSpPr>
        <p:spPr>
          <a:xfrm>
            <a:off x="1193800" y="40005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Runtime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默认注册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catalog.vector_search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，执行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CPU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精确余弦检索；宿主机联测不等于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P1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性能。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61A7343-0B0B-0CA9-92EA-FEA817A4F9EC}"/>
              </a:ext>
            </a:extLst>
          </p:cNvPr>
          <p:cNvCxnSpPr/>
          <p:nvPr/>
        </p:nvCxnSpPr>
        <p:spPr>
          <a:xfrm>
            <a:off x="1193800" y="46482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D9C7A80-B54A-28C0-B1B4-DD6756E4D911}"/>
              </a:ext>
            </a:extLst>
          </p:cNvPr>
          <p:cNvSpPr txBox="1"/>
          <p:nvPr/>
        </p:nvSpPr>
        <p:spPr>
          <a:xfrm>
            <a:off x="457200" y="48895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956A2E"/>
                </a:solidFill>
                <a:latin typeface="Alibaba PuHuiTi 3.0 55 Regular"/>
              </a:rPr>
              <a:t>03</a:t>
            </a:r>
            <a:endParaRPr lang="zh-CN" altLang="en-US" sz="156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900210-C544-1136-C446-F84B2AC80C39}"/>
              </a:ext>
            </a:extLst>
          </p:cNvPr>
          <p:cNvSpPr txBox="1"/>
          <p:nvPr/>
        </p:nvSpPr>
        <p:spPr>
          <a:xfrm>
            <a:off x="1193800" y="48641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模型接入契约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56CCCC-D2B5-BECA-1A84-89AF381412E3}"/>
              </a:ext>
            </a:extLst>
          </p:cNvPr>
          <p:cNvSpPr txBox="1"/>
          <p:nvPr/>
        </p:nvSpPr>
        <p:spPr>
          <a:xfrm>
            <a:off x="1193800" y="5257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WorkerManifest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固定模型路径、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SHA-256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Runtime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版本；独立进程通过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probe / execute / cancel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接入。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2D72332-54C6-E5F3-E84A-3B3120528C69}"/>
              </a:ext>
            </a:extLst>
          </p:cNvPr>
          <p:cNvCxnSpPr/>
          <p:nvPr/>
        </p:nvCxnSpPr>
        <p:spPr>
          <a:xfrm>
            <a:off x="1193800" y="59055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EFC61F-F1A8-5A89-E96A-775570AEC0B0}"/>
              </a:ext>
            </a:extLst>
          </p:cNvPr>
          <p:cNvSpPr txBox="1"/>
          <p:nvPr/>
        </p:nvSpPr>
        <p:spPr>
          <a:xfrm>
            <a:off x="6400800" y="23749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956A2E"/>
                </a:solidFill>
                <a:latin typeface="Alibaba PuHuiTi 3.0 55 Regular"/>
              </a:rPr>
              <a:t>04</a:t>
            </a:r>
            <a:endParaRPr lang="zh-CN" altLang="en-US" sz="156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4664303-983D-CD79-0FF0-869F14DA110C}"/>
              </a:ext>
            </a:extLst>
          </p:cNvPr>
          <p:cNvSpPr txBox="1"/>
          <p:nvPr/>
        </p:nvSpPr>
        <p:spPr>
          <a:xfrm>
            <a:off x="7137400" y="23495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能力与质量核验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5BA2B10-B207-DC65-07BA-95CFC13AD7FC}"/>
              </a:ext>
            </a:extLst>
          </p:cNvPr>
          <p:cNvSpPr txBox="1"/>
          <p:nvPr/>
        </p:nvSpPr>
        <p:spPr>
          <a:xfrm>
            <a:off x="7137400" y="2743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只接受真实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backend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、质量阈值、线程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/ batch /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内存回执；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CPU fallback 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不能冒充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NPU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。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0347FFD-39FA-0F39-2EF9-945CC475C6C5}"/>
              </a:ext>
            </a:extLst>
          </p:cNvPr>
          <p:cNvCxnSpPr/>
          <p:nvPr/>
        </p:nvCxnSpPr>
        <p:spPr>
          <a:xfrm>
            <a:off x="7137400" y="33909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8813C129-EE39-71D8-37C6-298F50255B0A}"/>
              </a:ext>
            </a:extLst>
          </p:cNvPr>
          <p:cNvSpPr txBox="1"/>
          <p:nvPr/>
        </p:nvSpPr>
        <p:spPr>
          <a:xfrm>
            <a:off x="6400800" y="3632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05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D4AED01-8AF4-5D74-EDB9-B857062DDC2D}"/>
              </a:ext>
            </a:extLst>
          </p:cNvPr>
          <p:cNvSpPr txBox="1"/>
          <p:nvPr/>
        </p:nvSpPr>
        <p:spPr>
          <a:xfrm>
            <a:off x="7137400" y="360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组网与调度闭环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81418B7-48B9-7A84-A1B9-DCCC33C18875}"/>
              </a:ext>
            </a:extLst>
          </p:cNvPr>
          <p:cNvSpPr txBox="1"/>
          <p:nvPr/>
        </p:nvSpPr>
        <p:spPr>
          <a:xfrm>
            <a:off x="7137400" y="40005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节点令牌、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allowlist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Quote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、目标重新准入；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RTT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、吞吐和排队样本进入端到端成本。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AFE4ABFB-5A21-31AF-8C49-8BD2E12C6D59}"/>
              </a:ext>
            </a:extLst>
          </p:cNvPr>
          <p:cNvCxnSpPr/>
          <p:nvPr/>
        </p:nvCxnSpPr>
        <p:spPr>
          <a:xfrm>
            <a:off x="7137400" y="46482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0A406451-7421-1409-2C08-ADE10FBCF5A0}"/>
              </a:ext>
            </a:extLst>
          </p:cNvPr>
          <p:cNvSpPr txBox="1"/>
          <p:nvPr/>
        </p:nvSpPr>
        <p:spPr>
          <a:xfrm>
            <a:off x="6400800" y="48895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956A2E"/>
                </a:solidFill>
                <a:latin typeface="Alibaba PuHuiTi 3.0 55 Regular"/>
              </a:rPr>
              <a:t>06</a:t>
            </a:r>
            <a:endParaRPr lang="zh-CN" altLang="en-US" sz="156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8D4BD02-F697-9A01-B47C-69A694C52CEF}"/>
              </a:ext>
            </a:extLst>
          </p:cNvPr>
          <p:cNvSpPr txBox="1"/>
          <p:nvPr/>
        </p:nvSpPr>
        <p:spPr>
          <a:xfrm>
            <a:off x="7137400" y="48641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基准与验收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470F8F7-DCC7-4525-4D2E-0DFC6D045482}"/>
              </a:ext>
            </a:extLst>
          </p:cNvPr>
          <p:cNvSpPr txBox="1"/>
          <p:nvPr/>
        </p:nvSpPr>
        <p:spPr>
          <a:xfrm>
            <a:off x="7137400" y="5257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冷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/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热启动、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P50/P95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、温升、压力、断联、取消和模型回退通过后，才允许 </a:t>
            </a:r>
            <a:r>
              <a:rPr lang="en-US" altLang="zh-CN" sz="1080">
                <a:solidFill>
                  <a:srgbClr val="39516B"/>
                </a:solidFill>
                <a:latin typeface="Alibaba PuHuiTi 3.0 55 Regular"/>
              </a:rPr>
              <a:t>SHADOW → ACTIVE</a:t>
            </a:r>
            <a:r>
              <a:rPr lang="zh-CN" altLang="en-US" sz="1080">
                <a:solidFill>
                  <a:srgbClr val="39516B"/>
                </a:solidFill>
                <a:latin typeface="Alibaba PuHuiTi 3.0 55 Regular"/>
              </a:rPr>
              <a:t>。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C03A588-4E17-60EF-90AA-2B1E1CE902FA}"/>
              </a:ext>
            </a:extLst>
          </p:cNvPr>
          <p:cNvCxnSpPr/>
          <p:nvPr/>
        </p:nvCxnSpPr>
        <p:spPr>
          <a:xfrm>
            <a:off x="7137400" y="5905500"/>
            <a:ext cx="45974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B6F08B81-12D8-3B83-FF2A-705FFFA706A8}"/>
              </a:ext>
            </a:extLst>
          </p:cNvPr>
          <p:cNvSpPr/>
          <p:nvPr/>
        </p:nvSpPr>
        <p:spPr>
          <a:xfrm>
            <a:off x="457200" y="6121400"/>
            <a:ext cx="11277600" cy="431800"/>
          </a:xfrm>
          <a:prstGeom prst="roundRect">
            <a:avLst/>
          </a:prstGeom>
          <a:solidFill>
            <a:srgbClr val="F7F1E7"/>
          </a:solidFill>
          <a:ln w="12700" cap="flat" cmpd="sng" algn="ctr">
            <a:solidFill>
              <a:srgbClr val="956A2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5C102B2-E828-1781-5C2A-E4A8820402B0}"/>
              </a:ext>
            </a:extLst>
          </p:cNvPr>
          <p:cNvSpPr txBox="1"/>
          <p:nvPr/>
        </p:nvSpPr>
        <p:spPr>
          <a:xfrm>
            <a:off x="635000" y="62357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30" b="1">
                <a:solidFill>
                  <a:srgbClr val="956A2E"/>
                </a:solidFill>
                <a:latin typeface="Alibaba PuHuiTi 3.0 55 Regular"/>
              </a:rPr>
              <a:t>当前事实：</a:t>
            </a:r>
            <a:r>
              <a:rPr lang="en-US" altLang="zh-CN" sz="1130" b="1">
                <a:solidFill>
                  <a:srgbClr val="956A2E"/>
                </a:solidFill>
                <a:latin typeface="Alibaba PuHuiTi 3.0 55 Regular"/>
              </a:rPr>
              <a:t>p1.example.json </a:t>
            </a:r>
            <a:r>
              <a:rPr lang="zh-CN" altLang="en-US" sz="1130" b="1">
                <a:solidFill>
                  <a:srgbClr val="956A2E"/>
                </a:solidFill>
                <a:latin typeface="Alibaba PuHuiTi 3.0 55 Regular"/>
              </a:rPr>
              <a:t>的 </a:t>
            </a:r>
            <a:r>
              <a:rPr lang="en-US" altLang="zh-CN" sz="1130" b="1">
                <a:solidFill>
                  <a:srgbClr val="956A2E"/>
                </a:solidFill>
                <a:latin typeface="Alibaba PuHuiTi 3.0 55 Regular"/>
              </a:rPr>
              <a:t>workers=[]</a:t>
            </a:r>
            <a:r>
              <a:rPr lang="zh-CN" altLang="en-US" sz="1130" b="1">
                <a:solidFill>
                  <a:srgbClr val="956A2E"/>
                </a:solidFill>
                <a:latin typeface="Alibaba PuHuiTi 3.0 55 Regular"/>
              </a:rPr>
              <a:t>；</a:t>
            </a:r>
            <a:r>
              <a:rPr lang="en-US" altLang="zh-CN" sz="1130" b="1">
                <a:solidFill>
                  <a:srgbClr val="956A2E"/>
                </a:solidFill>
                <a:latin typeface="Alibaba PuHuiTi 3.0 55 Regular"/>
              </a:rPr>
              <a:t>NOE/GPU Worker </a:t>
            </a:r>
            <a:r>
              <a:rPr lang="zh-CN" altLang="en-US" sz="1130" b="1">
                <a:solidFill>
                  <a:srgbClr val="956A2E"/>
                </a:solidFill>
                <a:latin typeface="Alibaba PuHuiTi 3.0 55 Regular"/>
              </a:rPr>
              <a:t>只有接口契约，真实厂商 </a:t>
            </a:r>
            <a:r>
              <a:rPr lang="en-US" altLang="zh-CN" sz="1130" b="1">
                <a:solidFill>
                  <a:srgbClr val="956A2E"/>
                </a:solidFill>
                <a:latin typeface="Alibaba PuHuiTi 3.0 55 Regular"/>
              </a:rPr>
              <a:t>SDK </a:t>
            </a:r>
            <a:r>
              <a:rPr lang="zh-CN" altLang="en-US" sz="1130" b="1">
                <a:solidFill>
                  <a:srgbClr val="956A2E"/>
                </a:solidFill>
                <a:latin typeface="Alibaba PuHuiTi 3.0 55 Regular"/>
              </a:rPr>
              <a:t>与模型尚未接入。</a:t>
            </a:r>
          </a:p>
        </p:txBody>
      </p:sp>
    </p:spTree>
    <p:extLst>
      <p:ext uri="{BB962C8B-B14F-4D97-AF65-F5344CB8AC3E}">
        <p14:creationId xmlns:p14="http://schemas.microsoft.com/office/powerpoint/2010/main" val="287337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118F90-A505-84DE-ADED-030498D6FBAF}"/>
              </a:ext>
            </a:extLst>
          </p:cNvPr>
          <p:cNvSpPr txBox="1"/>
          <p:nvPr/>
        </p:nvSpPr>
        <p:spPr>
          <a:xfrm>
            <a:off x="457200" y="3429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20  P1 </a:t>
            </a:r>
            <a:r>
              <a:rPr lang="zh-CN" altLang="en-US" sz="930">
                <a:solidFill>
                  <a:srgbClr val="5890BE"/>
                </a:solidFill>
                <a:latin typeface="Alibaba PuHuiTi 3.0 55 Regular"/>
              </a:rPr>
              <a:t>后续增强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437E18-428A-C7D3-152E-4D8AC50CD408}"/>
              </a:ext>
            </a:extLst>
          </p:cNvPr>
          <p:cNvSpPr txBox="1"/>
          <p:nvPr/>
        </p:nvSpPr>
        <p:spPr>
          <a:xfrm>
            <a:off x="457200" y="6985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900" b="1">
                <a:solidFill>
                  <a:srgbClr val="102746"/>
                </a:solidFill>
                <a:latin typeface="Alibaba PuHuiTi 3.0 55 Regular"/>
              </a:rPr>
              <a:t>P1 </a:t>
            </a:r>
            <a:r>
              <a:rPr lang="zh-CN" altLang="en-US" sz="2900" b="1">
                <a:solidFill>
                  <a:srgbClr val="102746"/>
                </a:solidFill>
                <a:latin typeface="Alibaba PuHuiTi 3.0 55 Regular"/>
              </a:rPr>
              <a:t>平台适配的模型落位与增强路线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D88F455-7C49-5DD9-0429-7A01F3AFAA31}"/>
              </a:ext>
            </a:extLst>
          </p:cNvPr>
          <p:cNvCxnSpPr/>
          <p:nvPr/>
        </p:nvCxnSpPr>
        <p:spPr>
          <a:xfrm>
            <a:off x="457200" y="1409700"/>
            <a:ext cx="11277600" cy="0"/>
          </a:xfrm>
          <a:prstGeom prst="line">
            <a:avLst/>
          </a:prstGeom>
          <a:ln w="1016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F76439D-7E94-CA0D-A107-E85026BBB47F}"/>
              </a:ext>
            </a:extLst>
          </p:cNvPr>
          <p:cNvSpPr txBox="1"/>
          <p:nvPr/>
        </p:nvSpPr>
        <p:spPr>
          <a:xfrm>
            <a:off x="457200" y="6388100"/>
            <a:ext cx="1073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800">
                <a:solidFill>
                  <a:srgbClr val="73879E"/>
                </a:solidFill>
                <a:latin typeface="Alibaba PuHuiTi 3.0 55 Regular"/>
              </a:rPr>
              <a:t>所有增强先进入 </a:t>
            </a:r>
            <a:r>
              <a:rPr lang="en-US" altLang="zh-CN" sz="800">
                <a:solidFill>
                  <a:srgbClr val="73879E"/>
                </a:solidFill>
                <a:latin typeface="Alibaba PuHuiTi 3.0 55 Regular"/>
              </a:rPr>
              <a:t>OBSERVE / SHADOW</a:t>
            </a:r>
            <a:r>
              <a:rPr lang="zh-CN" altLang="en-US" sz="800">
                <a:solidFill>
                  <a:srgbClr val="73879E"/>
                </a:solidFill>
                <a:latin typeface="Alibaba PuHuiTi 3.0 55 Regular"/>
              </a:rPr>
              <a:t>；质量、停止语义与收益可复现后才开放 </a:t>
            </a:r>
            <a:r>
              <a:rPr lang="en-US" altLang="zh-CN" sz="800">
                <a:solidFill>
                  <a:srgbClr val="73879E"/>
                </a:solidFill>
                <a:latin typeface="Alibaba PuHuiTi 3.0 55 Regular"/>
              </a:rPr>
              <a:t>ACTIVE</a:t>
            </a:r>
            <a:r>
              <a:rPr lang="zh-CN" altLang="en-US" sz="800">
                <a:solidFill>
                  <a:srgbClr val="73879E"/>
                </a:solidFill>
                <a:latin typeface="Alibaba PuHuiTi 3.0 55 Regular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0219F5-CEDC-7D3C-C8F3-890E9CEA8473}"/>
              </a:ext>
            </a:extLst>
          </p:cNvPr>
          <p:cNvSpPr txBox="1"/>
          <p:nvPr/>
        </p:nvSpPr>
        <p:spPr>
          <a:xfrm>
            <a:off x="11531600" y="6553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50">
                <a:solidFill>
                  <a:srgbClr val="73879E"/>
                </a:solidFill>
                <a:latin typeface="Alibaba PuHuiTi 3.0 55 Regular"/>
              </a:rPr>
              <a:t>20</a:t>
            </a:r>
            <a:endParaRPr lang="zh-CN" altLang="en-US" sz="750">
              <a:solidFill>
                <a:srgbClr val="73879E"/>
              </a:solidFill>
              <a:latin typeface="Alibaba PuHuiTi 3.0 55 Regula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DC7050-6664-BED0-6AE6-17FB0059DECE}"/>
              </a:ext>
            </a:extLst>
          </p:cNvPr>
          <p:cNvSpPr txBox="1"/>
          <p:nvPr/>
        </p:nvSpPr>
        <p:spPr>
          <a:xfrm>
            <a:off x="457200" y="16510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60">
                <a:solidFill>
                  <a:srgbClr val="39516B"/>
                </a:solidFill>
                <a:latin typeface="Alibaba PuHuiTi 3.0 55 Regular"/>
              </a:rPr>
              <a:t>首个模型优先选择视觉</a:t>
            </a:r>
            <a:r>
              <a:rPr lang="en-US" altLang="zh-CN" sz="1460">
                <a:solidFill>
                  <a:srgbClr val="39516B"/>
                </a:solidFill>
                <a:latin typeface="Alibaba PuHuiTi 3.0 55 Regular"/>
              </a:rPr>
              <a:t>/</a:t>
            </a:r>
            <a:r>
              <a:rPr lang="zh-CN" altLang="en-US" sz="1460">
                <a:solidFill>
                  <a:srgbClr val="39516B"/>
                </a:solidFill>
                <a:latin typeface="Alibaba PuHuiTi 3.0 55 Regular"/>
              </a:rPr>
              <a:t>图像 </a:t>
            </a:r>
            <a:r>
              <a:rPr lang="en-US" altLang="zh-CN" sz="1460">
                <a:solidFill>
                  <a:srgbClr val="39516B"/>
                </a:solidFill>
                <a:latin typeface="Alibaba PuHuiTi 3.0 55 Regular"/>
              </a:rPr>
              <a:t>Embedding</a:t>
            </a:r>
            <a:r>
              <a:rPr lang="zh-CN" altLang="en-US" sz="1460">
                <a:solidFill>
                  <a:srgbClr val="39516B"/>
                </a:solidFill>
                <a:latin typeface="Alibaba PuHuiTi 3.0 55 Regular"/>
              </a:rPr>
              <a:t>：输入输出固定、指标可量化、适合 </a:t>
            </a:r>
            <a:r>
              <a:rPr lang="en-US" altLang="zh-CN" sz="1460">
                <a:solidFill>
                  <a:srgbClr val="39516B"/>
                </a:solidFill>
                <a:latin typeface="Alibaba PuHuiTi 3.0 55 Regular"/>
              </a:rPr>
              <a:t>NOE NPU </a:t>
            </a:r>
            <a:r>
              <a:rPr lang="zh-CN" altLang="en-US" sz="1460">
                <a:solidFill>
                  <a:srgbClr val="39516B"/>
                </a:solidFill>
                <a:latin typeface="Alibaba PuHuiTi 3.0 55 Regular"/>
              </a:rPr>
              <a:t>加速，并能直接服务购物检索。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83ACAE-E631-E678-9199-97028ECDFD95}"/>
              </a:ext>
            </a:extLst>
          </p:cNvPr>
          <p:cNvSpPr/>
          <p:nvPr/>
        </p:nvSpPr>
        <p:spPr>
          <a:xfrm>
            <a:off x="7874000" y="1651000"/>
            <a:ext cx="3860800" cy="317500"/>
          </a:xfrm>
          <a:prstGeom prst="roundRect">
            <a:avLst/>
          </a:prstGeom>
          <a:solidFill>
            <a:srgbClr val="F7F1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9BF50F-4161-2B89-6751-A7AB2BEBBF47}"/>
              </a:ext>
            </a:extLst>
          </p:cNvPr>
          <p:cNvSpPr txBox="1"/>
          <p:nvPr/>
        </p:nvSpPr>
        <p:spPr>
          <a:xfrm>
            <a:off x="7975600" y="1701800"/>
            <a:ext cx="365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20" b="1">
                <a:solidFill>
                  <a:srgbClr val="956A2E"/>
                </a:solidFill>
                <a:latin typeface="Alibaba PuHuiTi 3.0 55 Regular"/>
              </a:rPr>
              <a:t>模型优先级｜</a:t>
            </a:r>
            <a:r>
              <a:rPr lang="en-US" altLang="zh-CN" sz="1020" b="1">
                <a:solidFill>
                  <a:srgbClr val="956A2E"/>
                </a:solidFill>
                <a:latin typeface="Alibaba PuHuiTi 3.0 55 Regular"/>
              </a:rPr>
              <a:t>Embedding → </a:t>
            </a:r>
            <a:r>
              <a:rPr lang="zh-CN" altLang="en-US" sz="1020" b="1">
                <a:solidFill>
                  <a:srgbClr val="956A2E"/>
                </a:solidFill>
                <a:latin typeface="Alibaba PuHuiTi 3.0 55 Regular"/>
              </a:rPr>
              <a:t>视觉核验 → 轻量 </a:t>
            </a:r>
            <a:r>
              <a:rPr lang="en-US" altLang="zh-CN" sz="1020" b="1">
                <a:solidFill>
                  <a:srgbClr val="956A2E"/>
                </a:solidFill>
                <a:latin typeface="Alibaba PuHuiTi 3.0 55 Regular"/>
              </a:rPr>
              <a:t>Planner</a:t>
            </a:r>
            <a:endParaRPr lang="zh-CN" altLang="en-US" sz="102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EC4C27-AEE5-48DB-EC92-E90A8534CE1D}"/>
              </a:ext>
            </a:extLst>
          </p:cNvPr>
          <p:cNvSpPr txBox="1"/>
          <p:nvPr/>
        </p:nvSpPr>
        <p:spPr>
          <a:xfrm>
            <a:off x="457200" y="22860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956A2E"/>
                </a:solidFill>
                <a:latin typeface="Alibaba PuHuiTi 3.0 55 Regular"/>
              </a:rPr>
              <a:t>01</a:t>
            </a:r>
            <a:endParaRPr lang="zh-CN" altLang="en-US" sz="156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1B2B8F-DADB-02A9-242D-57454B9F1247}"/>
              </a:ext>
            </a:extLst>
          </p:cNvPr>
          <p:cNvSpPr txBox="1"/>
          <p:nvPr/>
        </p:nvSpPr>
        <p:spPr>
          <a:xfrm>
            <a:off x="1193800" y="22606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956A2E"/>
                </a:solidFill>
                <a:latin typeface="Alibaba PuHuiTi 3.0 55 Regular"/>
              </a:rPr>
              <a:t>首个落地模型：视觉 </a:t>
            </a:r>
            <a:r>
              <a:rPr lang="en-US" altLang="zh-CN" sz="1530" b="1">
                <a:solidFill>
                  <a:srgbClr val="956A2E"/>
                </a:solidFill>
                <a:latin typeface="Alibaba PuHuiTi 3.0 55 Regular"/>
              </a:rPr>
              <a:t>/ </a:t>
            </a:r>
            <a:r>
              <a:rPr lang="zh-CN" altLang="en-US" sz="1530" b="1">
                <a:solidFill>
                  <a:srgbClr val="956A2E"/>
                </a:solidFill>
                <a:latin typeface="Alibaba PuHuiTi 3.0 55 Regular"/>
              </a:rPr>
              <a:t>图像 </a:t>
            </a:r>
            <a:r>
              <a:rPr lang="en-US" altLang="zh-CN" sz="1530" b="1">
                <a:solidFill>
                  <a:srgbClr val="956A2E"/>
                </a:solidFill>
                <a:latin typeface="Alibaba PuHuiTi 3.0 55 Regular"/>
              </a:rPr>
              <a:t>Embedding</a:t>
            </a:r>
            <a:endParaRPr lang="zh-CN" altLang="en-US" sz="153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E98517-0D8F-3D70-C57B-609092DEC0FB}"/>
              </a:ext>
            </a:extLst>
          </p:cNvPr>
          <p:cNvSpPr txBox="1"/>
          <p:nvPr/>
        </p:nvSpPr>
        <p:spPr>
          <a:xfrm>
            <a:off x="1193800" y="26543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在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P1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上接入一个可验证的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NOE Embedding Worker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；用同一模型、同一维度、同一索引建立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CPU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对照，先验证召回质量与端到端延迟。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8C5872-7ED7-AD46-5136-3AC7FEF31271}"/>
              </a:ext>
            </a:extLst>
          </p:cNvPr>
          <p:cNvCxnSpPr/>
          <p:nvPr/>
        </p:nvCxnSpPr>
        <p:spPr>
          <a:xfrm>
            <a:off x="1193800" y="33020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843791E-AEB4-DA30-2EFA-63BECFB1D4FB}"/>
              </a:ext>
            </a:extLst>
          </p:cNvPr>
          <p:cNvSpPr txBox="1"/>
          <p:nvPr/>
        </p:nvSpPr>
        <p:spPr>
          <a:xfrm>
            <a:off x="6400800" y="22860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02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4FD989-09A5-D62A-2871-F1B3EADDA748}"/>
              </a:ext>
            </a:extLst>
          </p:cNvPr>
          <p:cNvSpPr txBox="1"/>
          <p:nvPr/>
        </p:nvSpPr>
        <p:spPr>
          <a:xfrm>
            <a:off x="7137400" y="22606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模型资产与索引绑定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0CA2AC-E8C8-C544-8D94-77DCEB72FD40}"/>
              </a:ext>
            </a:extLst>
          </p:cNvPr>
          <p:cNvSpPr txBox="1"/>
          <p:nvPr/>
        </p:nvSpPr>
        <p:spPr>
          <a:xfrm>
            <a:off x="7137400" y="26543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权重、量化版本、模型摘要、索引和数据集版本必须成套管理；模型、维度或归一化不一致时直接阻断，不能混用向量。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3A71DA-E23E-83DE-F1BD-20A70215B3BA}"/>
              </a:ext>
            </a:extLst>
          </p:cNvPr>
          <p:cNvCxnSpPr/>
          <p:nvPr/>
        </p:nvCxnSpPr>
        <p:spPr>
          <a:xfrm>
            <a:off x="7137400" y="33020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16B9CB6-A1BD-83A1-4C1B-79D72780FD28}"/>
              </a:ext>
            </a:extLst>
          </p:cNvPr>
          <p:cNvSpPr txBox="1"/>
          <p:nvPr/>
        </p:nvSpPr>
        <p:spPr>
          <a:xfrm>
            <a:off x="457200" y="35814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956A2E"/>
                </a:solidFill>
                <a:latin typeface="Alibaba PuHuiTi 3.0 55 Regular"/>
              </a:rPr>
              <a:t>03</a:t>
            </a:r>
            <a:endParaRPr lang="zh-CN" altLang="en-US" sz="156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6A9D57-123B-47B4-278A-28074DD05D23}"/>
              </a:ext>
            </a:extLst>
          </p:cNvPr>
          <p:cNvSpPr txBox="1"/>
          <p:nvPr/>
        </p:nvSpPr>
        <p:spPr>
          <a:xfrm>
            <a:off x="1193800" y="35560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30" b="1">
                <a:solidFill>
                  <a:srgbClr val="956A2E"/>
                </a:solidFill>
                <a:latin typeface="Alibaba PuHuiTi 3.0 55 Regular"/>
              </a:rPr>
              <a:t>Worker </a:t>
            </a:r>
            <a:r>
              <a:rPr lang="zh-CN" altLang="en-US" sz="1530" b="1">
                <a:solidFill>
                  <a:srgbClr val="956A2E"/>
                </a:solidFill>
                <a:latin typeface="Alibaba PuHuiTi 3.0 55 Regular"/>
              </a:rPr>
              <a:t>适配库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9D7F1D-29DA-D37B-C1A8-3B88C809DFB9}"/>
              </a:ext>
            </a:extLst>
          </p:cNvPr>
          <p:cNvSpPr txBox="1"/>
          <p:nvPr/>
        </p:nvSpPr>
        <p:spPr>
          <a:xfrm>
            <a:off x="1193800" y="39497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为视觉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Embedding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提供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probe / execute / cancel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；保留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catalog.vector_search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作为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CPU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基线，真实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NPU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回执确认后才进入成本模型。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477F180-EB7C-C47A-C671-18F6316DE0AC}"/>
              </a:ext>
            </a:extLst>
          </p:cNvPr>
          <p:cNvCxnSpPr/>
          <p:nvPr/>
        </p:nvCxnSpPr>
        <p:spPr>
          <a:xfrm>
            <a:off x="1193800" y="45974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801ED0A-046F-E81E-9E9C-68379AF7D7AF}"/>
              </a:ext>
            </a:extLst>
          </p:cNvPr>
          <p:cNvSpPr txBox="1"/>
          <p:nvPr/>
        </p:nvSpPr>
        <p:spPr>
          <a:xfrm>
            <a:off x="6400800" y="35814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04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5DAE0BC-7024-FCFC-4F32-E027F7EB1B7F}"/>
              </a:ext>
            </a:extLst>
          </p:cNvPr>
          <p:cNvSpPr txBox="1"/>
          <p:nvPr/>
        </p:nvSpPr>
        <p:spPr>
          <a:xfrm>
            <a:off x="7137400" y="35560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热状态与能效实测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90751AD-89BB-8938-8C5C-B72BDB4E9E0D}"/>
              </a:ext>
            </a:extLst>
          </p:cNvPr>
          <p:cNvSpPr txBox="1"/>
          <p:nvPr/>
        </p:nvSpPr>
        <p:spPr>
          <a:xfrm>
            <a:off x="7137400" y="39497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记录温度、频率、执行时长和可获得的功耗；按冷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/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热状态分桶，形成可解释的成本与回退策略。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307C717-085A-A847-D025-D2923820E2ED}"/>
              </a:ext>
            </a:extLst>
          </p:cNvPr>
          <p:cNvCxnSpPr/>
          <p:nvPr/>
        </p:nvCxnSpPr>
        <p:spPr>
          <a:xfrm>
            <a:off x="7137400" y="45974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EFB51D8-9E6F-45CF-21E4-3047B648329C}"/>
              </a:ext>
            </a:extLst>
          </p:cNvPr>
          <p:cNvSpPr txBox="1"/>
          <p:nvPr/>
        </p:nvSpPr>
        <p:spPr>
          <a:xfrm>
            <a:off x="457200" y="4876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05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4B8494D-4095-7B7E-85AE-81AF2F0EBE9D}"/>
              </a:ext>
            </a:extLst>
          </p:cNvPr>
          <p:cNvSpPr txBox="1"/>
          <p:nvPr/>
        </p:nvSpPr>
        <p:spPr>
          <a:xfrm>
            <a:off x="1193800" y="48514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多板可信发现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05DD01-80D8-F932-790D-DFA5E3B0A29C}"/>
              </a:ext>
            </a:extLst>
          </p:cNvPr>
          <p:cNvSpPr txBox="1"/>
          <p:nvPr/>
        </p:nvSpPr>
        <p:spPr>
          <a:xfrm>
            <a:off x="1193800" y="52451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从静态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peers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演进到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CixBoardAdapter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：设备身份、能力证明、证书轮换、健康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TTL 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和最大在途任务限制。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58454FA-6669-8D2E-3A0D-13E2612EC013}"/>
              </a:ext>
            </a:extLst>
          </p:cNvPr>
          <p:cNvCxnSpPr/>
          <p:nvPr/>
        </p:nvCxnSpPr>
        <p:spPr>
          <a:xfrm>
            <a:off x="1193800" y="58928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60EE7A6-0BAA-1A23-6AC6-2212B34E2B89}"/>
              </a:ext>
            </a:extLst>
          </p:cNvPr>
          <p:cNvSpPr txBox="1"/>
          <p:nvPr/>
        </p:nvSpPr>
        <p:spPr>
          <a:xfrm>
            <a:off x="6400800" y="4876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60" b="1">
                <a:solidFill>
                  <a:srgbClr val="5890BE"/>
                </a:solidFill>
                <a:latin typeface="Alibaba PuHuiTi 3.0 55 Regular"/>
              </a:rPr>
              <a:t>06</a:t>
            </a:r>
            <a:endParaRPr lang="zh-CN" altLang="en-US" sz="156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A7BD78F-F7AD-0793-E63D-5227A8CC3321}"/>
              </a:ext>
            </a:extLst>
          </p:cNvPr>
          <p:cNvSpPr txBox="1"/>
          <p:nvPr/>
        </p:nvSpPr>
        <p:spPr>
          <a:xfrm>
            <a:off x="7137400" y="48514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30" b="1">
                <a:solidFill>
                  <a:srgbClr val="102746"/>
                </a:solidFill>
                <a:latin typeface="Alibaba PuHuiTi 3.0 55 Regular"/>
              </a:rPr>
              <a:t>部署与验收自动化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EDBA6BA-B072-E283-7173-814279F434DC}"/>
              </a:ext>
            </a:extLst>
          </p:cNvPr>
          <p:cNvSpPr txBox="1"/>
          <p:nvPr/>
        </p:nvSpPr>
        <p:spPr>
          <a:xfrm>
            <a:off x="7137400" y="5245100"/>
            <a:ext cx="474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一键生成 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systemd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、</a:t>
            </a:r>
            <a:r>
              <a:rPr lang="en-US" altLang="zh-CN" sz="1060">
                <a:solidFill>
                  <a:srgbClr val="39516B"/>
                </a:solidFill>
                <a:latin typeface="Alibaba PuHuiTi 3.0 55 Regular"/>
              </a:rPr>
              <a:t>Worker manifest</a:t>
            </a:r>
            <a:r>
              <a:rPr lang="zh-CN" altLang="en-US" sz="1060">
                <a:solidFill>
                  <a:srgbClr val="39516B"/>
                </a:solidFill>
                <a:latin typeface="Alibaba PuHuiTi 3.0 55 Regular"/>
              </a:rPr>
              <a:t>、模型清单和验收报告；固定压力、断联、取消、升级回退用例。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84AD5CB-CF73-955B-D494-40EBF37B60C7}"/>
              </a:ext>
            </a:extLst>
          </p:cNvPr>
          <p:cNvCxnSpPr/>
          <p:nvPr/>
        </p:nvCxnSpPr>
        <p:spPr>
          <a:xfrm>
            <a:off x="7137400" y="5892800"/>
            <a:ext cx="4749800" cy="0"/>
          </a:xfrm>
          <a:prstGeom prst="line">
            <a:avLst/>
          </a:prstGeom>
          <a:ln w="952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8B21C07-FB05-F068-B344-17CB28123425}"/>
              </a:ext>
            </a:extLst>
          </p:cNvPr>
          <p:cNvSpPr/>
          <p:nvPr/>
        </p:nvSpPr>
        <p:spPr>
          <a:xfrm>
            <a:off x="457200" y="6197600"/>
            <a:ext cx="11277600" cy="355600"/>
          </a:xfrm>
          <a:prstGeom prst="roundRect">
            <a:avLst/>
          </a:prstGeom>
          <a:solidFill>
            <a:srgbClr val="E7ECF2"/>
          </a:solidFill>
          <a:ln w="1270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B88618F-7D83-3E50-697C-D056BE1F0733}"/>
              </a:ext>
            </a:extLst>
          </p:cNvPr>
          <p:cNvSpPr txBox="1"/>
          <p:nvPr/>
        </p:nvSpPr>
        <p:spPr>
          <a:xfrm>
            <a:off x="609600" y="62738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10" b="1">
                <a:solidFill>
                  <a:srgbClr val="102746"/>
                </a:solidFill>
                <a:latin typeface="Alibaba PuHuiTi 3.0 55 Regular"/>
              </a:rPr>
              <a:t>发展目标：</a:t>
            </a:r>
            <a:r>
              <a:rPr lang="en-US" altLang="zh-CN" sz="1110" b="1">
                <a:solidFill>
                  <a:srgbClr val="102746"/>
                </a:solidFill>
                <a:latin typeface="Alibaba PuHuiTi 3.0 55 Regular"/>
              </a:rPr>
              <a:t>P1 </a:t>
            </a:r>
            <a:r>
              <a:rPr lang="zh-CN" altLang="en-US" sz="1110" b="1">
                <a:solidFill>
                  <a:srgbClr val="102746"/>
                </a:solidFill>
                <a:latin typeface="Alibaba PuHuiTi 3.0 55 Regular"/>
              </a:rPr>
              <a:t>特性可插拔、可探测、可回退；通用调度核心保持设备无关。</a:t>
            </a:r>
            <a:r>
              <a:rPr lang="en-US" altLang="zh-CN" sz="1110" b="1">
                <a:solidFill>
                  <a:srgbClr val="102746"/>
                </a:solidFill>
                <a:latin typeface="Alibaba PuHuiTi 3.0 55 Regular"/>
              </a:rPr>
              <a:t>LLM </a:t>
            </a:r>
            <a:r>
              <a:rPr lang="zh-CN" altLang="en-US" sz="1110" b="1">
                <a:solidFill>
                  <a:srgbClr val="102746"/>
                </a:solidFill>
                <a:latin typeface="Alibaba PuHuiTi 3.0 55 Regular"/>
              </a:rPr>
              <a:t>本地化属于后续增强，先以真实资源与质量收益为准。</a:t>
            </a:r>
          </a:p>
        </p:txBody>
      </p:sp>
    </p:spTree>
    <p:extLst>
      <p:ext uri="{BB962C8B-B14F-4D97-AF65-F5344CB8AC3E}">
        <p14:creationId xmlns:p14="http://schemas.microsoft.com/office/powerpoint/2010/main" val="36376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1118</Words>
  <Application>Microsoft Office PowerPoint</Application>
  <DocSecurity>0</DocSecurity>
  <PresentationFormat>宽屏</PresentationFormat>
  <Paragraphs>52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Alibaba PuHuiTi 3.0 55 Regular</vt:lpstr>
      <vt:lpstr>Arial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fly20060711@outlook.com</cp:lastModifiedBy>
  <cp:revision>9</cp:revision>
  <dcterms:created xsi:type="dcterms:W3CDTF">2026-09-25T17:37:51Z</dcterms:created>
  <dcterms:modified xsi:type="dcterms:W3CDTF">2026-09-27T06:20:27Z</dcterms:modified>
</cp:coreProperties>
</file>