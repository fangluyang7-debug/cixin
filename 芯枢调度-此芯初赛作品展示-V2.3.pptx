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fonts/font.dat" ContentType="application/x-fontdata"/>
  <Override PartName="/ppt/fonts/font2.dat" ContentType="application/x-fontdata"/>
  <Override PartName="/ppt/fonts/font3.dat" ContentType="application/x-fontdata"/>
  <Override PartName="/ppt/fonts/font4.dat" ContentType="application/x-fontdata"/>
  <Override PartName="/ppt/fonts/font5.dat" ContentType="application/x-fontdata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theme/theme2.xml" ContentType="application/vnd.openxmlformats-officedocument.theme+xml"/>
  <Override PartName="/ppt/slideMasters/theme/theme3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65ed468a8aa44d85" Type="http://schemas.openxmlformats.org/package/2006/relationships/metadata/core-properties" Target="docProps/core.xml"/><Relationship Id="R836831e0160d4345" Type="http://schemas.openxmlformats.org/officeDocument/2006/relationships/extended-properties" Target="docProps/app.xml"/><Relationship Id="Re0c7bcda36674f69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36ab784f1ad0444e"/>
    <p:sldMasterId xmlns:r="http://schemas.openxmlformats.org/officeDocument/2006/relationships" id="2147483660" r:id="Rdc27ca3eeddc496d"/>
  </p:sldMasterIdLst>
  <p:notesMasterIdLst>
    <p:notesMasterId xmlns:r="http://schemas.openxmlformats.org/officeDocument/2006/relationships" r:id="Raa6bd5772b0b4b34"/>
  </p:notesMasterIdLst>
  <p:sldIdLst>
    <p:sldId xmlns:r="http://schemas.openxmlformats.org/officeDocument/2006/relationships" id="256" r:id="Rc1dfbb96152642e1"/>
    <p:sldId xmlns:r="http://schemas.openxmlformats.org/officeDocument/2006/relationships" id="257" r:id="R9ec81843769141f0"/>
    <p:sldId xmlns:r="http://schemas.openxmlformats.org/officeDocument/2006/relationships" id="258" r:id="Rca678d774b264752"/>
    <p:sldId xmlns:r="http://schemas.openxmlformats.org/officeDocument/2006/relationships" id="259" r:id="Recd3499d68eb4d9f"/>
    <p:sldId xmlns:r="http://schemas.openxmlformats.org/officeDocument/2006/relationships" id="260" r:id="Re572d55a07ff4e41"/>
    <p:sldId xmlns:r="http://schemas.openxmlformats.org/officeDocument/2006/relationships" id="261" r:id="Rd4f7630aec4f4bdb"/>
    <p:sldId xmlns:r="http://schemas.openxmlformats.org/officeDocument/2006/relationships" id="262" r:id="R4c9e6d660efd4583"/>
    <p:sldId xmlns:ns0="http://schemas.openxmlformats.org/officeDocument/2006/relationships" id="273" ns0:id="rId30"/>
    <p:sldId xmlns:r="http://schemas.openxmlformats.org/officeDocument/2006/relationships" id="263" r:id="Rd7f13a6e808340d6"/>
    <p:sldId xmlns:r="http://schemas.openxmlformats.org/officeDocument/2006/relationships" id="264" r:id="R8a664755b447475d"/>
    <p:sldId xmlns:r="http://schemas.openxmlformats.org/officeDocument/2006/relationships" id="265" r:id="Reb5aa3adfe9540a6"/>
    <p:sldId xmlns:r="http://schemas.openxmlformats.org/officeDocument/2006/relationships" id="266" r:id="R11764f993b7848ae"/>
    <p:sldId xmlns:r="http://schemas.openxmlformats.org/officeDocument/2006/relationships" id="267" r:id="Rcb5305b331274beb"/>
    <p:sldId xmlns:r="http://schemas.openxmlformats.org/officeDocument/2006/relationships" id="268" r:id="R6bc68088562845a8"/>
    <p:sldId xmlns:r="http://schemas.openxmlformats.org/officeDocument/2006/relationships" id="269" r:id="R66f868ed2ab946c6"/>
    <p:sldId xmlns:r="http://schemas.openxmlformats.org/officeDocument/2006/relationships" id="270" r:id="R61fdae6e55fa4040"/>
    <p:sldId xmlns:r="http://schemas.openxmlformats.org/officeDocument/2006/relationships" id="271" r:id="R8bb488d64cc04d3b"/>
    <p:sldId xmlns:r="http://schemas.openxmlformats.org/officeDocument/2006/relationships" id="272" r:id="R0f19c5a637094e9c"/>
  </p:sldIdLst>
  <p:sldSz cx="12192000" cy="6858000"/>
  <p:notesSz cx="6858000" cy="9144000"/>
  <p:embeddedFontLst>
    <p:embeddedFont>
      <p:font typeface="微软雅黑"/>
      <p:regular xmlns:r="http://schemas.openxmlformats.org/officeDocument/2006/relationships" r:id="R14a8da8942074cd9"/>
    </p:embeddedFont>
    <p:embeddedFont>
      <p:font typeface="Calibri"/>
      <p:regular xmlns:r="http://schemas.openxmlformats.org/officeDocument/2006/relationships" r:id="R19dc2a00012c4434"/>
      <p:bold xmlns:r="http://schemas.openxmlformats.org/officeDocument/2006/relationships" r:id="Rfb2a8aca4aae41cd"/>
      <p:italic xmlns:r="http://schemas.openxmlformats.org/officeDocument/2006/relationships" r:id="R824a11e1fba741ee"/>
      <p:boldItalic xmlns:r="http://schemas.openxmlformats.org/officeDocument/2006/relationships" r:id="R8210af6dbd3e4ac4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0f19c5a637094e9c" Type="http://schemas.openxmlformats.org/officeDocument/2006/relationships/slide" Target="slides/slide17.xml"/><Relationship Id="R11764f993b7848ae" Type="http://schemas.openxmlformats.org/officeDocument/2006/relationships/slide" Target="slides/slide11.xml"/><Relationship Id="R14a8da8942074cd9" Type="http://schemas.openxmlformats.org/officeDocument/2006/relationships/font" Target="fonts/font.dat"/><Relationship Id="R19dc2a00012c4434" Type="http://schemas.openxmlformats.org/officeDocument/2006/relationships/font" Target="fonts/font2.dat"/><Relationship Id="R36ab784f1ad0444e" Type="http://schemas.openxmlformats.org/officeDocument/2006/relationships/slideMaster" Target="slideMasters/slideMaster1.xml"/><Relationship Id="R4c9e6d660efd4583" Type="http://schemas.openxmlformats.org/officeDocument/2006/relationships/slide" Target="slides/slide7.xml"/><Relationship Id="R61e1f3aff9bc4cd3" Type="http://schemas.openxmlformats.org/officeDocument/2006/relationships/presProps" Target="presProps.xml"/><Relationship Id="R61fdae6e55fa4040" Type="http://schemas.openxmlformats.org/officeDocument/2006/relationships/slide" Target="slides/slide15.xml"/><Relationship Id="R66f868ed2ab946c6" Type="http://schemas.openxmlformats.org/officeDocument/2006/relationships/slide" Target="slides/slide14.xml"/><Relationship Id="R6bc68088562845a8" Type="http://schemas.openxmlformats.org/officeDocument/2006/relationships/slide" Target="slides/slide13.xml"/><Relationship Id="R7b748cd5e25b4859" Type="http://schemas.openxmlformats.org/officeDocument/2006/relationships/viewProps" Target="viewProps.xml"/><Relationship Id="R8210af6dbd3e4ac4" Type="http://schemas.openxmlformats.org/officeDocument/2006/relationships/font" Target="fonts/font5.dat"/><Relationship Id="R824a11e1fba741ee" Type="http://schemas.openxmlformats.org/officeDocument/2006/relationships/font" Target="fonts/font4.dat"/><Relationship Id="R8a664755b447475d" Type="http://schemas.openxmlformats.org/officeDocument/2006/relationships/slide" Target="slides/slide9.xml"/><Relationship Id="R8bb488d64cc04d3b" Type="http://schemas.openxmlformats.org/officeDocument/2006/relationships/slide" Target="slides/slide16.xml"/><Relationship Id="R90cf1882a0a34ec7" Type="http://schemas.openxmlformats.org/officeDocument/2006/relationships/theme" Target="theme/theme1.xml"/><Relationship Id="R9ec81843769141f0" Type="http://schemas.openxmlformats.org/officeDocument/2006/relationships/slide" Target="slides/slide2.xml"/><Relationship Id="Ra797b948e2474c15" Type="http://schemas.openxmlformats.org/officeDocument/2006/relationships/tableStyles" Target="tableStyles.xml"/><Relationship Id="Raa6bd5772b0b4b34" Type="http://schemas.openxmlformats.org/officeDocument/2006/relationships/notesMaster" Target="notesMasters/notesMaster1.xml"/><Relationship Id="Rc1dfbb96152642e1" Type="http://schemas.openxmlformats.org/officeDocument/2006/relationships/slide" Target="slides/slide1.xml"/><Relationship Id="Rca678d774b264752" Type="http://schemas.openxmlformats.org/officeDocument/2006/relationships/slide" Target="slides/slide3.xml"/><Relationship Id="Rcb5305b331274beb" Type="http://schemas.openxmlformats.org/officeDocument/2006/relationships/slide" Target="slides/slide12.xml"/><Relationship Id="Rd4f7630aec4f4bdb" Type="http://schemas.openxmlformats.org/officeDocument/2006/relationships/slide" Target="slides/slide6.xml"/><Relationship Id="Rd7f13a6e808340d6" Type="http://schemas.openxmlformats.org/officeDocument/2006/relationships/slide" Target="slides/slide8.xml"/><Relationship Id="Rdc27ca3eeddc496d" Type="http://schemas.openxmlformats.org/officeDocument/2006/relationships/slideMaster" Target="slideMasters/slideMaster2.xml"/><Relationship Id="Re572d55a07ff4e41" Type="http://schemas.openxmlformats.org/officeDocument/2006/relationships/slide" Target="slides/slide5.xml"/><Relationship Id="Reb5aa3adfe9540a6" Type="http://schemas.openxmlformats.org/officeDocument/2006/relationships/slide" Target="slides/slide10.xml"/><Relationship Id="Recd3499d68eb4d9f" Type="http://schemas.openxmlformats.org/officeDocument/2006/relationships/slide" Target="slides/slide4.xml"/><Relationship Id="Rfb2a8aca4aae41cd" Type="http://schemas.openxmlformats.org/officeDocument/2006/relationships/font" Target="fonts/font3.dat"/><Relationship Id="rId30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bd64ca8b18894521" Type="http://schemas.openxmlformats.org/officeDocument/2006/relationships/theme" Target="theme/theme4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c4a8dc6a0b8c46b1" Type="http://schemas.openxmlformats.org/officeDocument/2006/relationships/slide" Target="../slides/slide1.xml"/><Relationship Id="Re7040b4239194bfb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91e1c312f7ce455e" Type="http://schemas.openxmlformats.org/officeDocument/2006/relationships/notesMaster" Target="../notesMasters/notesMaster1.xml"/><Relationship Id="Ra8c172ce004e4d7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34219317e4654ecc" Type="http://schemas.openxmlformats.org/officeDocument/2006/relationships/slide" Target="../slides/slide3.xml"/><Relationship Id="R714cc27a125c43d9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61b5342d2bdb451c" Type="http://schemas.openxmlformats.org/officeDocument/2006/relationships/notesMaster" Target="../notesMasters/notesMaster1.xml"/><Relationship Id="Rf9f9ee0883a845f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189a976bf89f4611" Type="http://schemas.openxmlformats.org/officeDocument/2006/relationships/notesMaster" Target="../notesMasters/notesMaster1.xml"/><Relationship Id="Rc8396bfbfad7457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5172e44e029a43db" Type="http://schemas.openxmlformats.org/officeDocument/2006/relationships/notesMaster" Target="../notesMasters/notesMaster1.xml"/><Relationship Id="R689249fc7ccc49b4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7bc256ff9d1e4e3e" Type="http://schemas.openxmlformats.org/officeDocument/2006/relationships/notesMaster" Target="../notesMasters/notesMaster1.xml"/><Relationship Id="R9f83f97eaf1d416b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01d7d33d38464314" Type="http://schemas.openxmlformats.org/officeDocument/2006/relationships/slide" Target="../slides/slide8.xml"/><Relationship Id="Ra3b04a63594e4dd4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e3be961e352b42f5" Type="http://schemas.openxmlformats.org/officeDocument/2006/relationships/slide" Target="../slides/slide9.xml"/><Relationship Id="Rea38ddff97e04f1d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5906cadff03a45fd" Type="http://schemas.openxmlformats.org/officeDocument/2006/relationships/notesMaster" Target="../notesMasters/notesMaster1.xml"/><Relationship Id="Rc2c764575b0144d3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934ac79f141644aa" Type="http://schemas.openxmlformats.org/officeDocument/2006/relationships/slide" Target="../slides/slide11.xml"/><Relationship Id="R9e9699c41d1b4a7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f51c6d2edc1a4c8d" Type="http://schemas.openxmlformats.org/officeDocument/2006/relationships/notesMaster" Target="../notesMasters/notesMaster1.xml"/><Relationship Id="Rf6dbd4de8acd4180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2f7555f81dfe476a" Type="http://schemas.openxmlformats.org/officeDocument/2006/relationships/slide" Target="../slides/slide13.xml"/><Relationship Id="R495383f3c0654ce6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1a3b8763e0c343c2" Type="http://schemas.openxmlformats.org/officeDocument/2006/relationships/notesMaster" Target="../notesMasters/notesMaster1.xml"/><Relationship Id="Re7abdc9846e94a7c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0f444c44cf944502" Type="http://schemas.openxmlformats.org/officeDocument/2006/relationships/slide" Target="../slides/slide15.xml"/><Relationship Id="R3d27a07e266b4cbc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12d50b0b3c10463f" Type="http://schemas.openxmlformats.org/officeDocument/2006/relationships/notesMaster" Target="../notesMasters/notesMaster1.xml"/><Relationship Id="R38cef1510a4f4f0f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462db4ecceac4c83" Type="http://schemas.openxmlformats.org/officeDocument/2006/relationships/slide" Target="../slides/slide17.xml"/><Relationship Id="R4fd166eeb54d49b6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作品以任务级端云协同调度中间件为主体。技能复用是辅助创新，购物是说明业务闭环的样例。P1 承担主控，云端按授权提供规划和复杂推理。当前具备桌面调度和执行原型，获板后完成真实端云模型闭环。</a:t>
            </a:r>
          </a:p>
          <a:p xmlns:a="http://schemas.openxmlformats.org/drawingml/2006/main"/>
          <a:p xmlns:a="http://schemas.openxmlformats.org/drawingml/2006/main">
            <a:r>
              <a:t>代码基线：09af76c。项目与源码：https://github.com/fangluyang7-debug/Cixin/tree/codex/cixin-multi-device-runtime/cixin-agent。逐页规划：cixin-agent/docs/初赛PPT逐页规划-V2-端云协同调度.md。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本页按项目定义、具体痛点、目标用户和 Agent 核心价值展开。芯枢是任务级端云协同调度中间件，运行在 P1，复用合法工具和模型接口，不接管内核或芯片驱动。目标用户和调用频率属于拟定产品定位，未开展用户规模调查，不编造市场数字。购物仅作为具体验证场景，后续插件复用是设计目标。减少等待与开发成本是待通过同质量对照验证的目标，不是已获得的实验结论。当前代码基线09af76c。源码：https://github.com/fangluyang7-debug/Cixin/tree/codex/cixin-multi-device-runtime/cixin-agent 。赛事要求：https://developer.cixtech.com/EcoCompetition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用购物说明端云闭环，而非把购物功能当核心作品。Embedding 是把图片转为检索用特征向量的本地模型；向量检索/预算尺码过滤是程序。是否需要云复核由工具质量规则决定，不能擅自降低质量。当前TaskGraph按拓扑串行执行。云规划、自动重规划和输出业务验证待实现。官方赛道要求来自用户提供截图及 https://developer.cixtech.com/EcoCompetition 。</a:t>
            </a:r>
          </a:p>
          <a:p xmlns:a="http://schemas.openxmlformats.org/drawingml/2006/main">
            <a:pPr lvl="0">
              <a:buNone/>
            </a:pPr>
          </a:p>
          <a:p xmlns:a="http://schemas.openxmlformats.org/drawingml/2006/main">
            <a:pPr lvl="0">
              <a:buNone/>
            </a:pPr>
            <a:r>
              <a:t>代码基线：09af76c。项目与源码：https://github.com/fangluyang7-debug/Cixin/tree/codex/cixin-multi-device-runtime/cixin-agent。逐页规划：cixin-agent/docs/初赛PPT逐页规划-V2-端云协同调度.md。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完整数据流为目标架构。云Planner是待建设接口，TaskGraph回P1校验，云模型不能直接控制P1硬件。云端仅基于API额度、限流、质量与请求预算准入，不承诺托管云物理硬件分配。反馈既含工具结果也含实际配置和耗时，本地资源采样用于调度输入。现有CPU工具和通用Worker宿主已实现，真实NOE与云执行未集成。来源：src/contracts/cixin.ts、src/runtime/fleet-runtime.ts、src/runtime/board-node.ts。</a:t>
            </a:r>
          </a:p>
          <a:p xmlns:a="http://schemas.openxmlformats.org/drawingml/2006/main">
            <a:pPr lvl="0">
              <a:buNone/>
            </a:pPr>
            <a:r>
              <a:t/>
            </a:r>
          </a:p>
          <a:p xmlns:a="http://schemas.openxmlformats.org/drawingml/2006/main">
            <a:pPr lvl="0">
              <a:buNone/>
            </a:pPr>
            <a:r>
              <a:t>代码基线：09af76c。项目与源码：https://github.com/fangluyang7-debug/Cixin/tree/codex/cixin-multi-device-runtime/cixin-agent。逐页规划：cixin-agent/docs/初赛PPT逐页规划-V2-端云协同调度.md。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候选为本次补充建议，不是既有部署事实。CLIP ViT-B/32 视觉编码用于图片检索，MIT许可来源 https://github.com/openai/CLIP 。云候选 Qwen/Qwen2.5-VL-7B-Instruct 官方模型卡 https://huggingface.co/Qwen/Qwen2.5-VL-7B-Instruct ，图文/结构化能力、Apache-2.0。AnyInt模型清单未核验，不能保证提供该具体型号或版本。https://2026agentic-ai.readthedocs.io/en/latest/cloud-models/index.html 推荐应用API、OpenAI Chat Completions兼容协议。端侧 https://2026agentic-ai.readthedocs.io/en/latest/edge-ai/index.html 给出NOE Embedding路线，非任意CLIP已兼容承诺。优先核对 https://modelscope.cn/models/cix/ai_model_hub_26_Q2 。如更换编码模型须重建索引并重验质量。候选并非宣称最优或调研最终结论。服务条款与开源权重许可分别核对。</a:t>
            </a:r>
          </a:p>
          <a:p xmlns:a="http://schemas.openxmlformats.org/drawingml/2006/main">
            <a:pPr lvl="0">
              <a:buNone/>
            </a:pPr>
            <a:r>
              <a:t/>
            </a:r>
          </a:p>
          <a:p xmlns:a="http://schemas.openxmlformats.org/drawingml/2006/main">
            <a:pPr lvl="0">
              <a:buNone/>
            </a:pPr>
            <a:r>
              <a:t>代码基线：09af76c。项目与源码：https://github.com/fangluyang7-debug/Cixin/tree/codex/cixin-multi-device-runtime/cixin-agent。逐页规划：cixin-agent/docs/初赛PPT逐页规划-V2-端云协同调度.md。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依据package.json：typescript ^5.7.2、Node&gt;=22，package-lock锁定TypeScript 5.9.3，没有LangChain/AutoGen依赖。现有FleetRuntime按拓扑序串行调度，工具执行器不是多个LLM Agent。TaskGraph/ToolRegistry及合法档位接口解耦业务与模型。现有轻量成本模型分环境存储样本，完整云路径成本待接入。框架比较是团队当前取舍，不声称通用框架不能做资源调度。固定调用链是后续实验对照。工具descriptor支持retry字段不等于整图自动重试已完成。</a:t>
            </a:r>
          </a:p>
          <a:p xmlns:a="http://schemas.openxmlformats.org/drawingml/2006/main">
            <a:pPr lvl="0">
              <a:buNone/>
            </a:pPr>
            <a:r>
              <a:t/>
            </a:r>
          </a:p>
          <a:p xmlns:a="http://schemas.openxmlformats.org/drawingml/2006/main">
            <a:pPr lvl="0">
              <a:buNone/>
            </a:pPr>
            <a:r>
              <a:t>代码基线：09af76c。项目与源码：https://github.com/fangluyang7-debug/Cixin/tree/codex/cixin-multi-device-runtime/cixin-agent。逐页规划：cixin-agent/docs/初赛PPT逐页规划-V2-端云协同调度.md。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官方环境 https://2026agentic-ai.readthedocs.io/en/latest/environment/index.html 说明Debian12/Linux6.6/P1 SDK2026Q2，BSP按板型不同。源码deploy/cixin-agent.service；plugins/process-worker.ts使用spawn、stdin/stdout JSON进行probe/execute；runtime/util.ts本地JSON临时文件rename；plugins/vector-search.ts精确余弦遍历、输入上限10000。部署方式为现有systemd文件与计划中的ARM64执行。云数据库COS是协作者可迁移业务资产，独立cixinRuntime尚未接好。精确检索选择作为质量基线，未来近似索引必须验证召回与成本。</a:t>
            </a:r>
          </a:p>
          <a:p xmlns:a="http://schemas.openxmlformats.org/drawingml/2006/main">
            <a:pPr lvl="0">
              <a:buNone/>
            </a:pPr>
            <a:r>
              <a:t/>
            </a:r>
          </a:p>
          <a:p xmlns:a="http://schemas.openxmlformats.org/drawingml/2006/main">
            <a:pPr lvl="0">
              <a:buNone/>
            </a:pPr>
            <a:r>
              <a:t>代码基线：09af76c。项目与源码：https://github.com/fangluyang7-debug/Cixin/tree/codex/cixin-multi-device-runtime/cixin-agent。逐页规划：cixin-agent/docs/初赛PPT逐页规划-V2-端云协同调度.md。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来源：https://developer.cixtech.com 与 BSP 说明：6nm，12 核 Armv9.2 三簇 CPU （4×Cortex-A720 大核 + 4×Cortex-A720 中核 + 4×Cortex-A520 能效核）、10 核 Arm Immortalis G720 GPU、30 TOPS NPU（Arm-China Zhouyi，部分板卡标称 28.8 TOPS，合计约 45 TOPS 异构算力）、LPDDR5 128bit 最高约 6400MT/s、最大 64GB 共享内存；参考 32GB 开发板。端侧 https://2026agentic-ai.readthedocs.io/en/latest/edge-ai/index.html 给出 NOE/NPU 的 Embedding 路线。CPU 画像按系统累计计数差分采集，不假设同构核；NPU 是否可用由模型探测与清单后端决定，CPU 回退不冒报为 NPU。容量预算只是示例：100M×1byte=100MB；100000×512×4byte=204.8MB，不是锁定模型测量。首版不依赖本地 LLM 或 GPU。已有适配：CPU 差分、Linux MemAvailable、可配置 sysfs、环境指纹、Worker 摘要与实际后端验证。尚无 P1 实机验收，具体 BSP、驱动与实测内存峰值待获板核对。</a:t>
            </a:r>
          </a:p>
          <a:p xmlns:a="http://schemas.openxmlformats.org/drawingml/2006/main"/>
          <a:p xmlns:a="http://schemas.openxmlformats.org/drawingml/2006/main">
            <a:r>
              <a:t>代码基线：09af76c。项目与源码：https://github.com/fangluyang7-debug/Cixin/tree/codex/cixin-multi-device-runtime/cixin-agent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截图来自之前实际启动的Windows x64 / Node24.19.0 Runtime，代码基线未变。工具catalog.vector_search，query=[1,0,0]，shoe-a=[1,0,0]，shoe-b=[0,1,0]，结果1和0。7ms为单次微型任务执行端记录，不是端到端性能实验。27项自动化测试已有通过证据，双localhost协议demo使用指定远端和降低样本门槛，不能当作自动调度加速证据。P1/NOE、云规划、云执行、商品图片业务尚未集成。</a:t>
            </a:r>
          </a:p>
          <a:p xmlns:a="http://schemas.openxmlformats.org/drawingml/2006/main">
            <a:pPr lvl="0">
              <a:buNone/>
            </a:pPr>
          </a:p>
          <a:p xmlns:a="http://schemas.openxmlformats.org/drawingml/2006/main">
            <a:pPr lvl="0">
              <a:buNone/>
            </a:pPr>
            <a:r>
              <a:t>代码基线：09af76c。项目与源码：https://github.com/fangluyang7-debug/Cixin/tree/codex/cixin-multi-device-runtime/cixin-agent。逐页规划：cixin-agent/docs/初赛PPT逐页规划-V2-端云协同调度.md。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团队和正式期限待定，此页是相对工作计划。与上一版相比，端云调度与P1闭环是首要交付，技能复用属于后续增量，避免主创新开发阻塞赛道基本要求。需优先完成真实云调用、输入驻留与外发规则、NOE模型执行和成本校准，不能将桌面fixture代替获板验收。</a:t>
            </a:r>
          </a:p>
          <a:p xmlns:a="http://schemas.openxmlformats.org/drawingml/2006/main">
            <a:pPr lvl="0">
              <a:buNone/>
            </a:pPr>
          </a:p>
          <a:p xmlns:a="http://schemas.openxmlformats.org/drawingml/2006/main">
            <a:pPr lvl="0">
              <a:buNone/>
            </a:pPr>
            <a:r>
              <a:t>代码基线：09af76c。项目与源码：https://github.com/fangluyang7-debug/Cixin/tree/codex/cixin-multi-device-runtime/cixin-agent。逐页规划：cixin-agent/docs/初赛PPT逐页规划-V2-端云协同调度.md。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团队真实个人信息未提供，不编造成员数量、获奖、用户规模或技术资历。云端资产指同仓库harmony-agent/original_app相关接口，可复用不等于已集成进cixin-agent。</a:t>
            </a:r>
          </a:p>
          <a:p xmlns:a="http://schemas.openxmlformats.org/drawingml/2006/main">
            <a:pPr lvl="0">
              <a:buNone/>
            </a:pPr>
          </a:p>
          <a:p xmlns:a="http://schemas.openxmlformats.org/drawingml/2006/main">
            <a:pPr lvl="0">
              <a:buNone/>
            </a:pPr>
            <a:r>
              <a:t>代码基线：09af76c。项目与源码：https://github.com/fangluyang7-debug/Cixin/tree/codex/cixin-multi-device-runtime/cixin-agent。逐页规划：cixin-agent/docs/初赛PPT逐页规划-V2-端云协同调度.md。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输入画像分为三类且职责分离：任务画像（类型/规模/时限/质量，来自 ToolDescriptor 与 TaskContext）、设备画像（能力/资源/热状态/已加载模型，来自 BoardAdapter 与 PlacementDeviceProfile）、网络画像（RTT/带宽/时效，来自真实 Quote 实测）。三者互不冒充，设备与网络画像过期即失效。现有 ConstrainedPolicy、AdaptiveCostModel 和 FleetRuntime 具备设备/配置候选、硬约束、本地复核及回执反馈基础；云候选需新增独立 CloudExecutor/Planner 及外发许可。质量不能靠速度得分抵消；工具没有兼容实现时不构造替代能力。现有默认本地单槽，CPU 向量插件实际单 Worker，不能以预算 2 表示已经双 Worker 加速。</a:t>
            </a:r>
          </a:p>
          <a:p xmlns:a="http://schemas.openxmlformats.org/drawingml/2006/main"/>
          <a:p xmlns:a="http://schemas.openxmlformats.org/drawingml/2006/main">
            <a:r>
              <a:t>代码基线：09af76c。项目与源码：https://github.com/fangluyang7-debug/Cixin/tree/codex/cixin-multi-device-runtime/cixin-agent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AdaptiveCostModel采用EWMA：旧均值0.75 + 新样本0.25，结合偏差和近期分位数，不宣称统计上校准的置信区间。256桶、每桶50条为现实现限制。云链路需输入所在位置、输出去向、字节数、链路带宽、存储读写、队列/限流、费用、签名时效。数据已经在COS时不再假设手机重新上传；Worker耗时已包含加载时不能再次计入。调度自身耗时与网络Quote等待分开测量。</a:t>
            </a:r>
          </a:p>
          <a:p xmlns:a="http://schemas.openxmlformats.org/drawingml/2006/main">
            <a:pPr lvl="0">
              <a:buNone/>
            </a:pPr>
          </a:p>
          <a:p xmlns:a="http://schemas.openxmlformats.org/drawingml/2006/main">
            <a:pPr lvl="0">
              <a:buNone/>
            </a:pPr>
            <a:r>
              <a:t>代码基线：09af76c。项目与源码：https://github.com/fangluyang7-debug/Cixin/tree/codex/cixin-multi-device-runtime/cixin-agent。逐页规划：cixin-agent/docs/初赛PPT逐页规划-V2-端云协同调度.md。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320ms算式是人为构造的说明例，不能计算并对外宣传加速倍数。完整可行性仍需模型/工具兼容性和质量验证、设备白名单、授权、样本门槛、剩余预算。示例假设收益差满足切换阈值。若云模型不具备相同输出契约，不列为同一步骤替代候选。2秒时限用于使三行速度例均可行；两侧均不可行不能自动强行执行。</a:t>
            </a:r>
          </a:p>
          <a:p xmlns:a="http://schemas.openxmlformats.org/drawingml/2006/main">
            <a:pPr lvl="0">
              <a:buNone/>
            </a:pPr>
          </a:p>
          <a:p xmlns:a="http://schemas.openxmlformats.org/drawingml/2006/main">
            <a:pPr lvl="0">
              <a:buNone/>
            </a:pPr>
            <a:r>
              <a:t>代码基线：09af76c。项目与源码：https://github.com/fangluyang7-debug/Cixin/tree/codex/cixin-multi-device-runtime/cixin-agent。逐页规划：cixin-agent/docs/初赛PPT逐页规划-V2-端云协同调度.md。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TTL并不消除传感器和网络延迟。现默认CPU/内存/链路3秒、温度30秒，按样本年龄判断；Quote按需存活检查不是后台广播发现。目标再采样仍须保守。响应丢失状态unknown，不自动退回本地重复执行；reconcile查询原尝试。取消须等待实际停止。状态文件原子替换不等于数据库级exactly-once，图级自动恢复和整体取消当前不完善。</a:t>
            </a:r>
          </a:p>
          <a:p xmlns:a="http://schemas.openxmlformats.org/drawingml/2006/main">
            <a:pPr lvl="0">
              <a:buNone/>
            </a:pPr>
          </a:p>
          <a:p xmlns:a="http://schemas.openxmlformats.org/drawingml/2006/main">
            <a:pPr lvl="0">
              <a:buNone/>
            </a:pPr>
            <a:r>
              <a:t>代码基线：09af76c。项目与源码：https://github.com/fangluyang7-debug/Cixin/tree/codex/cixin-multi-device-runtime/cixin-agent。逐页规划：cixin-agent/docs/初赛PPT逐页规划-V2-端云协同调度.md。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SkillCompiler/Validator/Registry/Resolver待实现，首版只生成由已注册工具构成的受限JSON流程，不生成任意Shell。技能复用不能绕过授权、质量和当前资源调度。此处系统创新是流程验证与资源约束联动，不宣称技能库/任务图/EWMA是首创。评价需计入提取、验证、回退成本，并与人工模板比较。</a:t>
            </a:r>
          </a:p>
          <a:p xmlns:a="http://schemas.openxmlformats.org/drawingml/2006/main">
            <a:pPr lvl="0">
              <a:buNone/>
            </a:pPr>
          </a:p>
          <a:p xmlns:a="http://schemas.openxmlformats.org/drawingml/2006/main">
            <a:pPr lvl="0">
              <a:buNone/>
            </a:pPr>
            <a:r>
              <a:t>代码基线：09af76c。项目与源码：https://github.com/fangluyang7-debug/Cixin/tree/codex/cixin-multi-device-runtime/cixin-agent。逐页规划：cixin-agent/docs/初赛PPT逐页规划-V2-端云协同调度.md。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实验保持同输入、模型、数据、质量门槛与硬件状态，区分冷启动/热运行，记录样本数和故障注入条件。不要把调度CPU时间与Quote网络等待混为一项；延迟看用户端到端，不只工具执行端。技能验证成本要纳入累计收益。可复用接口为TaskGraph/ToolDescriptor、Runtime API和probe/execute Worker协议，通用性限于已注册兼容工具。</a:t>
            </a:r>
          </a:p>
          <a:p xmlns:a="http://schemas.openxmlformats.org/drawingml/2006/main">
            <a:pPr lvl="0">
              <a:buNone/>
            </a:pPr>
          </a:p>
          <a:p xmlns:a="http://schemas.openxmlformats.org/drawingml/2006/main">
            <a:pPr lvl="0">
              <a:buNone/>
            </a:pPr>
            <a:r>
              <a:t>代码基线：09af76c。项目与源码：https://github.com/fangluyang7-debug/Cixin/tree/codex/cixin-multi-device-runtime/cixin-agent。逐页规划：cixin-agent/docs/初赛PPT逐页规划-V2-端云协同调度.md。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设备影像是与调度件解耦的板卡通路：调度件复用操作系统的真实资源观测量作为决策输入，与原系统任务共存、不接管内核或驱动；BoardAdapter 只产出 BoardIdentity 与 DeviceState，GlobalPlacementPolicy 只消费 PlacementDeviceProfile，算法不识别具体板型。</a:t>
            </a:r>
          </a:p>
          <a:p>
            <a:r>
              <a:t>画像字段：deviceId / family(cix|host) / boardModel / OS / 内核 / 架构 / Node 运行时，environmentKey = 摘要(板型+内核+架构+运行时)；资源/链路 3s、温度 30s 时效；目标以 bootId 防止重启后复用旧画像。</a:t>
            </a:r>
          </a:p>
          <a:p>
            <a:r>
              <a:t>P1 专项适配：1) mains 供电，batteryApplicable=false、batteryPercent=null，去掉手机电池启发式，但未知温度/内存仍按保守策略；2) 内存读 /proc/meminfo MemAvailable，按绝对阈值与比例判压，适配共享 LPDDR5；3) 温度读可配置 sysfs 路径并按毫摄氏度换算，warm/hot/critical 阈值可配置，读不到即 UNKNOWN 不伪造；4) NPU/GPU 只有在模型探测通过且清单声明该后端时才作为可用后端，缺失能力在 snapshot 的 missingCapabilities 显式列出，CPU 回退不冒报为 NPU；5) 板型从 /proc/device-tree/model 读取或显式配置，family=cix 强制 Linux ARM64；6) 全局放置按 environmentKey 隔离成本样本，最多 64 设备，多板异构不共享样本。</a:t>
            </a:r>
          </a:p>
          <a:p>
            <a:r>
              <a:t>以上为代码适配，尚无 P1 实机验收，采样路径与阈值需按实际 BSP 核对。来源：src/platform/linux-board.ts、src/contracts/fleet.ts、src/scheduler/placement/PlacementPolicy.ts、src/runtime/board-node.ts。</a:t>
            </a:r>
          </a:p>
          <a:p/>
          <a:p>
            <a:r>
              <a:t>代码基线：09af76c。项目与源码：https://github.com/fangluyang7-debug/Cixin/tree/codex/cixin-multi-device-runtime/cixin-agent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c9fc5d78545c4c46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60259d6c313c47ff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fb3441bdfd4f46b0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49d3a065e87d44d2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8a6ec699abf54ad5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c1a6b79328404292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3851901c485b42ba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b3e7c1ba16fe4932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343312015de548c9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f2434a3cecb44859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f0c9ef59b5444b0e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53cf75d17de6478a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54ae073a8cc0446f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a6b10eb8cd0642b4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889333b417214ab2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5396508c48ae4a93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9c6e26fb2e864c88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772267e9c02248b2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82b6703295004d78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0d47d066f2ac4639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2a06497f44c144bf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807f55cb827642f8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5f795d9fda684928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ab61155a79894693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8cc9f0dd69a14e82" Type="http://schemas.openxmlformats.org/officeDocument/2006/relationships/slideMaster" Target="../slideMasters/slideMaster2.xml"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590BBA2-99A2-4C50-911E-AA87CC5D555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8BA824D-37AC-46B9-AD82-8A63EED1164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7F54D09-CAFE-4D6E-A0EC-554C5FCB38B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1A00A5E-2B82-45F9-84F6-C8ECFAF4EC8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1C4FA2D-6036-4974-A5AE-B3D5BC52D5A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A110F8E-69FE-405A-B8B2-8E6AC86162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D8D9D-AC5F-45BB-9610-82C84763947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ADD9A69-AEF6-4164-8B2D-70C8749E1BF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4D02843-425F-4F53-BA77-C88B4028577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E2C9CC0-0F3C-40B4-BDDA-548C33D751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5DE1302-5653-453F-B7BF-45FD1238A1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F93F2C2-A6C3-4E1E-802D-84B9B25ECD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1F7FFC7-4C01-40BE-B67D-A155542452E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D3D1086-00E1-47F5-B726-5DB6B660F0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AF1712D-A796-4FCD-B190-1D439491EC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9705863-CBAE-47B6-B7D7-951C3943A9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F27A57-1137-4991-83AA-A9EDE0B41B2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0C1C809-3D17-40DE-8C07-A8A046A7D83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A0F6128-8400-445F-9DA7-C968FC7E2A8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C8DEADD-F4C1-4CF7-8C2F-5883F8C9079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5F6C915-F59F-4A96-BC79-D694BD99D0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B5B597F-B8F1-4686-A430-076306095D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2F7E966-E84B-443E-9D84-7B020FF03D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C4AF3B4-C554-4A61-B822-8821A94D3A6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603C07B-9725-488C-B581-B27C358635D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05F2E9D8-8F4C-413A-99CA-6ACACF909B82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11D208E-CFD1-48E6-B9F0-C60788C568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AE213B9-2016-4317-8113-C84F55F3C29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BADDA1A7-B4EC-4790-B374-70C56CCBB7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CF6A6A-AFB8-4F84-91C1-1F73D21112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D9ED955-A6BA-4DB8-BB87-45E31506CD2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D47A94B7-1A07-41BC-8050-A3A71AD1B2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2EF894F-AB56-4FD7-99E8-10E9DB4E1C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A6BEF91-419B-4349-9A68-3135B722EFB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69C5DEBB-5372-4177-AF96-B6E5E83C28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DEAC354-E70A-4830-8EB0-A105F809C2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DA97E24-869E-4405-9782-692E983338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36EE296-D6EC-46EA-AA3D-267229B4794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6189F59-2732-42A7-8CCC-8A02328257B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86CFBB7-FC1E-46A4-A5EA-42EC3A7B35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C07D4FD-4378-4F82-A12B-BB6E11E9143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7F073D2-3067-4197-84F7-7FC6A9D583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0AF44C0-1EF0-4B12-965A-B2CA7BFF70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E4EEF1A-CA1B-433A-8117-86713A19404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8FC260C-F208-4B50-9F25-7738AA7D730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E3A985C-1C92-4BF7-BD0C-A9C7C9C7A5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E8878D0-8F68-48D9-B68C-AD0079AF2C8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93C9529-1459-4384-B3C1-287E6289E2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9B1B0FF-2215-4F6C-AB7B-808CB2550D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C166017-445D-46D8-9365-D4EF5889AD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04F02B-867E-43E3-856F-0116BEFFEB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A19071E-7DCD-44D4-A908-0EBA820C64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9D35D8C-5D50-445F-9FBC-CD3EBB1199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0BF9ADC1-1955-4BA9-A680-287985C519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F8DFA62-2A25-4D69-A9D4-0E7BDA3D5B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F8F03A-142B-4088-8FD4-F445105F4C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A068139-148B-48B3-A359-FC8301B5DB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F8B4594-3EA8-4F7E-B324-EA777C277B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6E1DA49-BB5D-43FD-84CA-B8BC82F601A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98800" y="914400"/>
            <a:ext cx="9799200" cy="257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0000" tIns="46800" rIns="90000" bIns="46800" anchor="b">
            <a:normAutofit/>
          </a:bodyPr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EA3CB6BA-8549-4825-B1B2-5F6B1DFB346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98800" y="3560400"/>
            <a:ext cx="9799200" cy="147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16" name="日期占位符 15">
            <a:extLst xmlns:a="http://schemas.openxmlformats.org/drawingml/2006/main">
              <a:ext uri="{FF2B5EF4-FFF2-40B4-BE49-F238E27FC236}">
                <a16:creationId xmlns:a16="http://schemas.microsoft.com/office/drawing/2014/main" id="{94ACD042-6FF3-4CB8-82A4-82B9FC22CF6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120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页脚占位符 16">
            <a:extLst xmlns:a="http://schemas.openxmlformats.org/drawingml/2006/main">
              <a:ext uri="{FF2B5EF4-FFF2-40B4-BE49-F238E27FC236}">
                <a16:creationId xmlns:a16="http://schemas.microsoft.com/office/drawing/2014/main" id="{C5D27B10-C4DF-4A0E-B424-8A9A1B05E4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灯片编号占位符 17">
            <a:extLst xmlns:a="http://schemas.openxmlformats.org/drawingml/2006/main">
              <a:ext uri="{FF2B5EF4-FFF2-40B4-BE49-F238E27FC236}">
                <a16:creationId xmlns:a16="http://schemas.microsoft.com/office/drawing/2014/main" id="{0B2BD8E1-D8C2-4856-A88D-0A1EFBCCBC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776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97015B8-86C4-4C73-9C30-D738B93540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E3618A3C-0017-49AA-904E-EAA2650DDFF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8400" y="1490400"/>
            <a:ext cx="10969200" cy="475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27D8A12-C06B-4FFE-85B9-47325F85239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120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2614ABD-04F5-4C70-BC5D-5373A7E84C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B6DD2F3-8FCC-49FC-B858-E13ADD78B5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776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640C5C9-C51D-4F89-BC84-BF35FB4C2BF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990800" y="3848400"/>
            <a:ext cx="7768800" cy="7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0000" tIns="46800" rIns="90000" bIns="46800" anchor="b">
            <a:normAutofit/>
          </a:bodyPr>
          <a:lstStyle xmlns:a="http://schemas.openxmlformats.org/drawingml/2006/main">
            <a:lvl1pPr>
              <a:buNone/>
              <a:defRPr sz="4400"/>
            </a:lvl1pPr>
          </a:lstStyle>
          <a:p xmlns:a="http://schemas.openxmlformats.org/drawingml/2006/main">
            <a:r>
              <a:t>单击此处编辑标题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6A5A4D0-9127-4B54-8483-3D8652BA2AC6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1990800" y="4615200"/>
            <a:ext cx="7768800" cy="86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765C381-4652-4B8A-BEB8-1539CFBA5B2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120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D060D44-1D22-4C29-B4AE-5C5FCFBB06A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E3C00E7-D98B-4E67-914D-1A88350BE6F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776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34C86E5-05CD-41F8-A6E6-4CEDC2A648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73863C1-624B-4ED7-AD94-CC5DA2027DD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8400" y="1501200"/>
            <a:ext cx="5176800" cy="474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D76F0C59-F694-4C27-BFBB-B6882E8D107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411600" y="1501200"/>
            <a:ext cx="5176800" cy="474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01CD964-E31E-4E5E-87AE-B1BF8BD323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120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E70A1F7-FE4E-447B-A34C-1AC45579CDA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21DE01E-E358-4964-9A35-E0E926914D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776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A7BEC20-63B7-4235-B46E-BE627FB3BA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ED05DD1-E034-4617-9BAA-CEADC22EB1B9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08400" y="1404000"/>
            <a:ext cx="5342400" cy="41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048DE783-FA92-4064-83C0-3CB4E71C1FA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8400" y="1854000"/>
            <a:ext cx="5342400" cy="439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79DDF4C-8D9E-43BF-AE96-6B61339B190B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6235750" y="1404000"/>
            <a:ext cx="5342400" cy="41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01600" tIns="38100" rIns="76200" bIns="38100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单击此处编辑文本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1846A0C7-9B09-4765-A7B7-7ABC5DA4C55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235750" y="1854000"/>
            <a:ext cx="5342400" cy="439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01600" tIns="0" rIns="8255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BA2AD6AE-A685-44B9-98FA-D55E63BB0A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120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7713C838-19AE-4ABE-AFF0-E675DB0326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7438402A-0C97-4D2F-BAE6-4C644B6318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776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8633D45-D419-4B10-9C8B-8968AEC75D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E554FB2A-3F95-482B-A8D3-13B970918CC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120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DF7A71F8-BFBF-454D-BA0B-8BC30AAD459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706C91CD-37DF-46B5-BF3A-41D7732C32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776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86C5717-7A6E-4604-A02B-3F7BD3F1FFB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120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23FEE954-5A3E-4093-89E1-14474A3DF5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A52A3E4-0AA2-46DD-81EB-60FF9EED2F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776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0CAC6B1C-B353-4D14-AFC9-2579A751B713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08400" y="1555200"/>
            <a:ext cx="5233077" cy="460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A77EA5A-338F-48EC-8943-E39C6616DC1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350400" y="1555200"/>
            <a:ext cx="5227200" cy="460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>
            <a:normAutofit/>
          </a:bodyPr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044343F-B984-42D7-A51E-813EC77A8E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120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EC3E510-C939-44BE-8F80-CD2BC15AF8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5FC589D4-FEF6-4923-AFA7-EF8CB9ED73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776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3C7745F1-A6B1-43E4-8815-6745350228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8400" y="608400"/>
            <a:ext cx="10969200" cy="70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2D95169A-F8AA-4938-BB75-48C517CE740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234800" y="914400"/>
            <a:ext cx="1044000" cy="502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 lIns="90000" tIns="46800" rIns="90000" bIns="46800" anchor="ctr">
            <a:normAutofit/>
          </a:bodyPr>
          <a:lstStyle xmlns:a="http://schemas.openxmlformats.org/drawingml/2006/main">
            <a:lvl1pPr>
              <a:buNone/>
              <a:defRPr sz="2800"/>
            </a:lvl1pPr>
          </a:lstStyle>
          <a:p xmlns:a="http://schemas.openxmlformats.org/drawingml/2006/main">
            <a:pPr lvl="0">
              <a:buNone/>
            </a:pPr>
            <a:r>
              <a:t>单击此处编辑标题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594D2441-2C97-4812-8376-725CFC51D1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14400" y="914400"/>
            <a:ext cx="9169200" cy="502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 lIns="46800" tIns="46800" rIns="46800" bIns="46800"/>
          <a:lstStyle xmlns:a="http://schemas.openxmlformats.org/drawingml/2006/main">
            <a:lvl1pPr marL="228600" indent="-228600">
              <a:spcAft>
                <a:spcPts val="1000"/>
              </a:spcAft>
              <a:buNone/>
              <a:defRPr spc="300"/>
            </a:lvl1pPr>
            <a:lvl2pPr marL="685800" indent="-228600">
              <a:buNone/>
              <a:defRPr spc="300"/>
            </a:lvl2pPr>
            <a:lvl3pPr marL="1143000" indent="-228600">
              <a:buNone/>
              <a:defRPr spc="300"/>
            </a:lvl3pPr>
            <a:lvl4pPr marL="1600200" indent="-228600">
              <a:buNone/>
              <a:defRPr spc="300"/>
            </a:lvl4pPr>
            <a:lvl5pPr marL="2057400" indent="-228600">
              <a:buNone/>
              <a:defRPr spc="300"/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C03402A-CF75-4A1F-AA0D-86346E1663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120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2B40472-74D6-4379-97D7-E6F5E30520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4F91466-9531-4971-A137-F4D1462CC93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776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875C5CDF-12CD-432C-B25C-B68052C09F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120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D595F4B8-EBA5-4453-AD17-7B96376A13B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D5BA107D-DAB4-4532-B767-CCE65936CA6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776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C42AC2CA-5B06-42BE-AFB8-F40B7C94971A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08400" y="774000"/>
            <a:ext cx="10972800" cy="5482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EAD550CE-76E4-4374-9E43-FCBAE00030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120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F1AD7209-BA56-453D-B4EE-C22B042ED6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16000" y="6314400"/>
            <a:ext cx="396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2DEF7967-F296-4862-AF3B-96DB516DE1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877600" y="6314400"/>
            <a:ext cx="2700000" cy="31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930673B-7F15-473F-AFED-68B024A9E7E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198800" y="2397600"/>
            <a:ext cx="9799200" cy="110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 anchor="t">
            <a:normAutofit/>
          </a:bodyPr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pPr lvl="0">
              <a:buNone/>
            </a:pPr>
            <a:r>
              <a:t>单击此处编辑标题</a:t>
            </a:r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7D262FAF-6114-48B9-BEBA-93534B92D75B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98800" y="3560400"/>
            <a:ext cx="97992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algn="ctr">
              <a:lnSpc>
                <a:spcPct val="110000"/>
              </a:lnSpc>
              <a:buNone/>
              <a:defRPr sz="2400" spc="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4.xml><?xml version="1.0" encoding="utf-8"?>
<p:sldLayout xmlns:p="http://schemas.openxmlformats.org/presentationml/2006/main" userDrawn="1">
  <p:cSld name="2 column slide 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9807C08-8A11-4C2D-B2E0-27C154093061}"/>
              </a:ext>
            </a:extLst>
          </p:cNvPr>
          <p:cNvSpPr>
            <a:spLocks xmlns:a="http://schemas.openxmlformats.org/drawingml/2006/main" noGrp="1"/>
          </p:cNvSpPr>
          <p:nvPr>
            <p:ph idx="19" hasCustomPrompt="1"/>
          </p:nvPr>
        </p:nvSpPr>
        <p:spPr>
          <a:xfrm xmlns:a="http://schemas.openxmlformats.org/drawingml/2006/main">
            <a:off x="341681" y="2202443"/>
            <a:ext cx="5515504" cy="3933245"/>
          </a:xfrm>
        </p:spPr>
        <p:txBody>
          <a:bodyPr xmlns:a="http://schemas.openxmlformats.org/drawingml/2006/main"/>
          <a:lstStyle xmlns:a="http://schemas.openxmlformats.org/drawingml/2006/main">
            <a:lvl1pPr marL="34290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E2FF1"/>
              </a:buClr>
              <a:buFont typeface="Arial"/>
              <a:buChar char="•"/>
              <a:defRPr sz="2000">
                <a:solidFill>
                  <a:schemeClr val="tx1"/>
                </a:solidFill>
              </a:defRPr>
            </a:lvl1pPr>
            <a:lvl2pPr marL="581660" indent="-167005" algn="l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/>
              <a:buChar char="•"/>
              <a:defRPr>
                <a:solidFill>
                  <a:schemeClr val="tx1"/>
                </a:solidFill>
              </a:defRPr>
            </a:lvl2pPr>
            <a:lvl3pPr marL="947420" indent="-167005" algn="l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/>
              <a:buChar char="•"/>
              <a:defRPr>
                <a:solidFill>
                  <a:schemeClr val="tx1"/>
                </a:solidFill>
              </a:defRPr>
            </a:lvl3pPr>
            <a:lvl4pPr marL="1293495" indent="-173355" algn="l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1518920" indent="-168275" algn="l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907C05F-84BB-4D57-BA23-09012536732F}"/>
              </a:ext>
            </a:extLst>
          </p:cNvPr>
          <p:cNvSpPr>
            <a:spLocks xmlns:a="http://schemas.openxmlformats.org/drawingml/2006/main" noGrp="1"/>
          </p:cNvSpPr>
          <p:nvPr>
            <p:ph idx="21" hasCustomPrompt="1"/>
          </p:nvPr>
        </p:nvSpPr>
        <p:spPr>
          <a:xfrm xmlns:a="http://schemas.openxmlformats.org/drawingml/2006/main">
            <a:off x="6339946" y="2202442"/>
            <a:ext cx="5517085" cy="3933246"/>
          </a:xfrm>
        </p:spPr>
        <p:txBody>
          <a:bodyPr xmlns:a="http://schemas.openxmlformats.org/drawingml/2006/main"/>
          <a:lstStyle xmlns:a="http://schemas.openxmlformats.org/drawingml/2006/main"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E2FF1"/>
              </a:buClr>
              <a:buFont typeface="Arial"/>
              <a:buChar char="•"/>
              <a:defRPr sz="2000">
                <a:solidFill>
                  <a:schemeClr val="tx1"/>
                </a:solidFill>
              </a:defRPr>
            </a:lvl1pPr>
            <a:lvl2pPr marL="581660" indent="-167005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/>
              <a:buChar char="•"/>
              <a:defRPr>
                <a:solidFill>
                  <a:schemeClr val="tx1"/>
                </a:solidFill>
              </a:defRPr>
            </a:lvl2pPr>
            <a:lvl3pPr marL="947420" indent="-167005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/>
              <a:buChar char="•"/>
              <a:defRPr>
                <a:solidFill>
                  <a:schemeClr val="tx1"/>
                </a:solidFill>
              </a:defRPr>
            </a:lvl3pPr>
            <a:lvl4pPr marL="1293495" indent="-173355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1518920" indent="-168275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3" name="Title 1">
            <a:extLst xmlns:a="http://schemas.openxmlformats.org/drawingml/2006/main">
              <a:ext uri="{FF2B5EF4-FFF2-40B4-BE49-F238E27FC236}">
                <a16:creationId xmlns:a16="http://schemas.microsoft.com/office/drawing/2014/main" id="{769BFE38-4993-4523-90DE-5D2F5D65625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34963" y="333375"/>
            <a:ext cx="11233150" cy="451869"/>
          </a:xfrm>
        </p:spPr>
        <p:txBody>
          <a:bodyPr xmlns:a="http://schemas.openxmlformats.org/drawingml/2006/main" anchor="t"/>
          <a:lstStyle xmlns:a="http://schemas.openxmlformats.org/drawingml/2006/main">
            <a:lvl1pPr>
              <a:buNone/>
              <a:defRPr sz="3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Edit Title Style</a:t>
            </a:r>
          </a:p>
        </p:txBody>
      </p:sp>
      <p:sp>
        <p:nvSpPr>
          <p:cNvPr id="5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3709A6B1-5B65-4B1A-B269-D5319DE20608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334963" y="785244"/>
            <a:ext cx="11233150" cy="3444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200">
                <a:solidFill>
                  <a:schemeClr val="tx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edit text styles</a:t>
            </a:r>
          </a:p>
        </p:txBody>
      </p:sp>
      <p:sp>
        <p:nvSpPr>
          <p:cNvPr id="8" name="Text Placeholder 131">
            <a:extLst xmlns:a="http://schemas.openxmlformats.org/drawingml/2006/main">
              <a:ext uri="{FF2B5EF4-FFF2-40B4-BE49-F238E27FC236}">
                <a16:creationId xmlns:a16="http://schemas.microsoft.com/office/drawing/2014/main" id="{412050E2-10CC-4E26-8128-BC39A3557F02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6339946" y="1629286"/>
            <a:ext cx="5517092" cy="542459"/>
          </a:xfrm>
        </p:spPr>
        <p:txBody>
          <a:bodyPr xmlns:a="http://schemas.openxmlformats.org/drawingml/2006/main" anchor="t"/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/>
              <a:buNone/>
              <a:defRPr b="0">
                <a:solidFill>
                  <a:srgbClr val="6E2FF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edit text styles</a:t>
            </a:r>
          </a:p>
        </p:txBody>
      </p:sp>
      <p:sp>
        <p:nvSpPr>
          <p:cNvPr id="14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69DDD17F-146A-4681-A3FB-D5E6B0C9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31950"/>
            <a:ext cx="0" cy="4440604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bg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Text Placeholder 131">
            <a:extLst xmlns:a="http://schemas.openxmlformats.org/drawingml/2006/main">
              <a:ext uri="{FF2B5EF4-FFF2-40B4-BE49-F238E27FC236}">
                <a16:creationId xmlns:a16="http://schemas.microsoft.com/office/drawing/2014/main" id="{3A36C32B-537A-4016-AC17-A2551EC6E709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341681" y="1629286"/>
            <a:ext cx="5517088" cy="542459"/>
          </a:xfrm>
        </p:spPr>
        <p:txBody>
          <a:bodyPr xmlns:a="http://schemas.openxmlformats.org/drawingml/2006/main" anchor="t"/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/>
              <a:buNone/>
              <a:defRPr b="0">
                <a:solidFill>
                  <a:srgbClr val="6E2FF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edit text styles</a:t>
            </a:r>
          </a:p>
        </p:txBody>
      </p:sp>
    </p:spTree>
  </p:cSld>
</p:sldLayout>
</file>

<file path=ppt/slideLayouts/slideLayout25.xml><?xml version="1.0" encoding="utf-8"?>
<p:sldLayout xmlns:p="http://schemas.openxmlformats.org/presentationml/2006/main" userDrawn="1">
  <p:cSld name="1 column slide w/ Sub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BEC2456-0CBC-4AF6-9636-329F7F5277B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34963" y="333375"/>
            <a:ext cx="11233150" cy="451869"/>
          </a:xfrm>
        </p:spPr>
        <p:txBody>
          <a:bodyPr xmlns:a="http://schemas.openxmlformats.org/drawingml/2006/main" anchor="t"/>
          <a:lstStyle xmlns:a="http://schemas.openxmlformats.org/drawingml/2006/main">
            <a:lvl1pPr>
              <a:buNone/>
              <a:defRPr sz="3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Edit Title Style</a:t>
            </a:r>
          </a:p>
        </p:txBody>
      </p:sp>
      <p:sp>
        <p:nvSpPr>
          <p:cNvPr id="44" name="Text Placeholder 43">
            <a:extLst xmlns:a="http://schemas.openxmlformats.org/drawingml/2006/main">
              <a:ext uri="{FF2B5EF4-FFF2-40B4-BE49-F238E27FC236}">
                <a16:creationId xmlns:a16="http://schemas.microsoft.com/office/drawing/2014/main" id="{F04ABA7C-9F46-4AC7-820A-D47E5FFE6317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334963" y="785244"/>
            <a:ext cx="11233150" cy="3444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200">
                <a:solidFill>
                  <a:srgbClr val="6E2FF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Click to edit text styles</a:t>
            </a:r>
          </a:p>
        </p:txBody>
      </p:sp>
      <p:sp>
        <p:nvSpPr>
          <p:cNvPr id="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4E30438-F873-4AE6-A377-5E3165114B0C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334962" y="1333362"/>
            <a:ext cx="11522075" cy="4937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E2FF1"/>
              </a:buClr>
              <a:buFont typeface="Arial"/>
              <a:buChar char="•"/>
              <a:defRPr sz="2400">
                <a:solidFill>
                  <a:schemeClr val="tx1"/>
                </a:solidFill>
              </a:defRPr>
            </a:lvl1pPr>
            <a:lvl2pPr marL="581660" indent="-167005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/>
              <a:buChar char="•"/>
              <a:defRPr sz="2000">
                <a:solidFill>
                  <a:schemeClr val="tx1"/>
                </a:solidFill>
              </a:defRPr>
            </a:lvl2pPr>
            <a:lvl3pPr marL="855980" indent="-167005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/>
              <a:buChar char="•"/>
              <a:defRPr>
                <a:solidFill>
                  <a:schemeClr val="tx1"/>
                </a:solidFill>
              </a:defRPr>
            </a:lvl3pPr>
            <a:lvl4pPr marL="1202055" indent="-173355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1427480" indent="-168275">
              <a:lnSpc>
                <a:spcPct val="100000"/>
              </a:lnSpc>
              <a:spcAft>
                <a:spcPts val="0"/>
              </a:spcAft>
              <a:buClr>
                <a:srgbClr val="6E2FF1"/>
              </a:buClr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0ab7ce17daf14512" Type="http://schemas.openxmlformats.org/officeDocument/2006/relationships/slideLayout" Target="../slideLayouts/slideLayout6.xml"/><Relationship Id="R0f28f772ca314ecb" Type="http://schemas.openxmlformats.org/officeDocument/2006/relationships/slideLayout" Target="../slideLayouts/slideLayout10.xml"/><Relationship Id="R1b5b58428da94333" Type="http://schemas.openxmlformats.org/officeDocument/2006/relationships/theme" Target="theme/theme2.xml"/><Relationship Id="R368f1ae21b424d42" Type="http://schemas.openxmlformats.org/officeDocument/2006/relationships/slideLayout" Target="../slideLayouts/slideLayout11.xml"/><Relationship Id="R51263e46bb554de6" Type="http://schemas.openxmlformats.org/officeDocument/2006/relationships/slideLayout" Target="../slideLayouts/slideLayout7.xml"/><Relationship Id="R537f644b720b41ec" Type="http://schemas.openxmlformats.org/officeDocument/2006/relationships/slideLayout" Target="../slideLayouts/slideLayout4.xml"/><Relationship Id="R5b588dc8d16d4b9c" Type="http://schemas.openxmlformats.org/officeDocument/2006/relationships/slideLayout" Target="../slideLayouts/slideLayout1.xml"/><Relationship Id="R5bea14e7afa14ebc" Type="http://schemas.openxmlformats.org/officeDocument/2006/relationships/slideLayout" Target="../slideLayouts/slideLayout5.xml"/><Relationship Id="Rb54d54f488d74f4d" Type="http://schemas.openxmlformats.org/officeDocument/2006/relationships/slideLayout" Target="../slideLayouts/slideLayout2.xml"/><Relationship Id="Rb8b20f429f4945e2" Type="http://schemas.openxmlformats.org/officeDocument/2006/relationships/slideLayout" Target="../slideLayouts/slideLayout9.xml"/><Relationship Id="Rc2cfdf88812e4d6f" Type="http://schemas.openxmlformats.org/officeDocument/2006/relationships/slideLayout" Target="../slideLayouts/slideLayout3.xml"/><Relationship Id="Rdfa487061ef74bf9" Type="http://schemas.openxmlformats.org/officeDocument/2006/relationships/slideLayout" Target="../slideLayouts/slideLayout8.xml"/></Relationships>
</file>

<file path=ppt/slideMasters/_rels/slideMaster2.xml.rels><?xml version='1.0' encoding='UTF-8' standalone='yes'?>
<Relationships xmlns="http://schemas.openxmlformats.org/package/2006/relationships"><Relationship Id="R0c6083dd00a943b3" Type="http://schemas.openxmlformats.org/officeDocument/2006/relationships/image" Target="../media/image.png"/><Relationship Id="R1274e6a43acd4430" Type="http://schemas.openxmlformats.org/officeDocument/2006/relationships/slideLayout" Target="../slideLayouts/slideLayout17.xml"/><Relationship Id="R302ca1e0290e4b6d" Type="http://schemas.openxmlformats.org/officeDocument/2006/relationships/slideLayout" Target="../slideLayouts/slideLayout24.xml"/><Relationship Id="R48762c8d33fd461a" Type="http://schemas.openxmlformats.org/officeDocument/2006/relationships/slideLayout" Target="../slideLayouts/slideLayout16.xml"/><Relationship Id="R6aa0d4462912458f" Type="http://schemas.openxmlformats.org/officeDocument/2006/relationships/slideLayout" Target="../slideLayouts/slideLayout19.xml"/><Relationship Id="R712743b0d4f941fb" Type="http://schemas.openxmlformats.org/officeDocument/2006/relationships/slideLayout" Target="../slideLayouts/slideLayout22.xml"/><Relationship Id="R72616b1f9ddc443b" Type="http://schemas.openxmlformats.org/officeDocument/2006/relationships/slideLayout" Target="../slideLayouts/slideLayout25.xml"/><Relationship Id="R8051738c6861433d" Type="http://schemas.openxmlformats.org/officeDocument/2006/relationships/slideLayout" Target="../slideLayouts/slideLayout23.xml"/><Relationship Id="R95fddf15a77a41e4" Type="http://schemas.openxmlformats.org/officeDocument/2006/relationships/slideLayout" Target="../slideLayouts/slideLayout20.xml"/><Relationship Id="R9e2771efd77345d6" Type="http://schemas.openxmlformats.org/officeDocument/2006/relationships/slideLayout" Target="../slideLayouts/slideLayout12.xml"/><Relationship Id="Ra3b6b8ba31344663" Type="http://schemas.openxmlformats.org/officeDocument/2006/relationships/image" Target="../media/image3.png"/><Relationship Id="Rada97362d4a34826" Type="http://schemas.openxmlformats.org/officeDocument/2006/relationships/slideLayout" Target="../slideLayouts/slideLayout18.xml"/><Relationship Id="Rb14895a0d6c54a31" Type="http://schemas.openxmlformats.org/officeDocument/2006/relationships/slideLayout" Target="../slideLayouts/slideLayout14.xml"/><Relationship Id="Rb37e6d8ce4fa43eb" Type="http://schemas.openxmlformats.org/officeDocument/2006/relationships/slideLayout" Target="../slideLayouts/slideLayout15.xml"/><Relationship Id="Rc2ee41a438f948f1" Type="http://schemas.openxmlformats.org/officeDocument/2006/relationships/theme" Target="theme/theme3.xml"/><Relationship Id="Rc540a8da9f7d4d89" Type="http://schemas.openxmlformats.org/officeDocument/2006/relationships/slideLayout" Target="../slideLayouts/slideLayout21.xml"/><Relationship Id="Reae08bc5d17c459d" Type="http://schemas.openxmlformats.org/officeDocument/2006/relationships/image" Target="../media/image2.png"/><Relationship Id="Recd27de530ac48bf" Type="http://schemas.openxmlformats.org/officeDocument/2006/relationships/slideLayout" Target="../slideLayouts/slideLayout13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A021A74-3552-423F-9614-9244A43D5D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0B4D9C9-A659-444D-BE1C-B68C1DFA68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5D1EB83-3213-4632-8320-72A41CD34CC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D26E4F6-9205-4B18-A0EF-DAED5D09FE0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2341CD9-C148-426D-94A4-BCD19ABB378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588dc8d16d4b9c"/>
    <p:sldLayoutId xmlns:r="http://schemas.openxmlformats.org/officeDocument/2006/relationships" id="2147483650" r:id="Rb54d54f488d74f4d"/>
    <p:sldLayoutId xmlns:r="http://schemas.openxmlformats.org/officeDocument/2006/relationships" id="2147483651" r:id="Rc2cfdf88812e4d6f"/>
    <p:sldLayoutId xmlns:r="http://schemas.openxmlformats.org/officeDocument/2006/relationships" id="2147483652" r:id="R537f644b720b41ec"/>
    <p:sldLayoutId xmlns:r="http://schemas.openxmlformats.org/officeDocument/2006/relationships" id="2147483653" r:id="R5bea14e7afa14ebc"/>
    <p:sldLayoutId xmlns:r="http://schemas.openxmlformats.org/officeDocument/2006/relationships" id="2147483654" r:id="R0ab7ce17daf14512"/>
    <p:sldLayoutId xmlns:r="http://schemas.openxmlformats.org/officeDocument/2006/relationships" id="2147483655" r:id="R51263e46bb554de6"/>
    <p:sldLayoutId xmlns:r="http://schemas.openxmlformats.org/officeDocument/2006/relationships" id="2147483656" r:id="Rdfa487061ef74bf9"/>
    <p:sldLayoutId xmlns:r="http://schemas.openxmlformats.org/officeDocument/2006/relationships" id="2147483657" r:id="Rb8b20f429f4945e2"/>
    <p:sldLayoutId xmlns:r="http://schemas.openxmlformats.org/officeDocument/2006/relationships" id="2147483658" r:id="R0f28f772ca314ecb"/>
    <p:sldLayoutId xmlns:r="http://schemas.openxmlformats.org/officeDocument/2006/relationships" id="2147483659" r:id="R368f1ae21b424d42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6083dd00a943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626860"/>
            <a:ext cx="12191365" cy="231140"/>
          </a:xfrm>
          <a:prstGeom xmlns:a="http://schemas.openxmlformats.org/drawingml/2006/main" prst="rect">
            <a:avLst/>
          </a:prstGeom>
        </p:spPr>
      </p:pic>
      <p:pic>
        <p:nvPicPr>
          <p:cNvPr id="7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e08bc5d17c45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" y="0"/>
            <a:ext cx="12190730" cy="460375"/>
          </a:xfrm>
          <a:prstGeom xmlns:a="http://schemas.openxmlformats.org/drawingml/2006/main" prst="rect">
            <a:avLst/>
          </a:prstGeom>
        </p:spPr>
      </p:pic>
      <p:pic>
        <p:nvPicPr>
          <p:cNvPr id="8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b6b8ba313446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" y="3810"/>
            <a:ext cx="991870" cy="463550"/>
          </a:xfrm>
          <a:prstGeom xmlns:a="http://schemas.openxmlformats.org/drawingml/2006/main" prst="rect">
            <a:avLst/>
          </a:prstGeom>
        </p:spPr>
      </p:pic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E01140AE-674B-4F61-AF31-5AA80E00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330" y="79375"/>
            <a:ext cx="4064000" cy="3067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 i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2026 </a:t>
            </a:r>
            <a:r>
              <a:rPr sz="1400" i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此芯科技</a:t>
            </a:r>
            <a:r>
              <a:rPr sz="1400" i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Agentic AI</a:t>
            </a:r>
            <a:r>
              <a:rPr sz="1400" i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开发者大赛</a:t>
            </a:r>
            <a:endParaRPr sz="1400" i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9e2771efd77345d6"/>
    <p:sldLayoutId xmlns:r="http://schemas.openxmlformats.org/officeDocument/2006/relationships" id="2147483662" r:id="Recd27de530ac48bf"/>
    <p:sldLayoutId xmlns:r="http://schemas.openxmlformats.org/officeDocument/2006/relationships" id="2147483663" r:id="Rb14895a0d6c54a31"/>
    <p:sldLayoutId xmlns:r="http://schemas.openxmlformats.org/officeDocument/2006/relationships" id="2147483664" r:id="Rb37e6d8ce4fa43eb"/>
    <p:sldLayoutId xmlns:r="http://schemas.openxmlformats.org/officeDocument/2006/relationships" id="2147483665" r:id="R48762c8d33fd461a"/>
    <p:sldLayoutId xmlns:r="http://schemas.openxmlformats.org/officeDocument/2006/relationships" id="2147483666" r:id="R1274e6a43acd4430"/>
    <p:sldLayoutId xmlns:r="http://schemas.openxmlformats.org/officeDocument/2006/relationships" id="2147483667" r:id="Rada97362d4a34826"/>
    <p:sldLayoutId xmlns:r="http://schemas.openxmlformats.org/officeDocument/2006/relationships" id="2147483668" r:id="R6aa0d4462912458f"/>
    <p:sldLayoutId xmlns:r="http://schemas.openxmlformats.org/officeDocument/2006/relationships" id="2147483669" r:id="R95fddf15a77a41e4"/>
    <p:sldLayoutId xmlns:r="http://schemas.openxmlformats.org/officeDocument/2006/relationships" id="2147483670" r:id="Rc540a8da9f7d4d89"/>
    <p:sldLayoutId xmlns:r="http://schemas.openxmlformats.org/officeDocument/2006/relationships" id="2147483671" r:id="R712743b0d4f941fb"/>
    <p:sldLayoutId xmlns:r="http://schemas.openxmlformats.org/officeDocument/2006/relationships" id="2147483672" r:id="R8051738c6861433d"/>
    <p:sldLayoutId xmlns:r="http://schemas.openxmlformats.org/officeDocument/2006/relationships" id="2147483673" r:id="R302ca1e0290e4b6d"/>
    <p:sldLayoutId xmlns:r="http://schemas.openxmlformats.org/officeDocument/2006/relationships" id="2147483674" r:id="R72616b1f9ddc443b"/>
  </p:sldLayoutIdLst>
  <p:txStyles>
    <p:titleStyle>
      <a:lvl1pPr xmlns:a="http://schemas.openxmlformats.org/drawingml/2006/main" algn="l" defTabSz="914400">
        <a:lnSpc>
          <a:spcPct val="100000"/>
        </a:lnSpc>
        <a:spcBef>
          <a:spcPct val="0"/>
        </a:spcBef>
        <a:buNone/>
        <a:defRPr sz="3600" b="0" u="none" kern="1200" cap="none" spc="300" baseline="0">
          <a:solidFill>
            <a:schemeClr val="tx1">
              <a:lumMod val="85000"/>
              <a:lumOff val="15000"/>
            </a:schemeClr>
          </a:solidFill>
          <a:latin typeface="+mj-ea"/>
          <a:ea typeface="+mj-ea"/>
          <a:cs typeface="+mj-ea"/>
        </a:defRPr>
      </a:lvl1pPr>
    </p:titleStyle>
    <p:bodyStyle>
      <a:lvl1pPr xmlns:a="http://schemas.openxmlformats.org/drawingml/2006/main" marL="228600" indent="-228600" algn="l" defTabSz="914400">
        <a:lnSpc>
          <a:spcPct val="130000"/>
        </a:lnSpc>
        <a:spcBef>
          <a:spcPts val="0"/>
        </a:spcBef>
        <a:spcAft>
          <a:spcPts val="1000"/>
        </a:spcAft>
        <a:buFont typeface="Arial"/>
        <a:buChar char="●"/>
        <a:defRPr sz="18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tabLst>
          <a:tab pos="1609725" algn="l"/>
          <a:tab pos="1609725" algn="l"/>
          <a:tab pos="1609725" algn="l"/>
          <a:tab pos="1609725" algn="l"/>
        </a:tabLst>
        <a:defRPr sz="16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defRPr sz="16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Wingdings"/>
        <a:buChar char=""/>
        <a:defRPr sz="14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Arial"/>
        <a:buChar char="•"/>
        <a:defRPr sz="14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46daa8f0210c4086" Type="http://schemas.openxmlformats.org/officeDocument/2006/relationships/slideLayout" Target="../slideLayouts/slideLayout13.xml"/><Relationship Id="R8a61348107804e63" Type="http://schemas.openxmlformats.org/officeDocument/2006/relationships/image" Target="../media/image.jpeg"/><Relationship Id="Rbfe7afecf4264b5d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6e56a8eb53ca450d" Type="http://schemas.openxmlformats.org/officeDocument/2006/relationships/slideLayout" Target="../slideLayouts/slideLayout7.xml"/><Relationship Id="Redfb510d1cc54a99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4d894827857449fa" Type="http://schemas.openxmlformats.org/officeDocument/2006/relationships/notesSlide" Target="../notesSlides/notesSlide3.xml"/><Relationship Id="R7f8af91126544b6c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77ff15cf6741417f" Type="http://schemas.openxmlformats.org/officeDocument/2006/relationships/slideLayout" Target="../slideLayouts/slideLayout7.xml"/><Relationship Id="Rb77c11ebfef0451c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4473a98ef45846f5" Type="http://schemas.openxmlformats.org/officeDocument/2006/relationships/notesSlide" Target="../notesSlides/notesSlide5.xml"/><Relationship Id="R955b8850a4154cc3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991ea8469a8c449c" Type="http://schemas.openxmlformats.org/officeDocument/2006/relationships/slideLayout" Target="../slideLayouts/slideLayout7.xml"/><Relationship Id="Rdd64d90d59d9421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00bc65772ebf42d4" Type="http://schemas.openxmlformats.org/officeDocument/2006/relationships/notesSlide" Target="../notesSlides/notesSlide7.xml"/><Relationship Id="R750b8cd3c981486a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566c20e30dfd4563" Type="http://schemas.openxmlformats.org/officeDocument/2006/relationships/slideLayout" Target="../slideLayouts/slideLayout7.xml"/><Relationship Id="R92c3cbcb83364c7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123ee7ff30db400c" Type="http://schemas.openxmlformats.org/officeDocument/2006/relationships/hyperlink" Target="https://github.com/fangluyang7-debug/Cixin/tree/codex/cixin-multi-device-runtime/cixin-agent" TargetMode="External"/><Relationship Id="R3152cd84a43c4f37" Type="http://schemas.openxmlformats.org/officeDocument/2006/relationships/slideLayout" Target="../slideLayouts/slideLayout7.xml"/><Relationship Id="R8110f47d58974f7a" Type="http://schemas.openxmlformats.org/officeDocument/2006/relationships/notesSlide" Target="../notesSlides/notesSlide9.xml"/><Relationship Id="Rb90d0300878943de" Type="http://schemas.openxmlformats.org/officeDocument/2006/relationships/image" Target="../media/image2.jpeg"/></Relationships>
</file>

<file path=ppt/slides/_rels/slide10.xml.rels><?xml version='1.0' encoding='UTF-8' standalone='yes'?>
<Relationships xmlns="http://schemas.openxmlformats.org/package/2006/relationships"><Relationship Id="R0ff149f0171c41bc" Type="http://schemas.openxmlformats.org/officeDocument/2006/relationships/notesSlide" Target="../notesSlides/notesSlide10.xml"/><Relationship Id="R4ed1ed7291a54eca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960d1f6e69d440a1" Type="http://schemas.openxmlformats.org/officeDocument/2006/relationships/slideLayout" Target="../slideLayouts/slideLayout7.xml"/><Relationship Id="Raa248fa5bfd44b81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1536562160be4c50" Type="http://schemas.openxmlformats.org/officeDocument/2006/relationships/notesSlide" Target="../notesSlides/notesSlide12.xml"/><Relationship Id="Ra0ab6f70b2014e17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2ea2dc8b8f1c4638" Type="http://schemas.openxmlformats.org/officeDocument/2006/relationships/slideLayout" Target="../slideLayouts/slideLayout7.xml"/><Relationship Id="R8de1eada9a5c4e1f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cb02aa70dfa04596" Type="http://schemas.openxmlformats.org/officeDocument/2006/relationships/notesSlide" Target="../notesSlides/notesSlide14.xml"/><Relationship Id="Re631cf94b8f142c9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68949499a9f34633" Type="http://schemas.openxmlformats.org/officeDocument/2006/relationships/slideLayout" Target="../slideLayouts/slideLayout7.xml"/><Relationship Id="Rdd350c63b8d14b2b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a1da000a69a048cb" Type="http://schemas.openxmlformats.org/officeDocument/2006/relationships/notesSlide" Target="../notesSlides/notesSlide16.xml"/><Relationship Id="Rc3b3cda2e1c14960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40390987928845ba" Type="http://schemas.openxmlformats.org/officeDocument/2006/relationships/slideLayout" Target="../slideLayouts/slideLayout7.xml"/><Relationship Id="Rd4f5ada3e55947a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61348107804e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" y="446567"/>
            <a:ext cx="12191365" cy="6697877"/>
          </a:xfrm>
          <a:prstGeom xmlns:a="http://schemas.openxmlformats.org/drawingml/2006/main" prst="rect">
            <a:avLst/>
          </a:prstGeom>
        </p:spPr>
      </p:pic>
      <p:sp>
        <p:nvSpPr>
          <p:cNvPr id="7" name="芯枢调度">
            <a:extLst xmlns:a="http://schemas.openxmlformats.org/drawingml/2006/main">
              <a:ext uri="{FF2B5EF4-FFF2-40B4-BE49-F238E27FC236}">
                <a16:creationId xmlns:a16="http://schemas.microsoft.com/office/drawing/2014/main" id="{9B4B44CA-6589-4744-AE87-EA3F8049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85975"/>
            <a:ext cx="10287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700" b="1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5700" b="1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芯枢调度</a:t>
            </a:r>
            <a:endParaRPr sz="5700" b="1">
              <a:solidFill>
                <a:srgbClr val="FFFFFF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8" name="面向 CIX P1 的 Agent 端云协同调度中间件">
            <a:extLst xmlns:a="http://schemas.openxmlformats.org/drawingml/2006/main">
              <a:ext uri="{FF2B5EF4-FFF2-40B4-BE49-F238E27FC236}">
                <a16:creationId xmlns:a16="http://schemas.microsoft.com/office/drawing/2014/main" id="{646ED3C3-81D6-4D15-B9C6-09706B9B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2897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25" b="0">
                <a:solidFill>
                  <a:srgbClr val="E6EFF8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E6EFF8"/>
                </a:solidFill>
                <a:latin typeface="Alibaba PuHuiTi 3.0 55 Regular"/>
                <a:ea typeface="Alibaba PuHuiTi 3.0 55 Regular"/>
                <a:cs typeface="Alibaba PuHuiTi 3.0 55 Regular"/>
              </a:rPr>
              <a:t>面向 CIX P1 的 Agent 端云协同调度中间件</a:t>
            </a:r>
            <a:endParaRPr sz="2625" b="0">
              <a:solidFill>
                <a:srgbClr val="E6EFF8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9" name="由 P1 管理任务，让本地模型与云端模型按需协作">
            <a:extLst xmlns:a="http://schemas.openxmlformats.org/drawingml/2006/main">
              <a:ext uri="{FF2B5EF4-FFF2-40B4-BE49-F238E27FC236}">
                <a16:creationId xmlns:a16="http://schemas.microsoft.com/office/drawing/2014/main" id="{B39975DA-E698-41A2-8263-E5071788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86225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B6CEE3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75" b="0">
                <a:solidFill>
                  <a:srgbClr val="B6CEE3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由 P1 管理任务，让本地模型与云端模型按需协作</a:t>
            </a:r>
            <a:endParaRPr sz="1875" b="0">
              <a:solidFill>
                <a:srgbClr val="B6CEE3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0" name="赛道二：端云协同调度智能体">
            <a:extLst xmlns:a="http://schemas.openxmlformats.org/drawingml/2006/main">
              <a:ext uri="{FF2B5EF4-FFF2-40B4-BE49-F238E27FC236}">
                <a16:creationId xmlns:a16="http://schemas.microsoft.com/office/drawing/2014/main" id="{E935D3C8-4DDE-498D-8EF8-84828765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57750"/>
            <a:ext cx="8382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0">
                <a:solidFill>
                  <a:srgbClr val="FFFFFF"/>
                </a:solidFill>
                <a:latin typeface="Alibaba PuHuiTi 3.0 55 Regular"/>
                <a:ea typeface="Alibaba PuHuiTi 3.0 55 Regular"/>
                <a:cs typeface="Alibaba PuHuiTi 3.0 55 Regular"/>
              </a:rPr>
              <a:t>赛道二：端云协同调度智能体</a:t>
            </a:r>
            <a:endParaRPr sz="1725" b="0">
              <a:solidFill>
                <a:srgbClr val="FFFFFF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1" name="团队名称及成员待确认">
            <a:extLst xmlns:a="http://schemas.openxmlformats.org/drawingml/2006/main">
              <a:ext uri="{FF2B5EF4-FFF2-40B4-BE49-F238E27FC236}">
                <a16:creationId xmlns:a16="http://schemas.microsoft.com/office/drawing/2014/main" id="{2B63E683-FC7D-4F47-9E3B-18F8EC94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314950"/>
            <a:ext cx="457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B6CEE3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275" b="0">
                <a:solidFill>
                  <a:srgbClr val="B6CEE3"/>
                </a:solidFill>
                <a:latin typeface="Alibaba PuHuiTi 3.0 55 Regular"/>
                <a:ea typeface="Alibaba PuHuiTi 3.0 55 Regular"/>
                <a:cs typeface="Alibaba PuHuiTi 3.0 55 Regular"/>
              </a:rPr>
              <a:t>团队名称及成员待确认</a:t>
            </a:r>
            <a:endParaRPr sz="1275" b="0">
              <a:solidFill>
                <a:srgbClr val="B6CEE3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4181575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1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DFE4F4-98B3-411E-BF8F-F18633C7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>
              <a:alpha val="100000"/>
            </a:srgbClr>
          </a:solidFill>
          <a:ln xmlns:a="http://schemas.openxmlformats.org/drawingml/2006/main">
            <a:headEnd type="none"/>
            <a:tailEnd type="none"/>
          </a:ln>
        </p:spPr>
      </p:sp>
      <p:sp>
        <p:nvSpPr>
          <p:cNvPr id="3" name="02  项目概述">
            <a:extLst xmlns:a="http://schemas.openxmlformats.org/drawingml/2006/main">
              <a:ext uri="{FF2B5EF4-FFF2-40B4-BE49-F238E27FC236}">
                <a16:creationId xmlns:a16="http://schemas.microsoft.com/office/drawing/2014/main" id="{CC1A1756-F0BC-4D17-AA6F-DD4A0ED7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050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02  项目概述</a:t>
            </a:r>
          </a:p>
        </p:txBody>
      </p:sp>
      <p:sp>
        <p:nvSpPr>
          <p:cNvPr id="4" name="面向端侧 AI 应用的端云协同调度中间件">
            <a:extLst xmlns:a="http://schemas.openxmlformats.org/drawingml/2006/main">
              <a:ext uri="{FF2B5EF4-FFF2-40B4-BE49-F238E27FC236}">
                <a16:creationId xmlns:a16="http://schemas.microsoft.com/office/drawing/2014/main" id="{379487FB-9736-41FB-9E79-706A5907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面向端侧 AI 应用的端云协同调度中间件</a:t>
            </a:r>
          </a:p>
        </p:txBody>
      </p:sp>
      <p:sp>
        <p:nvSpPr>
          <p:cNvPr id="5" name="divider-148">
            <a:extLst xmlns:a="http://schemas.openxmlformats.org/drawingml/2006/main">
              <a:ext uri="{FF2B5EF4-FFF2-40B4-BE49-F238E27FC236}">
                <a16:creationId xmlns:a16="http://schemas.microsoft.com/office/drawing/2014/main" id="{189D323B-AE7B-49E9-9CDC-F45BC268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4DF"/>
            </a:solidFill>
          </a:ln>
        </p:spPr>
      </p:sp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92659E72-D65D-4500-9954-6E705A3B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400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01</a:t>
            </a:r>
          </a:p>
        </p:txBody>
      </p:sp>
      <p:sp>
        <p:nvSpPr>
          <p:cNvPr id="7" name="一句话定义">
            <a:extLst xmlns:a="http://schemas.openxmlformats.org/drawingml/2006/main">
              <a:ext uri="{FF2B5EF4-FFF2-40B4-BE49-F238E27FC236}">
                <a16:creationId xmlns:a16="http://schemas.microsoft.com/office/drawing/2014/main" id="{0C517A89-0691-4DBC-A416-B08316EA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685925"/>
            <a:ext cx="16859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一句话定义</a:t>
            </a:r>
          </a:p>
        </p:txBody>
      </p:sp>
      <p:sp>
        <p:nvSpPr>
          <p:cNvPr id="8" name="以 CIX P1 为运行主控，根据任务要求、设备负载和网络状况，&#10;为 Agent 的每一步选择本">
            <a:extLst xmlns:a="http://schemas.openxmlformats.org/drawingml/2006/main">
              <a:ext uri="{FF2B5EF4-FFF2-40B4-BE49-F238E27FC236}">
                <a16:creationId xmlns:a16="http://schemas.microsoft.com/office/drawing/2014/main" id="{04CE4396-351A-401E-AEE0-966847BF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685925"/>
            <a:ext cx="889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以 CIX P1 为运行主控，根据任务要求、设备负载和网络状况，</a:t>
            </a:r>
          </a:p>
          <a:p xmlns:a="http://schemas.openxmlformats.org/drawingml/2006/main">
            <a:pPr>
              <a:buNone/>
              <a:def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为 Agent 的每一步选择本地或云端执行，并管理资源配置与任务状态。</a:t>
            </a:r>
          </a:p>
        </p:txBody>
      </p:sp>
      <p:sp>
        <p:nvSpPr>
          <p:cNvPr id="9" name="divider-264">
            <a:extLst xmlns:a="http://schemas.openxmlformats.org/drawingml/2006/main">
              <a:ext uri="{FF2B5EF4-FFF2-40B4-BE49-F238E27FC236}">
                <a16:creationId xmlns:a16="http://schemas.microsoft.com/office/drawing/2014/main" id="{3895155E-7671-4F1D-8E45-318C6253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4DF"/>
            </a:solidFill>
          </a:ln>
        </p:spPr>
      </p:sp>
      <p:sp>
        <p:nvSpPr>
          <p:cNvPr id="10" name="02">
            <a:extLst xmlns:a="http://schemas.openxmlformats.org/drawingml/2006/main">
              <a:ext uri="{FF2B5EF4-FFF2-40B4-BE49-F238E27FC236}">
                <a16:creationId xmlns:a16="http://schemas.microsoft.com/office/drawing/2014/main" id="{6AD21CD5-0559-4564-B6B5-364879F6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52725"/>
            <a:ext cx="400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02</a:t>
            </a:r>
          </a:p>
        </p:txBody>
      </p:sp>
      <p:sp>
        <p:nvSpPr>
          <p:cNvPr id="11" name="具体痛点">
            <a:extLst xmlns:a="http://schemas.openxmlformats.org/drawingml/2006/main">
              <a:ext uri="{FF2B5EF4-FFF2-40B4-BE49-F238E27FC236}">
                <a16:creationId xmlns:a16="http://schemas.microsoft.com/office/drawing/2014/main" id="{C47AFFC5-1BD5-4B26-B9CC-C718177B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724150"/>
            <a:ext cx="16859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具体痛点</a:t>
            </a:r>
          </a:p>
        </p:txBody>
      </p:sp>
      <p:sp>
        <p:nvSpPr>
          <p:cNvPr id="12" name="拍图找商品时，图片编码、检索筛选和复杂复核需要不同计算能力。&#10;固定分工遇到本地忙碌或网络变慢，容">
            <a:extLst xmlns:a="http://schemas.openxmlformats.org/drawingml/2006/main">
              <a:ext uri="{FF2B5EF4-FFF2-40B4-BE49-F238E27FC236}">
                <a16:creationId xmlns:a16="http://schemas.microsoft.com/office/drawing/2014/main" id="{BC06A424-9B8D-4C16-ADFB-C4771788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24150"/>
            <a:ext cx="88963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拍图找商品时，图片编码、检索筛选和复杂复核需要不同计算能力。</a:t>
            </a:r>
          </a:p>
          <a:p xmlns:a="http://schemas.openxmlformats.org/drawingml/2006/main">
            <a:pPr>
              <a:buNone/>
              <a:def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固定分工遇到本地忙碌或网络变慢，容易增加排队和传输等待。</a:t>
            </a:r>
          </a:p>
          <a:p xmlns:a="http://schemas.openxmlformats.org/drawingml/2006/main">
            <a:pPr>
              <a:buNone/>
              <a:def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开发者还需为每条调用链重复处理资源分配、任务状态与失败回执。</a:t>
            </a:r>
          </a:p>
        </p:txBody>
      </p:sp>
      <p:sp>
        <p:nvSpPr>
          <p:cNvPr id="13" name="divider-390">
            <a:extLst xmlns:a="http://schemas.openxmlformats.org/drawingml/2006/main">
              <a:ext uri="{FF2B5EF4-FFF2-40B4-BE49-F238E27FC236}">
                <a16:creationId xmlns:a16="http://schemas.microsoft.com/office/drawing/2014/main" id="{0CBD0CF7-192E-484E-BFA9-B546AC50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4DF"/>
            </a:solidFill>
          </a:ln>
        </p:spPr>
      </p:sp>
      <p:sp>
        <p:nvSpPr>
          <p:cNvPr id="14" name="03">
            <a:extLst xmlns:a="http://schemas.openxmlformats.org/drawingml/2006/main">
              <a:ext uri="{FF2B5EF4-FFF2-40B4-BE49-F238E27FC236}">
                <a16:creationId xmlns:a16="http://schemas.microsoft.com/office/drawing/2014/main" id="{808EE8DA-1340-4F76-89C8-C8F7F668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43350"/>
            <a:ext cx="400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03</a:t>
            </a:r>
          </a:p>
        </p:txBody>
      </p:sp>
      <p:sp>
        <p:nvSpPr>
          <p:cNvPr id="15" name="目标用户">
            <a:extLst xmlns:a="http://schemas.openxmlformats.org/drawingml/2006/main">
              <a:ext uri="{FF2B5EF4-FFF2-40B4-BE49-F238E27FC236}">
                <a16:creationId xmlns:a16="http://schemas.microsoft.com/office/drawing/2014/main" id="{E4046EBD-3B12-455A-B846-76F902E6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914775"/>
            <a:ext cx="16859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目标用户</a:t>
            </a:r>
          </a:p>
        </p:txBody>
      </p:sp>
      <p:sp>
        <p:nvSpPr>
          <p:cNvPr id="16" name="直接用户是端侧 AI 应用开发团队，首个验证场景为购物检索，&#10;后续可接入文档处理、知识检索等插件">
            <a:extLst xmlns:a="http://schemas.openxmlformats.org/drawingml/2006/main">
              <a:ext uri="{FF2B5EF4-FFF2-40B4-BE49-F238E27FC236}">
                <a16:creationId xmlns:a16="http://schemas.microsoft.com/office/drawing/2014/main" id="{9F3F5293-9AF9-4AB5-A729-388E424E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914775"/>
            <a:ext cx="889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直接用户是端侧 AI 应用开发团队，首个验证场景为购物检索，</a:t>
            </a:r>
          </a:p>
          <a:p xmlns:a="http://schemas.openxmlformats.org/drawingml/2006/main">
            <a:pPr>
              <a:buNone/>
              <a:def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后续可接入文档处理、知识检索等插件。应用每次提交多步任务时自动调用。</a:t>
            </a:r>
          </a:p>
        </p:txBody>
      </p:sp>
      <p:sp>
        <p:nvSpPr>
          <p:cNvPr id="17" name="divider-497">
            <a:extLst xmlns:a="http://schemas.openxmlformats.org/drawingml/2006/main">
              <a:ext uri="{FF2B5EF4-FFF2-40B4-BE49-F238E27FC236}">
                <a16:creationId xmlns:a16="http://schemas.microsoft.com/office/drawing/2014/main" id="{1ED75F47-C7A8-4289-AEFC-DCDDF28D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339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4DF"/>
            </a:solidFill>
          </a:ln>
        </p:spPr>
      </p:sp>
      <p:sp>
        <p:nvSpPr>
          <p:cNvPr id="18" name="04">
            <a:extLst xmlns:a="http://schemas.openxmlformats.org/drawingml/2006/main">
              <a:ext uri="{FF2B5EF4-FFF2-40B4-BE49-F238E27FC236}">
                <a16:creationId xmlns:a16="http://schemas.microsoft.com/office/drawing/2014/main" id="{C2068E5C-74D3-49EF-9FC7-B22834DB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72050"/>
            <a:ext cx="400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04</a:t>
            </a:r>
          </a:p>
        </p:txBody>
      </p:sp>
      <p:sp>
        <p:nvSpPr>
          <p:cNvPr id="19" name="Agent 核心价值">
            <a:extLst xmlns:a="http://schemas.openxmlformats.org/drawingml/2006/main">
              <a:ext uri="{FF2B5EF4-FFF2-40B4-BE49-F238E27FC236}">
                <a16:creationId xmlns:a16="http://schemas.microsoft.com/office/drawing/2014/main" id="{C2BCF10D-6943-49AB-BD88-694EED6B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943475"/>
            <a:ext cx="16859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Agent 核心价值</a:t>
            </a:r>
          </a:p>
        </p:txBody>
      </p:sp>
      <p:sp>
        <p:nvSpPr>
          <p:cNvPr id="20" name="Agent 理解目标、规划步骤，芯枢安排在哪里、何时、以什么配置执行。&#10;相比手写固定调用链，先校">
            <a:extLst xmlns:a="http://schemas.openxmlformats.org/drawingml/2006/main">
              <a:ext uri="{FF2B5EF4-FFF2-40B4-BE49-F238E27FC236}">
                <a16:creationId xmlns:a16="http://schemas.microsoft.com/office/drawing/2014/main" id="{865274E2-5C1D-458E-9ACF-49BDAAC2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943475"/>
            <a:ext cx="88963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Agent 理解目标、规划步骤，芯枢安排在哪里、何时、以什么配置执行。</a:t>
            </a:r>
          </a:p>
          <a:p xmlns:a="http://schemas.openxmlformats.org/drawingml/2006/main">
            <a:pPr>
              <a:buNone/>
              <a:def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相比手写固定调用链，先校验能力与授权，再比较排队、传输和执行总耗时，</a:t>
            </a:r>
          </a:p>
          <a:p xmlns:a="http://schemas.openxmlformats.org/drawingml/2006/main">
            <a:pPr>
              <a:buNone/>
              <a:def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并用实际回执校准预测。目标是在质量约束下减少等待、降低重复适配成本。</a:t>
            </a:r>
          </a:p>
        </p:txBody>
      </p:sp>
      <p:sp>
        <p:nvSpPr>
          <p:cNvPr id="21" name="已有桌面调度与执行原型；P1 模型适配、云端完整链路及收益验证按开发计划推进。">
            <a:extLst xmlns:a="http://schemas.openxmlformats.org/drawingml/2006/main">
              <a:ext uri="{FF2B5EF4-FFF2-40B4-BE49-F238E27FC236}">
                <a16:creationId xmlns:a16="http://schemas.microsoft.com/office/drawing/2014/main" id="{107A9445-115C-457F-BD17-30D63DB1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rPr>
              <a:t>已有桌面调度与执行原型；P1 模型适配、云端完整链路及收益验证按开发计划推进。</a:t>
            </a:r>
          </a:p>
        </p:txBody>
      </p:sp>
      <p:sp>
        <p:nvSpPr>
          <p:cNvPr id="22" name="02">
            <a:extLst xmlns:a="http://schemas.openxmlformats.org/drawingml/2006/main">
              <a:ext uri="{FF2B5EF4-FFF2-40B4-BE49-F238E27FC236}">
                <a16:creationId xmlns:a16="http://schemas.microsoft.com/office/drawing/2014/main" id="{4BCCCC2F-2E47-4087-A0A9-89A0FDBA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6294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8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198438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1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03  Agent 核心业务流">
            <a:extLst xmlns:a="http://schemas.openxmlformats.org/drawingml/2006/main">
              <a:ext uri="{FF2B5EF4-FFF2-40B4-BE49-F238E27FC236}">
                <a16:creationId xmlns:a16="http://schemas.microsoft.com/office/drawing/2014/main" id="{19ECF9AD-3B37-42F0-AFA3-0176F51F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050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03  Agent 核心业务流</a:t>
            </a:r>
            <a:endParaRPr sz="1050" b="0">
              <a:solidFill>
                <a:srgbClr val="5890B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" name="一张图片如何经过端云协作得到候选结果">
            <a:extLst xmlns:a="http://schemas.openxmlformats.org/drawingml/2006/main">
              <a:ext uri="{FF2B5EF4-FFF2-40B4-BE49-F238E27FC236}">
                <a16:creationId xmlns:a16="http://schemas.microsoft.com/office/drawing/2014/main" id="{2F6F478C-35E5-4DE2-9206-F45465C0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一张图片如何经过端云协作得到候选结果</a:t>
            </a:r>
            <a:endParaRPr sz="29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4A23EBD8-3696-4758-8858-9551B3F7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4DF"/>
            </a:solidFill>
          </a:ln>
        </p:spPr>
      </p:sp>
      <p:sp>
        <p:nvSpPr>
          <p:cNvPr id="4" name="示例目标：根据图片，找出预算和尺码符合要求的候选商品。">
            <a:extLst xmlns:a="http://schemas.openxmlformats.org/drawingml/2006/main">
              <a:ext uri="{FF2B5EF4-FFF2-40B4-BE49-F238E27FC236}">
                <a16:creationId xmlns:a16="http://schemas.microsoft.com/office/drawing/2014/main" id="{E36E49E1-2CFA-4979-9C7B-21173D72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77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示例目标：根据图片，找出预算和尺码符合要求的候选商品。</a:t>
            </a:r>
            <a:endParaRPr sz="17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5" name="03">
            <a:extLst xmlns:a="http://schemas.openxmlformats.org/drawingml/2006/main">
              <a:ext uri="{FF2B5EF4-FFF2-40B4-BE49-F238E27FC236}">
                <a16:creationId xmlns:a16="http://schemas.microsoft.com/office/drawing/2014/main" id="{A2BBC747-40E0-4E10-8462-3B7B2C43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6294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8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rPr>
              <a:t>03</a:t>
            </a:r>
            <a:endParaRPr sz="825" b="0">
              <a:solidFill>
                <a:srgbClr val="73879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CEA1241-723D-4341-8DC0-B1BC1E33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112776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11430">
            <a:solidFill>
              <a:srgbClr val="956A2E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02C8693-572F-46EF-9E93-6F8466EB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81450"/>
            <a:ext cx="11277600" cy="126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solid"/>
          </a:ln>
        </p:spPr>
      </p:sp>
      <p:sp>
        <p:nvSpPr>
          <p:cNvPr id="8" name="云端大模型">
            <a:extLst xmlns:a="http://schemas.openxmlformats.org/drawingml/2006/main">
              <a:ext uri="{FF2B5EF4-FFF2-40B4-BE49-F238E27FC236}">
                <a16:creationId xmlns:a16="http://schemas.microsoft.com/office/drawing/2014/main" id="{30B4AE40-49AA-4A13-849C-B1634F4F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56A2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275" b="1">
                <a:solidFill>
                  <a:srgbClr val="956A2E"/>
                </a:solidFill>
                <a:latin typeface="Alibaba PuHuiTi 3.0 55 Regular"/>
                <a:ea typeface="Alibaba PuHuiTi 3.0 55 Regular"/>
                <a:cs typeface="Alibaba PuHuiTi 3.0 55 Regular"/>
              </a:rPr>
              <a:t>云端大模型</a:t>
            </a:r>
            <a:endParaRPr sz="1275" b="1">
              <a:solidFill>
                <a:srgbClr val="956A2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9" name="CIX P1&#10;本地执行">
            <a:extLst xmlns:a="http://schemas.openxmlformats.org/drawingml/2006/main">
              <a:ext uri="{FF2B5EF4-FFF2-40B4-BE49-F238E27FC236}">
                <a16:creationId xmlns:a16="http://schemas.microsoft.com/office/drawing/2014/main" id="{BA19BFAE-D378-4ED0-A138-9F2B6A47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24350"/>
            <a:ext cx="1657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650" b="1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CIX P1</a:t>
            </a:r>
            <a:endParaRPr sz="1650" b="1">
              <a:solidFill>
                <a:srgbClr val="5890B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  <a:p xmlns:a="http://schemas.openxmlformats.org/drawingml/2006/main">
            <a:pPr algn="ctr">
              <a:buNone/>
              <a:defRPr sz="1650" b="1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650" b="1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本地执行</a:t>
            </a:r>
            <a:endParaRPr sz="1650" b="1">
              <a:solidFill>
                <a:srgbClr val="5890B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AF44FDE-9941-4183-A814-91549DEF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76500"/>
            <a:ext cx="16573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11430">
            <a:solidFill>
              <a:srgbClr val="956A2E"/>
            </a:solidFill>
            <a:prstDash val="dash"/>
          </a:ln>
        </p:spPr>
      </p:sp>
      <p:sp>
        <p:nvSpPr>
          <p:cNvPr id="11" name="1 生成计划">
            <a:extLst xmlns:a="http://schemas.openxmlformats.org/drawingml/2006/main">
              <a:ext uri="{FF2B5EF4-FFF2-40B4-BE49-F238E27FC236}">
                <a16:creationId xmlns:a16="http://schemas.microsoft.com/office/drawing/2014/main" id="{3AD447DC-AB46-402A-8E0B-772DC285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600325"/>
            <a:ext cx="135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956A2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75" b="1">
                <a:solidFill>
                  <a:srgbClr val="956A2E"/>
                </a:solidFill>
                <a:latin typeface="Alibaba PuHuiTi 3.0 55 Regular"/>
                <a:ea typeface="Alibaba PuHuiTi 3.0 55 Regular"/>
                <a:cs typeface="Alibaba PuHuiTi 3.0 55 Regular"/>
              </a:rPr>
              <a:t>1 生成计划</a:t>
            </a:r>
            <a:endParaRPr sz="1575" b="1">
              <a:solidFill>
                <a:srgbClr val="956A2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2" name="理解用户目标&#10;返回任务步骤">
            <a:extLst xmlns:a="http://schemas.openxmlformats.org/drawingml/2006/main">
              <a:ext uri="{FF2B5EF4-FFF2-40B4-BE49-F238E27FC236}">
                <a16:creationId xmlns:a16="http://schemas.microsoft.com/office/drawing/2014/main" id="{6A586C3B-8506-44F5-AB54-B8243A71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933700"/>
            <a:ext cx="1352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理解用户目标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返回任务步骤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BDCD29A-304B-47D2-A84D-2B945971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24325"/>
            <a:ext cx="16573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solid"/>
          </a:ln>
        </p:spPr>
      </p:sp>
      <p:sp>
        <p:nvSpPr>
          <p:cNvPr id="14" name="2 校验计划">
            <a:extLst xmlns:a="http://schemas.openxmlformats.org/drawingml/2006/main">
              <a:ext uri="{FF2B5EF4-FFF2-40B4-BE49-F238E27FC236}">
                <a16:creationId xmlns:a16="http://schemas.microsoft.com/office/drawing/2014/main" id="{38D4AADE-CC47-48AD-A5AA-B82BB1B1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48150"/>
            <a:ext cx="135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 校验计划</a:t>
            </a:r>
            <a:endParaRPr sz="157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5" name="核对工具、依赖&#10;和数据授权">
            <a:extLst xmlns:a="http://schemas.openxmlformats.org/drawingml/2006/main">
              <a:ext uri="{FF2B5EF4-FFF2-40B4-BE49-F238E27FC236}">
                <a16:creationId xmlns:a16="http://schemas.microsoft.com/office/drawing/2014/main" id="{E42BB14B-8C26-472B-8255-B8352DDE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81525"/>
            <a:ext cx="13525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核对工具、依赖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和数据授权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7433EC9-870B-45F9-87F5-CD0B2CF9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124325"/>
            <a:ext cx="16573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dash"/>
          </a:ln>
        </p:spPr>
      </p:sp>
      <p:sp>
        <p:nvSpPr>
          <p:cNvPr id="17" name="3 图片编码">
            <a:extLst xmlns:a="http://schemas.openxmlformats.org/drawingml/2006/main">
              <a:ext uri="{FF2B5EF4-FFF2-40B4-BE49-F238E27FC236}">
                <a16:creationId xmlns:a16="http://schemas.microsoft.com/office/drawing/2014/main" id="{99A64D3A-7F9A-4E1A-908A-7DB6917C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248150"/>
            <a:ext cx="135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 图片编码</a:t>
            </a:r>
            <a:endParaRPr sz="157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8" name="本地模型提取&#10;图像特征向量">
            <a:extLst xmlns:a="http://schemas.openxmlformats.org/drawingml/2006/main">
              <a:ext uri="{FF2B5EF4-FFF2-40B4-BE49-F238E27FC236}">
                <a16:creationId xmlns:a16="http://schemas.microsoft.com/office/drawing/2014/main" id="{2239D8D9-C948-405D-A4A7-D8B447F9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581525"/>
            <a:ext cx="13525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本地模型提取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图像特征向量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5E0E6E2-A611-4EA3-A8C1-20F6E6B1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24325"/>
            <a:ext cx="16573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dash"/>
          </a:ln>
        </p:spPr>
      </p:sp>
      <p:sp>
        <p:nvSpPr>
          <p:cNvPr id="20" name="4 检索筛选">
            <a:extLst xmlns:a="http://schemas.openxmlformats.org/drawingml/2006/main">
              <a:ext uri="{FF2B5EF4-FFF2-40B4-BE49-F238E27FC236}">
                <a16:creationId xmlns:a16="http://schemas.microsoft.com/office/drawing/2014/main" id="{2E5CEAEC-333B-404D-A8E4-0F639037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48150"/>
            <a:ext cx="135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 检索筛选</a:t>
            </a:r>
            <a:endParaRPr sz="157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1" name="向量检索&#10;预算尺码筛选">
            <a:extLst xmlns:a="http://schemas.openxmlformats.org/drawingml/2006/main">
              <a:ext uri="{FF2B5EF4-FFF2-40B4-BE49-F238E27FC236}">
                <a16:creationId xmlns:a16="http://schemas.microsoft.com/office/drawing/2014/main" id="{416AE81D-6FD4-4AAC-B4AD-A35F28B7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81525"/>
            <a:ext cx="13525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向量检索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预算尺码筛选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C3E8EBAF-8514-431C-9810-EE78FA48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476500"/>
            <a:ext cx="16573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11430">
            <a:solidFill>
              <a:srgbClr val="956A2E"/>
            </a:solidFill>
            <a:prstDash val="dash"/>
          </a:ln>
        </p:spPr>
      </p:sp>
      <p:sp>
        <p:nvSpPr>
          <p:cNvPr id="23" name="5 复杂复核">
            <a:extLst xmlns:a="http://schemas.openxmlformats.org/drawingml/2006/main">
              <a:ext uri="{FF2B5EF4-FFF2-40B4-BE49-F238E27FC236}">
                <a16:creationId xmlns:a16="http://schemas.microsoft.com/office/drawing/2014/main" id="{C3678D72-6135-424A-BFBB-3809E34A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600325"/>
            <a:ext cx="1352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956A2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75" b="1">
                <a:solidFill>
                  <a:srgbClr val="956A2E"/>
                </a:solidFill>
                <a:latin typeface="Alibaba PuHuiTi 3.0 55 Regular"/>
                <a:ea typeface="Alibaba PuHuiTi 3.0 55 Regular"/>
                <a:cs typeface="Alibaba PuHuiTi 3.0 55 Regular"/>
              </a:rPr>
              <a:t>5 复杂复核</a:t>
            </a:r>
            <a:endParaRPr sz="1575" b="1">
              <a:solidFill>
                <a:srgbClr val="956A2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4" name="歧义候选交给&#10;云视觉模型">
            <a:extLst xmlns:a="http://schemas.openxmlformats.org/drawingml/2006/main">
              <a:ext uri="{FF2B5EF4-FFF2-40B4-BE49-F238E27FC236}">
                <a16:creationId xmlns:a16="http://schemas.microsoft.com/office/drawing/2014/main" id="{D8442402-D163-4331-84CE-A5BA052D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933700"/>
            <a:ext cx="1352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歧义候选交给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云视觉模型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F6F4D21A-24EF-4132-AF94-5F584EB7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124325"/>
            <a:ext cx="1466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dash"/>
          </a:ln>
        </p:spPr>
      </p:sp>
      <p:sp>
        <p:nvSpPr>
          <p:cNvPr id="26" name="6 验证返回">
            <a:extLst xmlns:a="http://schemas.openxmlformats.org/drawingml/2006/main">
              <a:ext uri="{FF2B5EF4-FFF2-40B4-BE49-F238E27FC236}">
                <a16:creationId xmlns:a16="http://schemas.microsoft.com/office/drawing/2014/main" id="{741473A9-1F51-41E1-9A81-50652ECA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248150"/>
            <a:ext cx="1162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6 验证返回</a:t>
            </a:r>
            <a:endParaRPr sz="157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7" name="核对输出&#10;返回候选">
            <a:extLst xmlns:a="http://schemas.openxmlformats.org/drawingml/2006/main">
              <a:ext uri="{FF2B5EF4-FFF2-40B4-BE49-F238E27FC236}">
                <a16:creationId xmlns:a16="http://schemas.microsoft.com/office/drawing/2014/main" id="{D48B3ACB-AE51-4EC4-9E70-0D2D5820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581525"/>
            <a:ext cx="11620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核对输出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返回候选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cxnSp>
        <p:nvCxnSpPr>
          <p:cNvPr id="132" name="肘形连接符 65"/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1447800" y="3476625"/>
            <a:ext cx="1895475" cy="647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956A2E"/>
            </a:solidFill>
            <a:prstDash val="solid"/>
            <a:tailEnd type="triangle" w="sm" len="sm"/>
          </a:ln>
        </p:spPr>
      </p:cxnSp>
      <p:cxnSp>
        <p:nvCxnSpPr>
          <p:cNvPr id="133" name="直接箭头连接符 66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171950" y="463867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90BE"/>
            </a:solidFill>
            <a:prstDash val="solid"/>
            <a:tailEnd type="triangle" w="sm" len="sm"/>
          </a:ln>
        </p:spPr>
      </p:cxnSp>
      <p:cxnSp>
        <p:nvCxnSpPr>
          <p:cNvPr id="134" name="直接箭头连接符 67"/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6067425" y="463867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90BE"/>
            </a:solidFill>
            <a:prstDash val="solid"/>
            <a:tailEnd type="triangle" w="sm" len="sm"/>
          </a:ln>
        </p:spPr>
      </p:cxnSp>
      <p:cxnSp>
        <p:nvCxnSpPr>
          <p:cNvPr id="135" name="肘形连接符 68"/>
          <p:cNvCxnSpPr>
            <a:stCxn xmlns:a="http://schemas.openxmlformats.org/drawingml/2006/main" id="19" idx="0"/>
            <a:endCxn xmlns:a="http://schemas.openxmlformats.org/drawingml/2006/main" id="22" idx="2"/>
          </p:cNvCxnSpPr>
          <p:nvPr/>
        </p:nvCxnSpPr>
        <p:spPr>
          <a:xfrm xmlns:a="http://schemas.openxmlformats.org/drawingml/2006/main" flipV="1">
            <a:off x="7134225" y="3476625"/>
            <a:ext cx="1895475" cy="647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956A2E"/>
            </a:solidFill>
            <a:prstDash val="solid"/>
            <a:tailEnd type="triangle" w="sm" len="sm"/>
          </a:ln>
        </p:spPr>
      </p:cxnSp>
      <p:cxnSp>
        <p:nvCxnSpPr>
          <p:cNvPr id="136" name="肘形连接符 69"/>
          <p:cNvCxnSpPr>
            <a:stCxn xmlns:a="http://schemas.openxmlformats.org/drawingml/2006/main" id="22" idx="3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9858375" y="2976563"/>
            <a:ext cx="971550" cy="1147763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956A2E"/>
            </a:solidFill>
            <a:prstDash val="solid"/>
            <a:tailEnd type="triangle" w="sm" len="sm"/>
          </a:ln>
        </p:spPr>
      </p:cxnSp>
      <p:cxnSp>
        <p:nvCxnSpPr>
          <p:cNvPr id="137" name="直接箭头连接符 70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7962900" y="4638675"/>
            <a:ext cx="2133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90BE"/>
            </a:solidFill>
            <a:prstDash val="solid"/>
            <a:tailEnd type="triangle" w="sm" len="sm"/>
          </a:ln>
        </p:spPr>
      </p:cxnSp>
      <p:sp>
        <p:nvSpPr>
          <p:cNvPr id="34" name="需复杂复核">
            <a:extLst xmlns:a="http://schemas.openxmlformats.org/drawingml/2006/main">
              <a:ext uri="{FF2B5EF4-FFF2-40B4-BE49-F238E27FC236}">
                <a16:creationId xmlns:a16="http://schemas.microsoft.com/office/drawing/2014/main" id="{7ACC2D91-E7B5-4FD7-AE09-08335828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52825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56A2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350" b="0">
                <a:solidFill>
                  <a:srgbClr val="956A2E"/>
                </a:solidFill>
                <a:latin typeface="Alibaba PuHuiTi 3.0 55 Regular"/>
                <a:ea typeface="Alibaba PuHuiTi 3.0 55 Regular"/>
                <a:cs typeface="Alibaba PuHuiTi 3.0 55 Regular"/>
              </a:rPr>
              <a:t>需复杂复核</a:t>
            </a:r>
            <a:endParaRPr sz="1350" b="0">
              <a:solidFill>
                <a:srgbClr val="956A2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35" name="本地证据达标可直接返回">
            <a:extLst xmlns:a="http://schemas.openxmlformats.org/drawingml/2006/main">
              <a:ext uri="{FF2B5EF4-FFF2-40B4-BE49-F238E27FC236}">
                <a16:creationId xmlns:a16="http://schemas.microsoft.com/office/drawing/2014/main" id="{B17ADD9C-8D29-4209-8FF9-9C907652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257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350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本地证据达标可直接返回</a:t>
            </a:r>
            <a:endParaRPr sz="1350" b="0">
              <a:solidFill>
                <a:srgbClr val="5890B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36" name="状态记忆：P1 记录上下文和每步回执">
            <a:extLst xmlns:a="http://schemas.openxmlformats.org/drawingml/2006/main">
              <a:ext uri="{FF2B5EF4-FFF2-40B4-BE49-F238E27FC236}">
                <a16:creationId xmlns:a16="http://schemas.microsoft.com/office/drawing/2014/main" id="{0D77AB8C-EDF6-46AD-ACAC-BD023922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55149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状态记忆：P1 记录上下文和每步回执</a:t>
            </a:r>
            <a:endParaRPr sz="157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37" name="结果不达标：带失败原因请求受限重规划">
            <a:extLst xmlns:a="http://schemas.openxmlformats.org/drawingml/2006/main">
              <a:ext uri="{FF2B5EF4-FFF2-40B4-BE49-F238E27FC236}">
                <a16:creationId xmlns:a16="http://schemas.microsoft.com/office/drawing/2014/main" id="{34F6EF1A-8C40-457B-A025-5897A9DD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734050"/>
            <a:ext cx="5505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结果不达标：带失败原因请求受限重规划</a:t>
            </a:r>
            <a:endParaRPr sz="157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38" name="目标业务流程。虚线为待接入部分；现有检索处理人工向量，图片模型、云服务和完整商品业务待集成。">
            <a:extLst xmlns:a="http://schemas.openxmlformats.org/drawingml/2006/main">
              <a:ext uri="{FF2B5EF4-FFF2-40B4-BE49-F238E27FC236}">
                <a16:creationId xmlns:a16="http://schemas.microsoft.com/office/drawing/2014/main" id="{08450DFC-3CB6-4321-86BF-78B7374D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目标业务流程。虚线为待接入部分；现有检索处理人工向量，图片模型、云服务和完整商品业务待集成。</a:t>
            </a:r>
            <a:endParaRPr sz="1125" b="0">
              <a:solidFill>
                <a:srgbClr val="73879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0292714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1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C9710B1-1599-44F9-9B84-1470DB38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>
              <a:alpha val="100000"/>
            </a:srgbClr>
          </a:solidFill>
          <a:ln xmlns:a="http://schemas.openxmlformats.org/drawingml/2006/main">
            <a:headEnd type="none"/>
            <a:tailEnd type="none"/>
          </a:ln>
        </p:spPr>
        <p:txBody xmlns:a="http://schemas.openxmlformats.org/drawingml/2006/main">
          <a:bodyPr/>
          <a:p/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B3856990-40D6-43EC-8B6F-47172E27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>
              <a:alpha val="100000"/>
            </a:srgbClr>
          </a:solidFill>
          <a:ln xmlns:a="http://schemas.openxmlformats.org/drawingml/2006/main">
            <a:headEnd type="none"/>
            <a:tailEnd type="none"/>
          </a:ln>
        </p:spPr>
        <p:txBody xmlns:a="http://schemas.openxmlformats.org/drawingml/2006/main">
          <a:bodyPr/>
          <a:p/>
        </p:txBody>
      </p:sp>
      <p:sp>
        <p:nvSpPr>
          <p:cNvPr id="4" name="04  技术架构 1/4 · 整体数据流">
            <a:extLst xmlns:a="http://schemas.openxmlformats.org/drawingml/2006/main">
              <a:ext uri="{FF2B5EF4-FFF2-40B4-BE49-F238E27FC236}">
                <a16:creationId xmlns:a16="http://schemas.microsoft.com/office/drawing/2014/main" id="{89AA6AFD-00D1-4B17-9006-DFCA8940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ns0:p xmlns:ns0="http://schemas.openxmlformats.org/drawingml/2006/main">
            <ns0:pPr algn="l">
              <ns0:defRPr sz="1050" b="0">
                <ns0:solidFill>
                  <ns0:srgbClr val="5890BE"/>
                </ns0:solidFill>
                <ns0:latin typeface="Alibaba PuHuiTi 3.0 55 Regular"/>
                <ns0:ea typeface="Alibaba PuHuiTi 3.0 55 Regular"/>
                <ns0:cs typeface="Alibaba PuHuiTi 3.0 55 Regular"/>
              </ns0:defRPr>
            </ns0:pPr>
            <ns0:r>
              <ns0:rPr sz="1050" b="0">
                <ns0:solidFill>
                  <ns0:srgbClr val="5890BE"/>
                </ns0:solidFill>
                <ns0:latin typeface="Alibaba PuHuiTi 3.0 55 Regular"/>
                <ns0:ea typeface="Alibaba PuHuiTi 3.0 55 Regular"/>
                <ns0:cs typeface="Alibaba PuHuiTi 3.0 55 Regular"/>
              </ns0:rPr>
              <ns0:t>04  技术架构 1/5 · 整体数据流</ns0:t>
            </ns0:r>
          </ns0:p>
        </p:txBody>
      </p:sp>
      <p:sp>
        <p:nvSpPr>
          <p:cNvPr id="5" name="云端提出计划，P1 校验并控制执行">
            <a:extLst xmlns:a="http://schemas.openxmlformats.org/drawingml/2006/main">
              <a:ext uri="{FF2B5EF4-FFF2-40B4-BE49-F238E27FC236}">
                <a16:creationId xmlns:a16="http://schemas.microsoft.com/office/drawing/2014/main" id="{E6D3F297-D8F2-44B1-95C0-0E128387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云端提出计划，P1 校验并控制执行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0E8064-0045-4BC8-861A-1FE288DD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4DF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目标架构：业务目标进入规划层，结构化任务回到 P1，执行结果持续反馈给调度器。">
            <a:extLst xmlns:a="http://schemas.openxmlformats.org/drawingml/2006/main">
              <a:ext uri="{FF2B5EF4-FFF2-40B4-BE49-F238E27FC236}">
                <a16:creationId xmlns:a16="http://schemas.microsoft.com/office/drawing/2014/main" id="{B68CD32E-B849-494C-B879-328C2B45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77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目标架构：业务目标进入规划层，结构化任务回到 P1，执行结果持续反馈给调度器。</a:t>
            </a:r>
          </a:p>
        </p:txBody>
      </p:sp>
      <p:sp>
        <p:nvSpPr>
          <p:cNvPr id="8" name="04">
            <a:extLst xmlns:a="http://schemas.openxmlformats.org/drawingml/2006/main">
              <a:ext uri="{FF2B5EF4-FFF2-40B4-BE49-F238E27FC236}">
                <a16:creationId xmlns:a16="http://schemas.microsoft.com/office/drawing/2014/main" id="{075C7327-DB44-4C29-A3BA-FFB6B471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6294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8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3D443B-6B26-4DA7-9054-A3856BE9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1725"/>
            <a:ext cx="2952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业务 App">
            <a:extLst xmlns:a="http://schemas.openxmlformats.org/drawingml/2006/main">
              <a:ext uri="{FF2B5EF4-FFF2-40B4-BE49-F238E27FC236}">
                <a16:creationId xmlns:a16="http://schemas.microsoft.com/office/drawing/2014/main" id="{C945D0D4-78C1-4775-9343-B905DA3E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2647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业务 App</a:t>
            </a:r>
          </a:p>
        </p:txBody>
      </p:sp>
      <p:sp>
        <p:nvSpPr>
          <p:cNvPr id="11" name="目标 / 约束 / 已授权信息">
            <a:extLst xmlns:a="http://schemas.openxmlformats.org/drawingml/2006/main">
              <a:ext uri="{FF2B5EF4-FFF2-40B4-BE49-F238E27FC236}">
                <a16:creationId xmlns:a16="http://schemas.microsoft.com/office/drawing/2014/main" id="{6932B185-EC8B-4836-8C97-9CD3D021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2647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目标 / 约束 / 已授权信息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F72686-A1CA-482E-800F-BA09FBE2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371725"/>
            <a:ext cx="32766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11430">
            <a:solidFill>
              <a:srgbClr val="956A2E"/>
            </a:solidFill>
            <a:prstDash val="dash"/>
          </a:ln>
        </p:spPr>
        <p:txBody xmlns:a="http://schemas.openxmlformats.org/drawingml/2006/main">
          <a:bodyPr/>
          <a:p/>
        </p:txBody>
      </p:sp>
      <p:sp>
        <p:nvSpPr>
          <p:cNvPr id="13" name="云规划适配器">
            <a:extLst xmlns:a="http://schemas.openxmlformats.org/drawingml/2006/main">
              <a:ext uri="{FF2B5EF4-FFF2-40B4-BE49-F238E27FC236}">
                <a16:creationId xmlns:a16="http://schemas.microsoft.com/office/drawing/2014/main" id="{8AFD2769-C231-4CB2-90C7-6AE2794D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495550"/>
            <a:ext cx="2971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56A2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956A2E"/>
                </a:solidFill>
                <a:latin typeface="Alibaba PuHuiTi 3.0 55 Regular"/>
                <a:ea typeface="Alibaba PuHuiTi 3.0 55 Regular"/>
                <a:cs typeface="Alibaba PuHuiTi 3.0 55 Regular"/>
              </a:rPr>
              <a:t>云规划适配器</a:t>
            </a:r>
          </a:p>
        </p:txBody>
      </p:sp>
      <p:sp>
        <p:nvSpPr>
          <p:cNvPr id="14" name="大模型返回 TaskGraph">
            <a:extLst xmlns:a="http://schemas.openxmlformats.org/drawingml/2006/main">
              <a:ext uri="{FF2B5EF4-FFF2-40B4-BE49-F238E27FC236}">
                <a16:creationId xmlns:a16="http://schemas.microsoft.com/office/drawing/2014/main" id="{30862482-A716-4C67-BC9A-99B68705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828925"/>
            <a:ext cx="2971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大模型返回 TaskGraph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630F00-0706-4841-8E34-A12B9CD3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71725"/>
            <a:ext cx="29908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P1 任务图校验">
            <a:extLst xmlns:a="http://schemas.openxmlformats.org/drawingml/2006/main">
              <a:ext uri="{FF2B5EF4-FFF2-40B4-BE49-F238E27FC236}">
                <a16:creationId xmlns:a16="http://schemas.microsoft.com/office/drawing/2014/main" id="{F9E4E784-54D9-497F-94D4-D8F80F6E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95550"/>
            <a:ext cx="2686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P1 任务图校验</a:t>
            </a:r>
          </a:p>
        </p:txBody>
      </p:sp>
      <p:sp>
        <p:nvSpPr>
          <p:cNvPr id="17" name="工具 / 依赖 / 输入 / 授权">
            <a:extLst xmlns:a="http://schemas.openxmlformats.org/drawingml/2006/main">
              <a:ext uri="{FF2B5EF4-FFF2-40B4-BE49-F238E27FC236}">
                <a16:creationId xmlns:a16="http://schemas.microsoft.com/office/drawing/2014/main" id="{DB063DA4-A3AF-4F04-81F1-1CB8099B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28925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工具 / 依赖 / 输入 / 授权</a:t>
            </a:r>
          </a:p>
        </p:txBody>
      </p:sp>
      <p:cxnSp>
        <p:nvCxnSpPr>
          <p:cNvPr id="59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409950" y="2824163"/>
            <a:ext cx="981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90BE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667625" y="2824163"/>
            <a:ext cx="1076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90BE"/>
            </a:solidFill>
            <a:prstDash val="solid"/>
            <a:tailEnd type="triangle" w="sm" len="sm"/>
          </a:ln>
        </p:spPr>
      </p:cxnSp>
      <p:sp>
        <p:nvSpPr>
          <p:cNvPr id="20" name="目标与工具说明">
            <a:extLst xmlns:a="http://schemas.openxmlformats.org/drawingml/2006/main">
              <a:ext uri="{FF2B5EF4-FFF2-40B4-BE49-F238E27FC236}">
                <a16:creationId xmlns:a16="http://schemas.microsoft.com/office/drawing/2014/main" id="{1EA9DCBB-55E9-4B00-9920-222A5D0A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85975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56A2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275" b="0">
                <a:solidFill>
                  <a:srgbClr val="956A2E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目标与工具说明</a:t>
            </a:r>
          </a:p>
        </p:txBody>
      </p:sp>
      <p:sp>
        <p:nvSpPr>
          <p:cNvPr id="21" name="步骤与依赖">
            <a:extLst xmlns:a="http://schemas.openxmlformats.org/drawingml/2006/main">
              <a:ext uri="{FF2B5EF4-FFF2-40B4-BE49-F238E27FC236}">
                <a16:creationId xmlns:a16="http://schemas.microsoft.com/office/drawing/2014/main" id="{49D86008-A41D-43D2-B689-4BF11CEF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0859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56A2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275" b="0">
                <a:solidFill>
                  <a:srgbClr val="956A2E"/>
                </a:solidFill>
                <a:latin typeface="Alibaba PuHuiTi 3.0 55 Regular"/>
                <a:ea typeface="Alibaba PuHuiTi 3.0 55 Regular"/>
                <a:cs typeface="Alibaba PuHuiTi 3.0 55 Regular"/>
              </a:rPr>
              <a:t>步骤与依赖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34A86E-A322-49DA-B0F3-BE764FDE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67175"/>
            <a:ext cx="2952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dash"/>
          </a:ln>
        </p:spPr>
        <p:txBody xmlns:a="http://schemas.openxmlformats.org/drawingml/2006/main">
          <a:bodyPr/>
          <a:p/>
        </p:txBody>
      </p:sp>
      <p:sp>
        <p:nvSpPr>
          <p:cNvPr id="23" name="本地执行">
            <a:extLst xmlns:a="http://schemas.openxmlformats.org/drawingml/2006/main">
              <a:ext uri="{FF2B5EF4-FFF2-40B4-BE49-F238E27FC236}">
                <a16:creationId xmlns:a16="http://schemas.microsoft.com/office/drawing/2014/main" id="{49AFA5C0-B107-4C28-A543-5A50C858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2647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本地执行</a:t>
            </a:r>
          </a:p>
        </p:txBody>
      </p:sp>
      <p:sp>
        <p:nvSpPr>
          <p:cNvPr id="24" name="CPU 工具 / NOE 模型 Worker">
            <a:extLst xmlns:a="http://schemas.openxmlformats.org/drawingml/2006/main">
              <a:ext uri="{FF2B5EF4-FFF2-40B4-BE49-F238E27FC236}">
                <a16:creationId xmlns:a16="http://schemas.microsoft.com/office/drawing/2014/main" id="{F746DC38-EABF-4F82-970C-EC79D5B3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2647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CPU 工具 / NOE 模型 Worker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1FF306-0BBB-485A-8801-909267C3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067175"/>
            <a:ext cx="32766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P1 调度与准入">
            <a:extLst xmlns:a="http://schemas.openxmlformats.org/drawingml/2006/main">
              <a:ext uri="{FF2B5EF4-FFF2-40B4-BE49-F238E27FC236}">
                <a16:creationId xmlns:a16="http://schemas.microsoft.com/office/drawing/2014/main" id="{701ED5B3-D602-4C53-8406-C2105BCF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191000"/>
            <a:ext cx="2971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P1 调度与准入</a:t>
            </a:r>
          </a:p>
        </p:txBody>
      </p:sp>
      <p:sp>
        <p:nvSpPr>
          <p:cNvPr id="27" name="合法候选 / 路径成本 / 配置">
            <a:extLst xmlns:a="http://schemas.openxmlformats.org/drawingml/2006/main">
              <a:ext uri="{FF2B5EF4-FFF2-40B4-BE49-F238E27FC236}">
                <a16:creationId xmlns:a16="http://schemas.microsoft.com/office/drawing/2014/main" id="{C55B95A8-FC23-4094-A8F9-146A0B71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524375"/>
            <a:ext cx="2971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合法候选 / 路径成本 / 配置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D0C952-885B-409A-A018-ECBC38BC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67175"/>
            <a:ext cx="29908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11430">
            <a:solidFill>
              <a:srgbClr val="956A2E"/>
            </a:solidFill>
            <a:prstDash val="dash"/>
          </a:ln>
        </p:spPr>
        <p:txBody xmlns:a="http://schemas.openxmlformats.org/drawingml/2006/main">
          <a:bodyPr/>
          <a:p/>
        </p:txBody>
      </p:sp>
      <p:sp>
        <p:nvSpPr>
          <p:cNvPr id="29" name="云模型执行">
            <a:extLst xmlns:a="http://schemas.openxmlformats.org/drawingml/2006/main">
              <a:ext uri="{FF2B5EF4-FFF2-40B4-BE49-F238E27FC236}">
                <a16:creationId xmlns:a16="http://schemas.microsoft.com/office/drawing/2014/main" id="{ABEFBE23-2E64-401A-ACB4-D7FB0C0B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191000"/>
            <a:ext cx="2686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56A2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956A2E"/>
                </a:solidFill>
                <a:latin typeface="Alibaba PuHuiTi 3.0 55 Regular"/>
                <a:ea typeface="Alibaba PuHuiTi 3.0 55 Regular"/>
                <a:cs typeface="Alibaba PuHuiTi 3.0 55 Regular"/>
              </a:rPr>
              <a:t>云模型执行</a:t>
            </a:r>
          </a:p>
        </p:txBody>
      </p:sp>
      <p:sp>
        <p:nvSpPr>
          <p:cNvPr id="30" name="复杂分析 / 业务复核">
            <a:extLst xmlns:a="http://schemas.openxmlformats.org/drawingml/2006/main">
              <a:ext uri="{FF2B5EF4-FFF2-40B4-BE49-F238E27FC236}">
                <a16:creationId xmlns:a16="http://schemas.microsoft.com/office/drawing/2014/main" id="{0987CE8F-8B24-48A9-9EC6-64A797AB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524375"/>
            <a:ext cx="26860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复杂分析 / 业务复核</a:t>
            </a:r>
          </a:p>
        </p:txBody>
      </p:sp>
      <p:cxnSp>
        <p:nvCxnSpPr>
          <p:cNvPr id="72" name=""/>
          <p:cNvCxnSpPr>
            <a:stCxn xmlns:a="http://schemas.openxmlformats.org/drawingml/2006/main" id="15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 flipH="1">
            <a:off x="6029325" y="3276600"/>
            <a:ext cx="4210050" cy="790575"/>
          </a:xfrm>
          <a:prstGeom xmlns:a="http://schemas.openxmlformats.org/drawingml/2006/main" prst="bentConnector4">
            <a:avLst>
              <a:gd name="adj1" fmla="val 0"/>
              <a:gd name="adj2" fmla="val 28916"/>
            </a:avLst>
          </a:prstGeom>
          <a:ln xmlns:a="http://schemas.openxmlformats.org/drawingml/2006/main" w="19050">
            <a:solidFill>
              <a:srgbClr val="5890BE"/>
            </a:solidFill>
            <a:prstDash val="solid"/>
            <a:tailEnd type="triangle" w="sm" len="sm"/>
          </a:ln>
        </p:spPr>
      </p:cxnSp>
      <p:cxnSp>
        <p:nvCxnSpPr>
          <p:cNvPr id="73" name=""/>
          <p:cNvCxnSpPr>
            <a:stCxn xmlns:a="http://schemas.openxmlformats.org/drawingml/2006/main" id="25" idx="1"/>
            <a:endCxn xmlns:a="http://schemas.openxmlformats.org/drawingml/2006/main" id="22" idx="3"/>
          </p:cNvCxnSpPr>
          <p:nvPr/>
        </p:nvCxnSpPr>
        <p:spPr>
          <a:xfrm xmlns:a="http://schemas.openxmlformats.org/drawingml/2006/main" flipH="1">
            <a:off x="3409950" y="4552950"/>
            <a:ext cx="981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90BE"/>
            </a:solidFill>
            <a:prstDash val="solid"/>
            <a:tailEnd type="triangle" w="sm" len="sm"/>
          </a:ln>
        </p:spPr>
      </p:cxnSp>
      <p:cxnSp>
        <p:nvCxnSpPr>
          <p:cNvPr id="74" name=""/>
          <p:cNvCxnSpPr>
            <a:stCxn xmlns:a="http://schemas.openxmlformats.org/drawingml/2006/main" id="25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7667625" y="4552950"/>
            <a:ext cx="1076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90BE"/>
            </a:solidFill>
            <a:prstDash val="solid"/>
            <a:tailEnd type="triangle" w="sm" len="sm"/>
          </a:ln>
        </p:spPr>
      </p:cxnSp>
      <p:sp>
        <p:nvSpPr>
          <p:cNvPr id="34" name="执行请求">
            <a:extLst xmlns:a="http://schemas.openxmlformats.org/drawingml/2006/main">
              <a:ext uri="{FF2B5EF4-FFF2-40B4-BE49-F238E27FC236}">
                <a16:creationId xmlns:a16="http://schemas.microsoft.com/office/drawing/2014/main" id="{B00FB4E2-B265-4D7E-864D-D04522F7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05225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350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执行请求</a:t>
            </a:r>
          </a:p>
        </p:txBody>
      </p:sp>
      <p:sp>
        <p:nvSpPr>
          <p:cNvPr id="35" name="API 请求">
            <a:extLst xmlns:a="http://schemas.openxmlformats.org/drawingml/2006/main">
              <a:ext uri="{FF2B5EF4-FFF2-40B4-BE49-F238E27FC236}">
                <a16:creationId xmlns:a16="http://schemas.microsoft.com/office/drawing/2014/main" id="{F870E71D-C2BC-483D-92E4-A51F1FCC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705225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56A2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350" b="0">
                <a:solidFill>
                  <a:srgbClr val="956A2E"/>
                </a:solidFill>
                <a:latin typeface="Alibaba PuHuiTi 3.0 55 Regular"/>
                <a:ea typeface="Alibaba PuHuiTi 3.0 55 Regular"/>
                <a:cs typeface="Alibaba PuHuiTi 3.0 55 Regular"/>
              </a:rPr>
              <a:t>API 请求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7E5721-7A25-4420-BBAB-39976A81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53075"/>
            <a:ext cx="112776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C9D4D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7" name="P1 状态与反馈">
            <a:extLst xmlns:a="http://schemas.openxmlformats.org/drawingml/2006/main">
              <a:ext uri="{FF2B5EF4-FFF2-40B4-BE49-F238E27FC236}">
                <a16:creationId xmlns:a16="http://schemas.microsoft.com/office/drawing/2014/main" id="{5ED57DAB-CDE5-44CA-9051-D8C973A1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65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P1 状态与反馈</a:t>
            </a:r>
          </a:p>
        </p:txBody>
      </p:sp>
      <p:sp>
        <p:nvSpPr>
          <p:cNvPr id="38" name="结果 + 实际配置 + 耗时回执；结合资源采样，更新下一步选择">
            <a:extLst xmlns:a="http://schemas.openxmlformats.org/drawingml/2006/main">
              <a:ext uri="{FF2B5EF4-FFF2-40B4-BE49-F238E27FC236}">
                <a16:creationId xmlns:a16="http://schemas.microsoft.com/office/drawing/2014/main" id="{A30F5D5C-10DD-4CF0-B76B-76C7782F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6959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结果 + 实际配置 + 耗时回执；结合资源采样，更新下一步选择</a:t>
            </a:r>
          </a:p>
        </p:txBody>
      </p:sp>
      <p:cxnSp>
        <p:nvCxnSpPr>
          <p:cNvPr id="80" name=""/>
          <p:cNvCxnSpPr>
            <a:stCxn xmlns:a="http://schemas.openxmlformats.org/drawingml/2006/main" id="22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>
            <a:off x="1933575" y="5038725"/>
            <a:ext cx="4162425" cy="514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890BE"/>
            </a:solidFill>
            <a:prstDash val="solid"/>
            <a:tailEnd type="triangle" w="sm" len="sm"/>
          </a:ln>
        </p:spPr>
      </p:cxnSp>
      <p:cxnSp>
        <p:nvCxnSpPr>
          <p:cNvPr id="81" name=""/>
          <p:cNvCxnSpPr>
            <a:stCxn xmlns:a="http://schemas.openxmlformats.org/drawingml/2006/main" id="28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 flipH="1">
            <a:off x="6096000" y="5038725"/>
            <a:ext cx="4143375" cy="514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956A2E"/>
            </a:solidFill>
            <a:prstDash val="solid"/>
            <a:tailEnd type="triangle" w="sm" len="sm"/>
          </a:ln>
        </p:spPr>
      </p:cxnSp>
      <p:cxnSp>
        <p:nvCxnSpPr>
          <p:cNvPr id="82" name=""/>
          <p:cNvCxnSpPr>
            <a:stCxn xmlns:a="http://schemas.openxmlformats.org/drawingml/2006/main" id="36" idx="0"/>
            <a:endCxn xmlns:a="http://schemas.openxmlformats.org/drawingml/2006/main" id="25" idx="2"/>
          </p:cNvCxnSpPr>
          <p:nvPr/>
        </p:nvCxnSpPr>
        <p:spPr>
          <a:xfrm xmlns:a="http://schemas.openxmlformats.org/drawingml/2006/main" flipH="1" flipV="1">
            <a:off x="6029325" y="5038725"/>
            <a:ext cx="66675" cy="514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890BE"/>
            </a:solidFill>
            <a:prstDash val="solid"/>
            <a:tailEnd type="triangle" w="sm" len="sm"/>
          </a:ln>
        </p:spPr>
      </p:cxnSp>
      <p:sp>
        <p:nvSpPr>
          <p:cNvPr id="42" name="虚线含待接入模块。图为目标闭环；现有任务图、调度与回执可运行，NOE / 云模型适配待完成。">
            <a:extLst xmlns:a="http://schemas.openxmlformats.org/drawingml/2006/main">
              <a:ext uri="{FF2B5EF4-FFF2-40B4-BE49-F238E27FC236}">
                <a16:creationId xmlns:a16="http://schemas.microsoft.com/office/drawing/2014/main" id="{02C2C950-EB44-46F5-8DD0-2B9D312B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rPr>
              <a:t>虚线含待接入模块。图为目标闭环；现有任务图、调度与回执可运行，NOE / 云模型适配待完成。</a:t>
            </a:r>
          </a:p>
        </p:txBody>
      </p:sp>
    </p:spTree>
    <p:extLst>
      <p:ext uri="{BB962C8B-B14F-4D97-AF65-F5344CB8AC3E}">
        <p14:creationId xmlns:p14="http://schemas.microsoft.com/office/powerpoint/2010/main" val="49113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1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C9710B1-1599-44F9-9B84-1470DB38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>
              <a:alpha val="100000"/>
            </a:srgbClr>
          </a:solidFill>
          <a:ln xmlns:a="http://schemas.openxmlformats.org/drawingml/2006/main">
            <a:headEnd type="none"/>
            <a:tailEnd type="none"/>
          </a:ln>
        </p:spPr>
        <p:txBody xmlns:a="http://schemas.openxmlformats.org/drawingml/2006/main">
          <a:bodyPr/>
          <a:p/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B3856990-40D6-43EC-8B6F-47172E27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>
              <a:alpha val="100000"/>
            </a:srgbClr>
          </a:solidFill>
          <a:ln xmlns:a="http://schemas.openxmlformats.org/drawingml/2006/main">
            <a:headEnd type="none"/>
            <a:tailEnd type="none"/>
          </a:ln>
        </p:spPr>
        <p:txBody xmlns:a="http://schemas.openxmlformats.org/drawingml/2006/main">
          <a:bodyPr/>
          <a:p/>
        </p:txBody>
      </p:sp>
      <p:sp>
        <p:nvSpPr>
          <p:cNvPr id="4" name="05  技术架构 2/4 · 基座模型">
            <a:extLst xmlns:a="http://schemas.openxmlformats.org/drawingml/2006/main">
              <a:ext uri="{FF2B5EF4-FFF2-40B4-BE49-F238E27FC236}">
                <a16:creationId xmlns:a16="http://schemas.microsoft.com/office/drawing/2014/main" id="{3037808D-1E2D-44DE-AD5C-4E2B85F8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ns0:p xmlns:ns0="http://schemas.openxmlformats.org/drawingml/2006/main">
            <ns0:pPr algn="l">
              <ns0:defRPr sz="1050" b="0">
                <ns0:solidFill>
                  <ns0:srgbClr val="5890BE"/>
                </ns0:solidFill>
                <ns0:latin typeface="Alibaba PuHuiTi 3.0 55 Regular"/>
                <ns0:ea typeface="Alibaba PuHuiTi 3.0 55 Regular"/>
                <ns0:cs typeface="Alibaba PuHuiTi 3.0 55 Regular"/>
              </ns0:defRPr>
            </ns0:pPr>
            <ns0:r>
              <ns0:rPr sz="1050" b="0">
                <ns0:solidFill>
                  <ns0:srgbClr val="5890BE"/>
                </ns0:solidFill>
                <ns0:latin typeface="Alibaba PuHuiTi 3.0 55 Regular"/>
                <ns0:ea typeface="Alibaba PuHuiTi 3.0 55 Regular"/>
                <ns0:cs typeface="Alibaba PuHuiTi 3.0 55 Regular"/>
              </ns0:rPr>
              <ns0:t>05  技术架构 2/5 · 基座模型</ns0:t>
            </ns0:r>
          </ns0:p>
        </p:txBody>
      </p:sp>
      <p:sp>
        <p:nvSpPr>
          <p:cNvPr id="5" name="端侧提取检索特征，云端承担规划与复杂复核">
            <a:extLst xmlns:a="http://schemas.openxmlformats.org/drawingml/2006/main">
              <a:ext uri="{FF2B5EF4-FFF2-40B4-BE49-F238E27FC236}">
                <a16:creationId xmlns:a16="http://schemas.microsoft.com/office/drawing/2014/main" id="{6C99F905-4D6C-497F-89AF-32EF1C98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端侧提取检索特征，云端承担规划与复杂复核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6350E2-44FD-403B-83BB-67F3A396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4DF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以下为首轮验证候选。模型名称具体列出，最终版本由 P1 兼容性与云账号可用性确定。">
            <a:extLst xmlns:a="http://schemas.openxmlformats.org/drawingml/2006/main">
              <a:ext uri="{FF2B5EF4-FFF2-40B4-BE49-F238E27FC236}">
                <a16:creationId xmlns:a16="http://schemas.microsoft.com/office/drawing/2014/main" id="{A76B6998-B612-447F-A404-D4449E72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77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以下为首轮验证候选。模型名称具体列出，最终版本由 P1 兼容性与云账号可用性确定。</a:t>
            </a:r>
          </a:p>
        </p:txBody>
      </p:sp>
      <p:sp>
        <p:nvSpPr>
          <p:cNvPr id="8" name="05">
            <a:extLst xmlns:a="http://schemas.openxmlformats.org/drawingml/2006/main">
              <a:ext uri="{FF2B5EF4-FFF2-40B4-BE49-F238E27FC236}">
                <a16:creationId xmlns:a16="http://schemas.microsoft.com/office/drawing/2014/main" id="{E729CC37-FDD8-4E97-BCDE-1BA39F50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6294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8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rPr>
              <a:t>05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457200" y="2257425"/>
          <a:ext xmlns:a="http://schemas.openxmlformats.org/drawingml/2006/main" cx="11277600" cy="2790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3457575"/>
                <a:gridCol w="5581650"/>
              </a:tblGrid>
              <a:tr h="930275">
                <a:tc>
                  <a:txBody>
                    <a:bodyPr lIns="123825" tIns="76200" rIns="95250" bIns="76200"/>
                    <a:lstStyle/>
                    <a:p>
                      <a:r>
                        <a:rPr sz="1500" b="1">
                          <a:solidFill>
                            <a:srgbClr val="10274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任务 / 位置</a:t>
                      </a:r>
                    </a:p>
                  </a:txBody>
                  <a:tcPr marL="91440" marR="91440" marT="45720" marB="45720" anchor="ctr">
                    <a:solidFill>
                      <a:srgbClr val="E7ECF2"/>
                    </a:solidFill>
                  </a:tcPr>
                </a:tc>
                <a:tc>
                  <a:txBody>
                    <a:bodyPr lIns="123825" tIns="76200" rIns="95250" bIns="76200"/>
                    <a:lstStyle/>
                    <a:p>
                      <a:r>
                        <a:rPr sz="1500" b="1">
                          <a:solidFill>
                            <a:srgbClr val="10274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首轮候选与推理路线</a:t>
                      </a:r>
                    </a:p>
                  </a:txBody>
                  <a:tcPr marL="91440" marR="91440" marT="45720" marB="45720" anchor="ctr">
                    <a:solidFill>
                      <a:srgbClr val="E7ECF2"/>
                    </a:solidFill>
                  </a:tcPr>
                </a:tc>
                <a:tc>
                  <a:txBody>
                    <a:bodyPr lIns="123825" tIns="76200" rIns="95250" bIns="76200"/>
                    <a:lstStyle/>
                    <a:p>
                      <a:r>
                        <a:rPr sz="1500" b="1">
                          <a:solidFill>
                            <a:srgbClr val="10274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选择理由与待验证条件</a:t>
                      </a:r>
                    </a:p>
                  </a:txBody>
                  <a:tcPr marL="91440" marR="91440" marT="45720" marB="45720" anchor="ctr">
                    <a:solidFill>
                      <a:srgbClr val="E7ECF2"/>
                    </a:solidFill>
                  </a:tcPr>
                </a:tc>
              </a:tr>
              <a:tr h="930275">
                <a:tc>
                  <a:txBody>
                    <a:bodyPr lIns="123825" tIns="76200" rIns="95250" bIns="76200"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图片编码 / P1</a:t>
                      </a:r>
                    </a:p>
                  </a:txBody>
                  <a:tcPr marL="91440" marR="91440" marT="45720" marB="45720" anchor="ctr">
                    <a:solidFill>
                      <a:srgbClr val="F1F4F6"/>
                    </a:solidFill>
                  </a:tcPr>
                </a:tc>
                <a:tc>
                  <a:txBody>
                    <a:bodyPr lIns="123825" tIns="76200" rIns="95250" bIns="76200"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CLIP ViT-B/32</a:t>
                      </a:r>
                    </a:p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视觉编码器 · MIT</a:t>
                      </a:r>
                    </a:p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拟接 NOE / NPU</a:t>
                      </a:r>
                    </a:p>
                  </a:txBody>
                  <a:tcPr marL="91440" marR="91440" marT="45720" marB="45720" anchor="ctr">
                    <a:solidFill>
                      <a:srgbClr val="F1F4F6"/>
                    </a:solidFill>
                  </a:tcPr>
                </a:tc>
                <a:tc>
                  <a:txBody>
                    <a:bodyPr lIns="123825" tIns="76200" rIns="95250" bIns="76200"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提取图片特征，便于 CPU 同模型对照</a:t>
                      </a:r>
                    </a:p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先核对官方模型包、算子和量化质量</a:t>
                      </a:r>
                    </a:p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尚未确认该权重可直接在 NOE 运行</a:t>
                      </a:r>
                    </a:p>
                  </a:txBody>
                  <a:tcPr marL="91440" marR="91440" marT="45720" marB="45720" anchor="ctr">
                    <a:solidFill>
                      <a:srgbClr val="F1F4F6"/>
                    </a:solidFill>
                  </a:tcPr>
                </a:tc>
              </a:tr>
              <a:tr h="930275">
                <a:tc>
                  <a:txBody>
                    <a:bodyPr lIns="123825" tIns="76200" rIns="95250" bIns="76200"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规划与复核 / 云</a:t>
                      </a:r>
                    </a:p>
                  </a:txBody>
                  <a:tcPr marL="91440" marR="91440" marT="45720" marB="45720" anchor="ctr">
                    <a:solidFill>
                      <a:srgbClr val="F1F4F6"/>
                    </a:solidFill>
                  </a:tcPr>
                </a:tc>
                <a:tc>
                  <a:txBody>
                    <a:bodyPr lIns="123825" tIns="76200" rIns="95250" bIns="76200"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Qwen2.5-VL-7B-Instruct</a:t>
                      </a:r>
                    </a:p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Apache-2.0</a:t>
                      </a:r>
                    </a:p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拟经 AnyInt 应用 API</a:t>
                      </a:r>
                    </a:p>
                  </a:txBody>
                  <a:tcPr marL="91440" marR="91440" marT="45720" marB="45720" anchor="ctr">
                    <a:solidFill>
                      <a:srgbClr val="F1F4F6"/>
                    </a:solidFill>
                  </a:tcPr>
                </a:tc>
                <a:tc>
                  <a:txBody>
                    <a:bodyPr lIns="123825" tIns="76200" rIns="95250" bIns="76200"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图文理解与结构化输出支持两类任务</a:t>
                      </a:r>
                    </a:p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核对具体服务型号、额度与业务质量</a:t>
                      </a:r>
                    </a:p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AnyInt 是否提供该型号仍待确认</a:t>
                      </a:r>
                    </a:p>
                  </a:txBody>
                  <a:tcPr marL="91440" marR="91440" marT="45720" marB="45720" anchor="ctr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10" name="为什么这样分工">
            <a:extLst xmlns:a="http://schemas.openxmlformats.org/drawingml/2006/main">
              <a:ext uri="{FF2B5EF4-FFF2-40B4-BE49-F238E27FC236}">
                <a16:creationId xmlns:a16="http://schemas.microsoft.com/office/drawing/2014/main" id="{B3279CA7-EEFB-447F-B86E-DEF59BF3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7685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为什么这样分工</a:t>
            </a:r>
          </a:p>
        </p:txBody>
      </p:sp>
      <p:sp>
        <p:nvSpPr>
          <p:cNvPr id="11" name="高频编码与检索留在端侧，复杂规划与歧义复核按需调用云端。">
            <a:extLst xmlns:a="http://schemas.openxmlformats.org/drawingml/2006/main">
              <a:ext uri="{FF2B5EF4-FFF2-40B4-BE49-F238E27FC236}">
                <a16:creationId xmlns:a16="http://schemas.microsoft.com/office/drawing/2014/main" id="{0524BBB3-B96E-4917-AB01-D89C4ED3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276850"/>
            <a:ext cx="880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650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高频编码与检索留在端侧，复杂规划与歧义复核按需调用云端。</a:t>
            </a:r>
          </a:p>
        </p:txBody>
      </p:sp>
      <p:sp>
        <p:nvSpPr>
          <p:cNvPr id="12" name="相较全程云调用，目标是减少上传和调用；相较端侧常驻大语言模型，优先保留调度与检索资源。">
            <a:extLst xmlns:a="http://schemas.openxmlformats.org/drawingml/2006/main">
              <a:ext uri="{FF2B5EF4-FFF2-40B4-BE49-F238E27FC236}">
                <a16:creationId xmlns:a16="http://schemas.microsoft.com/office/drawing/2014/main" id="{4F20468E-A8BE-41C2-A05C-B0F7D4FE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53100"/>
            <a:ext cx="1127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相较全程云调用，目标是减少上传和调用；相较端侧常驻大语言模型，优先保留调度与检索资源。</a:t>
            </a:r>
          </a:p>
        </p:txBody>
      </p:sp>
      <p:sp>
        <p:nvSpPr>
          <p:cNvPr id="13" name="接入后锁定模型 / 权重或服务修订、精度、SDK 与许可证；性能、质量和费用均以实际验证为准。">
            <a:extLst xmlns:a="http://schemas.openxmlformats.org/drawingml/2006/main">
              <a:ext uri="{FF2B5EF4-FFF2-40B4-BE49-F238E27FC236}">
                <a16:creationId xmlns:a16="http://schemas.microsoft.com/office/drawing/2014/main" id="{F8A100FE-94C0-4FC5-9DE9-58DAC185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rPr>
              <a:t>接入后锁定模型 / 权重或服务修订、精度、SDK 与许可证；性能、质量和费用均以实际验证为准。</a:t>
            </a:r>
          </a:p>
        </p:txBody>
      </p:sp>
    </p:spTree>
    <p:extLst>
      <p:ext uri="{BB962C8B-B14F-4D97-AF65-F5344CB8AC3E}">
        <p14:creationId xmlns:p14="http://schemas.microsoft.com/office/powerpoint/2010/main" val="49113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1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C9710B1-1599-44F9-9B84-1470DB38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>
              <a:alpha val="100000"/>
            </a:srgbClr>
          </a:solidFill>
          <a:ln xmlns:a="http://schemas.openxmlformats.org/drawingml/2006/main">
            <a:headEnd type="none"/>
            <a:tailEnd type="none"/>
          </a:ln>
        </p:spPr>
        <p:txBody xmlns:a="http://schemas.openxmlformats.org/drawingml/2006/main">
          <a:bodyPr/>
          <a:p/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B3856990-40D6-43EC-8B6F-47172E27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>
              <a:alpha val="100000"/>
            </a:srgbClr>
          </a:solidFill>
          <a:ln xmlns:a="http://schemas.openxmlformats.org/drawingml/2006/main">
            <a:headEnd type="none"/>
            <a:tailEnd type="none"/>
          </a:ln>
        </p:spPr>
        <p:txBody xmlns:a="http://schemas.openxmlformats.org/drawingml/2006/main">
          <a:bodyPr/>
          <a:p/>
        </p:txBody>
      </p:sp>
      <p:sp>
        <p:nvSpPr>
          <p:cNvPr id="4" name="06  技术架构 3/4 · Agent 框架">
            <a:extLst xmlns:a="http://schemas.openxmlformats.org/drawingml/2006/main">
              <a:ext uri="{FF2B5EF4-FFF2-40B4-BE49-F238E27FC236}">
                <a16:creationId xmlns:a16="http://schemas.microsoft.com/office/drawing/2014/main" id="{E2667350-C618-41C0-8089-BB5917F6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ns0:p xmlns:ns0="http://schemas.openxmlformats.org/drawingml/2006/main">
            <ns0:pPr algn="l">
              <ns0:defRPr sz="1050" b="0">
                <ns0:solidFill>
                  <ns0:srgbClr val="5890BE"/>
                </ns0:solidFill>
                <ns0:latin typeface="Alibaba PuHuiTi 3.0 55 Regular"/>
                <ns0:ea typeface="Alibaba PuHuiTi 3.0 55 Regular"/>
                <ns0:cs typeface="Alibaba PuHuiTi 3.0 55 Regular"/>
              </ns0:defRPr>
            </ns0:pPr>
            <ns0:r>
              <ns0:rPr sz="1050" b="0">
                <ns0:solidFill>
                  <ns0:srgbClr val="5890BE"/>
                </ns0:solidFill>
                <ns0:latin typeface="Alibaba PuHuiTi 3.0 55 Regular"/>
                <ns0:ea typeface="Alibaba PuHuiTi 3.0 55 Regular"/>
                <ns0:cs typeface="Alibaba PuHuiTi 3.0 55 Regular"/>
              </ns0:rPr>
              <ns0:t>06  技术架构 3/5 · Agent 框架</ns0:t>
            </ns0:r>
          </ns0:p>
        </p:txBody>
      </p:sp>
      <p:sp>
        <p:nvSpPr>
          <p:cNvPr id="5" name="单 Agent 多步编排，自研 Runtime 承担调度">
            <a:extLst xmlns:a="http://schemas.openxmlformats.org/drawingml/2006/main">
              <a:ext uri="{FF2B5EF4-FFF2-40B4-BE49-F238E27FC236}">
                <a16:creationId xmlns:a16="http://schemas.microsoft.com/office/drawing/2014/main" id="{567E1C3A-55E8-44F0-A93B-4D9FEE4C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单 Agent 多步编排，自研 Runtime 承担调度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EF5E36-844C-4F3D-9F17-CAE113C5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4DF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采用 TypeScript 5.9.3 + Node.js 22+，复用已有调度核心，并通过工具">
            <a:extLst xmlns:a="http://schemas.openxmlformats.org/drawingml/2006/main">
              <a:ext uri="{FF2B5EF4-FFF2-40B4-BE49-F238E27FC236}">
                <a16:creationId xmlns:a16="http://schemas.microsoft.com/office/drawing/2014/main" id="{4B4F2C96-7D75-4592-B357-A84AA0CF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77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采用 TypeScript 5.9.3 + Node.js 22+，复用已有调度核心，并通过工具契约连接不同模型。</a:t>
            </a:r>
          </a:p>
        </p:txBody>
      </p:sp>
      <p:sp>
        <p:nvSpPr>
          <p:cNvPr id="8" name="06">
            <a:extLst xmlns:a="http://schemas.openxmlformats.org/drawingml/2006/main">
              <a:ext uri="{FF2B5EF4-FFF2-40B4-BE49-F238E27FC236}">
                <a16:creationId xmlns:a16="http://schemas.microsoft.com/office/drawing/2014/main" id="{85A46651-7DEF-427F-A4AF-2A0B9383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6294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8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DED8C9-6EC7-4D48-ABE2-E0652402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95525"/>
            <a:ext cx="2390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TaskGraph">
            <a:extLst xmlns:a="http://schemas.openxmlformats.org/drawingml/2006/main">
              <a:ext uri="{FF2B5EF4-FFF2-40B4-BE49-F238E27FC236}">
                <a16:creationId xmlns:a16="http://schemas.microsoft.com/office/drawing/2014/main" id="{56CD5EAB-D752-46BA-B0A6-45FE5182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20859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65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TaskGraph</a:t>
            </a:r>
          </a:p>
        </p:txBody>
      </p:sp>
      <p:sp>
        <p:nvSpPr>
          <p:cNvPr id="11" name="任务图：步骤与依赖">
            <a:extLst xmlns:a="http://schemas.openxmlformats.org/drawingml/2006/main">
              <a:ext uri="{FF2B5EF4-FFF2-40B4-BE49-F238E27FC236}">
                <a16:creationId xmlns:a16="http://schemas.microsoft.com/office/drawing/2014/main" id="{AD5445F5-8760-4945-8B71-CC9176D7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20859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任务图：步骤与依赖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3FF7DA-46FA-4FCB-95AE-485FD7CE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295525"/>
            <a:ext cx="2390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FleetRuntime">
            <a:extLst xmlns:a="http://schemas.openxmlformats.org/drawingml/2006/main">
              <a:ext uri="{FF2B5EF4-FFF2-40B4-BE49-F238E27FC236}">
                <a16:creationId xmlns:a16="http://schemas.microsoft.com/office/drawing/2014/main" id="{99F483A5-8B59-4D9D-BFF5-C78CD832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419350"/>
            <a:ext cx="20859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65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FleetRuntime</a:t>
            </a:r>
          </a:p>
        </p:txBody>
      </p:sp>
      <p:sp>
        <p:nvSpPr>
          <p:cNvPr id="14" name="校验图 / 按依赖推进">
            <a:extLst xmlns:a="http://schemas.openxmlformats.org/drawingml/2006/main">
              <a:ext uri="{FF2B5EF4-FFF2-40B4-BE49-F238E27FC236}">
                <a16:creationId xmlns:a16="http://schemas.microsoft.com/office/drawing/2014/main" id="{1A885B08-0A71-49D8-9296-550F85F9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752725"/>
            <a:ext cx="20859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校验图 / 按依赖推进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676418-32D5-4CA8-A6D1-16268C76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95525"/>
            <a:ext cx="2390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ToolRegistry">
            <a:extLst xmlns:a="http://schemas.openxmlformats.org/drawingml/2006/main">
              <a:ext uri="{FF2B5EF4-FFF2-40B4-BE49-F238E27FC236}">
                <a16:creationId xmlns:a16="http://schemas.microsoft.com/office/drawing/2014/main" id="{6CB4DCF4-EA92-478B-8815-3359C494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19350"/>
            <a:ext cx="20859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65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ToolRegistry</a:t>
            </a:r>
          </a:p>
        </p:txBody>
      </p:sp>
      <p:sp>
        <p:nvSpPr>
          <p:cNvPr id="17" name="工具能力与合法配置">
            <a:extLst xmlns:a="http://schemas.openxmlformats.org/drawingml/2006/main">
              <a:ext uri="{FF2B5EF4-FFF2-40B4-BE49-F238E27FC236}">
                <a16:creationId xmlns:a16="http://schemas.microsoft.com/office/drawing/2014/main" id="{BDB6C7B8-DB87-43B8-A841-1829D5DE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52725"/>
            <a:ext cx="20859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工具能力与合法配置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F801BB-C294-4618-84BA-390C7318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295525"/>
            <a:ext cx="2390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执行与回执">
            <a:extLst xmlns:a="http://schemas.openxmlformats.org/drawingml/2006/main">
              <a:ext uri="{FF2B5EF4-FFF2-40B4-BE49-F238E27FC236}">
                <a16:creationId xmlns:a16="http://schemas.microsoft.com/office/drawing/2014/main" id="{C196AB16-6D71-4C0B-A507-0622E4A8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419350"/>
            <a:ext cx="20859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65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执行与回执</a:t>
            </a:r>
          </a:p>
        </p:txBody>
      </p:sp>
      <p:sp>
        <p:nvSpPr>
          <p:cNvPr id="20" name="工具结果 / 状态更新">
            <a:extLst xmlns:a="http://schemas.openxmlformats.org/drawingml/2006/main">
              <a:ext uri="{FF2B5EF4-FFF2-40B4-BE49-F238E27FC236}">
                <a16:creationId xmlns:a16="http://schemas.microsoft.com/office/drawing/2014/main" id="{9F5AEF48-12C8-4F35-B636-0956076E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752725"/>
            <a:ext cx="20859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工具结果 / 状态更新</a:t>
            </a:r>
          </a:p>
        </p:txBody>
      </p:sp>
      <p:cxnSp>
        <p:nvCxnSpPr>
          <p:cNvPr id="46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847975" y="274796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90BE"/>
            </a:solidFill>
            <a:prstDash val="solid"/>
            <a:tail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810250" y="274796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90BE"/>
            </a:solidFill>
            <a:prstDash val="solid"/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772525" y="274796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90BE"/>
            </a:solidFill>
            <a:prstDash val="solid"/>
            <a:tailEnd type="triangle" w="sm" len="sm"/>
          </a:ln>
        </p:spPr>
      </p:cxnSp>
      <p:sp>
        <p:nvSpPr>
          <p:cNvPr id="24" name="调度实现：约束过滤 + 成本预测 + 优先级队列；真实执行回执用于轻量在线校准。">
            <a:extLst xmlns:a="http://schemas.openxmlformats.org/drawingml/2006/main">
              <a:ext uri="{FF2B5EF4-FFF2-40B4-BE49-F238E27FC236}">
                <a16:creationId xmlns:a16="http://schemas.microsoft.com/office/drawing/2014/main" id="{1444F51D-B722-4870-9588-D33CECB5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19475"/>
            <a:ext cx="11277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75" b="1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调度实现：约束过滤 + 成本预测 + 优先级队列；真实执行回执用于轻量在线校准。</a:t>
            </a:r>
          </a:p>
        </p:txBody>
      </p:sp>
      <p:graphicFrame>
        <p:nvGraphicFramePr>
          <p:cNvPr id="50" name=""/>
          <p:cNvGraphicFramePr/>
          <p:nvPr/>
        </p:nvGraphicFramePr>
        <p:xfrm>
          <a:off xmlns:a="http://schemas.openxmlformats.org/drawingml/2006/main" x="457200" y="3943350"/>
          <a:ext xmlns:a="http://schemas.openxmlformats.org/drawingml/2006/main" cx="11277600" cy="2009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24200"/>
                <a:gridCol w="8153400"/>
              </a:tblGrid>
              <a:tr h="502444">
                <a:tc>
                  <a:txBody>
                    <a:bodyPr lIns="123825" tIns="76200" rIns="95250" bIns="76200"/>
                    <a:lstStyle/>
                    <a:p>
                      <a:r>
                        <a:rPr sz="1500" b="1">
                          <a:solidFill>
                            <a:srgbClr val="10274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路线对比</a:t>
                      </a:r>
                    </a:p>
                  </a:txBody>
                  <a:tcPr marL="91440" marR="91440" marT="45720" marB="45720" anchor="ctr">
                    <a:solidFill>
                      <a:srgbClr val="E7ECF2"/>
                    </a:solidFill>
                  </a:tcPr>
                </a:tc>
                <a:tc>
                  <a:txBody>
                    <a:bodyPr lIns="123825" tIns="76200" rIns="95250" bIns="76200"/>
                    <a:lstStyle/>
                    <a:p>
                      <a:r>
                        <a:rPr sz="1500" b="1">
                          <a:solidFill>
                            <a:srgbClr val="10274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本项目的取舍</a:t>
                      </a:r>
                    </a:p>
                  </a:txBody>
                  <a:tcPr marL="91440" marR="91440" marT="45720" marB="45720" anchor="ctr">
                    <a:solidFill>
                      <a:srgbClr val="E7ECF2"/>
                    </a:solidFill>
                  </a:tcPr>
                </a:tc>
              </a:tr>
              <a:tr h="502444">
                <a:tc>
                  <a:txBody>
                    <a:bodyPr lIns="123825" tIns="76200" rIns="95250" bIns="76200"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手写固定调用链</a:t>
                      </a:r>
                    </a:p>
                  </a:txBody>
                  <a:tcPr marL="91440" marR="91440" marT="45720" marB="45720" anchor="ctr">
                    <a:solidFill>
                      <a:srgbClr val="F1F4F6"/>
                    </a:solidFill>
                  </a:tcPr>
                </a:tc>
                <a:tc>
                  <a:txBody>
                    <a:bodyPr lIns="123825" tIns="76200" rIns="95250" bIns="76200"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接入简单，但资源变化需增加专门分支；保留为对照基线</a:t>
                      </a:r>
                    </a:p>
                  </a:txBody>
                  <a:tcPr marL="91440" marR="91440" marT="45720" marB="45720" anchor="ctr">
                    <a:solidFill>
                      <a:srgbClr val="F1F4F6"/>
                    </a:solidFill>
                  </a:tcPr>
                </a:tc>
              </a:tr>
              <a:tr h="502444">
                <a:tc>
                  <a:txBody>
                    <a:bodyPr lIns="123825" tIns="76200" rIns="95250" bIns="76200"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通用 Agent 编排框架</a:t>
                      </a:r>
                    </a:p>
                  </a:txBody>
                  <a:tcPr marL="91440" marR="91440" marT="45720" marB="45720" anchor="ctr">
                    <a:solidFill>
                      <a:srgbClr val="F1F4F6"/>
                    </a:solidFill>
                  </a:tcPr>
                </a:tc>
                <a:tc>
                  <a:txBody>
                    <a:bodyPr lIns="123825" tIns="76200" rIns="95250" bIns="76200"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可承接上层规划；本项目尚未引入，板内准入与执行核验仍需适配</a:t>
                      </a:r>
                    </a:p>
                  </a:txBody>
                  <a:tcPr marL="91440" marR="91440" marT="45720" marB="45720" anchor="ctr">
                    <a:solidFill>
                      <a:srgbClr val="F1F4F6"/>
                    </a:solidFill>
                  </a:tcPr>
                </a:tc>
              </a:tr>
              <a:tr h="502444">
                <a:tc>
                  <a:txBody>
                    <a:bodyPr lIns="123825" tIns="76200" rIns="95250" bIns="76200"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自研 TypeScript Runtime</a:t>
                      </a:r>
                    </a:p>
                  </a:txBody>
                  <a:tcPr marL="91440" marR="91440" marT="45720" marB="45720" anchor="ctr">
                    <a:solidFill>
                      <a:srgbClr val="F1F4F6"/>
                    </a:solidFill>
                  </a:tcPr>
                </a:tc>
                <a:tc>
                  <a:txBody>
                    <a:bodyPr lIns="123825" tIns="76200" rIns="95250" bIns="76200"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已具备任务图、工具契约和调度代码；便于直接核验执行配置与回执</a:t>
                      </a:r>
                    </a:p>
                  </a:txBody>
                  <a:tcPr marL="91440" marR="91440" marT="45720" marB="45720" anchor="ctr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26" name="当前任务图按拓扑串行执行；未实现整图自动重试 / 恢复。快速调度走本地规则与统计预测，不逐次请求">
            <a:extLst xmlns:a="http://schemas.openxmlformats.org/drawingml/2006/main">
              <a:ext uri="{FF2B5EF4-FFF2-40B4-BE49-F238E27FC236}">
                <a16:creationId xmlns:a16="http://schemas.microsoft.com/office/drawing/2014/main" id="{8EF11AB0-33A4-4B01-A49A-26382ED8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rPr>
              <a:t>当前任务图按拓扑串行执行；未实现整图自动重试 / 恢复。快速调度走本地规则与统计预测，不逐次请求大模型。</a:t>
            </a:r>
          </a:p>
        </p:txBody>
      </p:sp>
    </p:spTree>
    <p:extLst>
      <p:ext uri="{BB962C8B-B14F-4D97-AF65-F5344CB8AC3E}">
        <p14:creationId xmlns:p14="http://schemas.microsoft.com/office/powerpoint/2010/main" val="49113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1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C9710B1-1599-44F9-9B84-1470DB38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>
              <a:alpha val="100000"/>
            </a:srgbClr>
          </a:solidFill>
          <a:ln xmlns:a="http://schemas.openxmlformats.org/drawingml/2006/main">
            <a:headEnd type="none"/>
            <a:tailEnd type="none"/>
          </a:ln>
        </p:spPr>
        <p:txBody xmlns:a="http://schemas.openxmlformats.org/drawingml/2006/main">
          <a:bodyPr/>
          <a:p/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B3856990-40D6-43EC-8B6F-47172E27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>
              <a:alpha val="100000"/>
            </a:srgbClr>
          </a:solidFill>
          <a:ln xmlns:a="http://schemas.openxmlformats.org/drawingml/2006/main">
            <a:headEnd type="none"/>
            <a:tailEnd type="none"/>
          </a:ln>
        </p:spPr>
        <p:txBody xmlns:a="http://schemas.openxmlformats.org/drawingml/2006/main">
          <a:bodyPr/>
          <a:p/>
        </p:txBody>
      </p:sp>
      <p:sp>
        <p:nvSpPr>
          <p:cNvPr id="4" name="07  技术架构 4/4 · 基础环境">
            <a:extLst xmlns:a="http://schemas.openxmlformats.org/drawingml/2006/main">
              <a:ext uri="{FF2B5EF4-FFF2-40B4-BE49-F238E27FC236}">
                <a16:creationId xmlns:a16="http://schemas.microsoft.com/office/drawing/2014/main" id="{E09A92CF-2936-4620-82C6-347A574E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ns0:p xmlns:ns0="http://schemas.openxmlformats.org/drawingml/2006/main">
            <ns0:pPr algn="l">
              <ns0:defRPr sz="1050" b="0">
                <ns0:solidFill>
                  <ns0:srgbClr val="5890BE"/>
                </ns0:solidFill>
                <ns0:latin typeface="Alibaba PuHuiTi 3.0 55 Regular"/>
                <ns0:ea typeface="Alibaba PuHuiTi 3.0 55 Regular"/>
                <ns0:cs typeface="Alibaba PuHuiTi 3.0 55 Regular"/>
              </ns0:defRPr>
            </ns0:pPr>
            <ns0:r>
              <ns0:rPr sz="1050" b="0">
                <ns0:solidFill>
                  <ns0:srgbClr val="5890BE"/>
                </ns0:solidFill>
                <ns0:latin typeface="Alibaba PuHuiTi 3.0 55 Regular"/>
                <ns0:ea typeface="Alibaba PuHuiTi 3.0 55 Regular"/>
                <ns0:cs typeface="Alibaba PuHuiTi 3.0 55 Regular"/>
              </ns0:rPr>
              <ns0:t>07  技术架构 4/5 · 基础环境</ns0:t>
            </ns0:r>
          </ns0:p>
        </p:txBody>
      </p:sp>
      <p:sp>
        <p:nvSpPr>
          <p:cNvPr id="5" name="板端原生部署，模型执行与业务数据分层接入">
            <a:extLst xmlns:a="http://schemas.openxmlformats.org/drawingml/2006/main">
              <a:ext uri="{FF2B5EF4-FFF2-40B4-BE49-F238E27FC236}">
                <a16:creationId xmlns:a16="http://schemas.microsoft.com/office/drawing/2014/main" id="{A94E33B2-A837-4D2D-90B0-7750F3C4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板端原生部署，模型执行与业务数据分层接入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F05E2E-FAD0-45BB-8727-BCB54BDF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4DF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先形成可复现的单板闭环，再按数据规模与运维需求增加基础设施。">
            <a:extLst xmlns:a="http://schemas.openxmlformats.org/drawingml/2006/main">
              <a:ext uri="{FF2B5EF4-FFF2-40B4-BE49-F238E27FC236}">
                <a16:creationId xmlns:a16="http://schemas.microsoft.com/office/drawing/2014/main" id="{FD344BE8-CFB8-41E1-B07B-05F8550A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77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先形成可复现的单板闭环，再按数据规模与运维需求增加基础设施。</a:t>
            </a:r>
          </a:p>
        </p:txBody>
      </p:sp>
      <p:sp>
        <p:nvSpPr>
          <p:cNvPr id="8" name="07">
            <a:extLst xmlns:a="http://schemas.openxmlformats.org/drawingml/2006/main">
              <a:ext uri="{FF2B5EF4-FFF2-40B4-BE49-F238E27FC236}">
                <a16:creationId xmlns:a16="http://schemas.microsoft.com/office/drawing/2014/main" id="{4DBD88BD-2509-4BA7-B278-74ABC6DA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6294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8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rPr>
              <a:t>07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457200" y="2276475"/>
          <a:ext xmlns:a="http://schemas.openxmlformats.org/drawingml/2006/main" cx="1127760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66925"/>
                <a:gridCol w="4267200"/>
                <a:gridCol w="4943475"/>
              </a:tblGrid>
              <a:tr h="674370">
                <a:tc>
                  <a:txBody>
                    <a:bodyPr lIns="123825" tIns="76200" rIns="95250" bIns="76200"/>
                    <a:lstStyle/>
                    <a:p>
                      <a:r>
                        <a:rPr sz="1500" b="1">
                          <a:solidFill>
                            <a:srgbClr val="10274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基础能力</a:t>
                      </a:r>
                    </a:p>
                  </a:txBody>
                  <a:tcPr marL="91440" marR="91440" marT="45720" marB="45720" anchor="ctr">
                    <a:solidFill>
                      <a:srgbClr val="E7ECF2"/>
                    </a:solidFill>
                  </a:tcPr>
                </a:tc>
                <a:tc>
                  <a:txBody>
                    <a:bodyPr lIns="123825" tIns="76200" rIns="95250" bIns="76200"/>
                    <a:lstStyle/>
                    <a:p>
                      <a:r>
                        <a:rPr sz="1500" b="1">
                          <a:solidFill>
                            <a:srgbClr val="10274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当前 / 拟采用方案</a:t>
                      </a:r>
                    </a:p>
                  </a:txBody>
                  <a:tcPr marL="91440" marR="91440" marT="45720" marB="45720" anchor="ctr">
                    <a:solidFill>
                      <a:srgbClr val="E7ECF2"/>
                    </a:solidFill>
                  </a:tcPr>
                </a:tc>
                <a:tc>
                  <a:txBody>
                    <a:bodyPr lIns="123825" tIns="76200" rIns="95250" bIns="76200"/>
                    <a:lstStyle/>
                    <a:p>
                      <a:r>
                        <a:rPr sz="1500" b="1">
                          <a:solidFill>
                            <a:srgbClr val="10274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选择理由与状态</a:t>
                      </a:r>
                    </a:p>
                  </a:txBody>
                  <a:tcPr marL="91440" marR="91440" marT="45720" marB="45720" anchor="ctr">
                    <a:solidFill>
                      <a:srgbClr val="E7ECF2"/>
                    </a:solidFill>
                  </a:tcPr>
                </a:tc>
              </a:tr>
              <a:tr h="674370">
                <a:tc>
                  <a:txBody>
                    <a:bodyPr lIns="123825" tIns="76200" rIns="95250" bIns="76200"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运行与部署</a:t>
                      </a:r>
                    </a:p>
                  </a:txBody>
                  <a:tcPr marL="91440" marR="91440" marT="45720" marB="45720" anchor="ctr">
                    <a:solidFill>
                      <a:srgbClr val="F1F4F6"/>
                    </a:solidFill>
                  </a:tcPr>
                </a:tc>
                <a:tc>
                  <a:txBody>
                    <a:bodyPr lIns="123825" tIns="76200" rIns="95250" bIns="76200"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Debian 12 / Linux 6.6 / ARM64</a:t>
                      </a:r>
                    </a:p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Node.js 22+ + systemd</a:t>
                      </a:r>
                    </a:p>
                  </a:txBody>
                  <a:tcPr marL="91440" marR="91440" marT="45720" marB="45720" anchor="ctr">
                    <a:solidFill>
                      <a:srgbClr val="F1F4F6"/>
                    </a:solidFill>
                  </a:tcPr>
                </a:tc>
                <a:tc>
                  <a:txBody>
                    <a:bodyPr lIns="123825" tIns="76200" rIns="95250" bIns="76200"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对齐官方 P1 环境；已有服务文件</a:t>
                      </a:r>
                    </a:p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具体 BSP 与驱动版本获板后核对</a:t>
                      </a:r>
                    </a:p>
                  </a:txBody>
                  <a:tcPr marL="91440" marR="91440" marT="45720" marB="45720" anchor="ctr">
                    <a:solidFill>
                      <a:srgbClr val="F1F4F6"/>
                    </a:solidFill>
                  </a:tcPr>
                </a:tc>
              </a:tr>
              <a:tr h="674370">
                <a:tc>
                  <a:txBody>
                    <a:bodyPr lIns="123825" tIns="76200" rIns="95250" bIns="76200"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模型推理</a:t>
                      </a:r>
                    </a:p>
                  </a:txBody>
                  <a:tcPr marL="91440" marR="91440" marT="45720" marB="45720" anchor="ctr">
                    <a:solidFill>
                      <a:srgbClr val="F1F4F6"/>
                    </a:solidFill>
                  </a:tcPr>
                </a:tc>
                <a:tc>
                  <a:txBody>
                    <a:bodyPr lIns="123825" tIns="76200" rIns="95250" bIns="76200"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独立进程 Worker + JSON 协议</a:t>
                      </a:r>
                    </a:p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拟接 NOE SDK 2026Q2</a:t>
                      </a:r>
                    </a:p>
                  </a:txBody>
                  <a:tcPr marL="91440" marR="91440" marT="45720" marB="45720" anchor="ctr">
                    <a:solidFill>
                      <a:srgbClr val="F1F4F6"/>
                    </a:solidFill>
                  </a:tcPr>
                </a:tc>
                <a:tc>
                  <a:txBody>
                    <a:bodyPr lIns="123825" tIns="76200" rIns="95250" bIns="76200"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隔离 SDK，探测能力并报告实际后端</a:t>
                      </a:r>
                    </a:p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通用宿主已有，NOE 执行体待接入</a:t>
                      </a:r>
                    </a:p>
                  </a:txBody>
                  <a:tcPr marL="91440" marR="91440" marT="45720" marB="45720" anchor="ctr">
                    <a:solidFill>
                      <a:srgbClr val="F1F4F6"/>
                    </a:solidFill>
                  </a:tcPr>
                </a:tc>
              </a:tr>
              <a:tr h="674370">
                <a:tc>
                  <a:txBody>
                    <a:bodyPr lIns="123825" tIns="76200" rIns="95250" bIns="76200"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状态与检索</a:t>
                      </a:r>
                    </a:p>
                  </a:txBody>
                  <a:tcPr marL="91440" marR="91440" marT="45720" marB="45720" anchor="ctr">
                    <a:solidFill>
                      <a:srgbClr val="F1F4F6"/>
                    </a:solidFill>
                  </a:tcPr>
                </a:tc>
                <a:tc>
                  <a:txBody>
                    <a:bodyPr lIns="123825" tIns="76200" rIns="95250" bIns="76200"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本地 JSON 运行记录</a:t>
                      </a:r>
                    </a:p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TypeScript 精确余弦检索</a:t>
                      </a:r>
                    </a:p>
                  </a:txBody>
                  <a:tcPr marL="91440" marR="91440" marT="45720" marB="45720" anchor="ctr">
                    <a:solidFill>
                      <a:srgbClr val="F1F4F6"/>
                    </a:solidFill>
                  </a:tcPr>
                </a:tc>
                <a:tc>
                  <a:txBody>
                    <a:bodyPr lIns="123825" tIns="76200" rIns="95250" bIns="76200"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便于复现；当前输入最多 1 万条向量</a:t>
                      </a:r>
                    </a:p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暂未引入独立向量数据库</a:t>
                      </a:r>
                    </a:p>
                  </a:txBody>
                  <a:tcPr marL="91440" marR="91440" marT="45720" marB="45720" anchor="ctr">
                    <a:solidFill>
                      <a:srgbClr val="F1F4F6"/>
                    </a:solidFill>
                  </a:tcPr>
                </a:tc>
              </a:tr>
              <a:tr h="674370">
                <a:tc>
                  <a:txBody>
                    <a:bodyPr lIns="123825" tIns="76200" rIns="95250" bIns="76200"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业务数据与云服务</a:t>
                      </a:r>
                    </a:p>
                  </a:txBody>
                  <a:tcPr marL="91440" marR="91440" marT="45720" marB="45720" anchor="ctr">
                    <a:solidFill>
                      <a:srgbClr val="F1F4F6"/>
                    </a:solidFill>
                  </a:tcPr>
                </a:tc>
                <a:tc>
                  <a:txBody>
                    <a:bodyPr lIns="123825" tIns="76200" rIns="95250" bIns="76200"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HTTP / JSON 业务插件</a:t>
                      </a:r>
                    </a:p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数据库 / COS 接口待迁移</a:t>
                      </a:r>
                    </a:p>
                  </a:txBody>
                  <a:tcPr marL="91440" marR="91440" marT="45720" marB="45720" anchor="ctr">
                    <a:solidFill>
                      <a:srgbClr val="F1F4F6"/>
                    </a:solidFill>
                  </a:tcPr>
                </a:tc>
                <a:tc>
                  <a:txBody>
                    <a:bodyPr lIns="123825" tIns="76200" rIns="95250" bIns="76200"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商品数据与调度状态分开管理</a:t>
                      </a:r>
                    </a:p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协作者资产可复用，此芯链路待集成</a:t>
                      </a:r>
                    </a:p>
                  </a:txBody>
                  <a:tcPr marL="91440" marR="91440" marT="45720" marB="45720" anchor="ctr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10" name="首版选择 systemd 原生进程，减少板端驱动与资源采集的适配环节。">
            <a:extLst xmlns:a="http://schemas.openxmlformats.org/drawingml/2006/main">
              <a:ext uri="{FF2B5EF4-FFF2-40B4-BE49-F238E27FC236}">
                <a16:creationId xmlns:a16="http://schemas.microsoft.com/office/drawing/2014/main" id="{AEBC4DF4-05D6-4112-9CBB-BA2A4A3D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57875"/>
            <a:ext cx="11277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650" b="1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首版选择 systemd 原生进程，减少板端驱动与资源采集的适配环节。</a:t>
            </a:r>
          </a:p>
        </p:txBody>
      </p:sp>
      <p:sp>
        <p:nvSpPr>
          <p:cNvPr id="11" name="Docker / Kubernetes / vLLM 未列入当前依赖；本地 JSON 记录不等于">
            <a:extLst xmlns:a="http://schemas.openxmlformats.org/drawingml/2006/main">
              <a:ext uri="{FF2B5EF4-FFF2-40B4-BE49-F238E27FC236}">
                <a16:creationId xmlns:a16="http://schemas.microsoft.com/office/drawing/2014/main" id="{420D9424-40AE-47BD-B5C7-E8C54E7E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rPr>
              <a:t>Docker / Kubernetes / vLLM 未列入当前依赖；本地 JSON 记录不等于数据库事务或完整任务断点恢复。</a:t>
            </a:r>
          </a:p>
        </p:txBody>
      </p:sp>
    </p:spTree>
    <p:extLst>
      <p:ext uri="{BB962C8B-B14F-4D97-AF65-F5344CB8AC3E}">
        <p14:creationId xmlns:p14="http://schemas.microsoft.com/office/powerpoint/2010/main" val="49113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1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13F8433-5C51-4189-99B4-AF93C714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>
              <a:alpha val="100000"/>
            </a:srgbClr>
          </a:solidFill>
          <a:ln xmlns:a="http://schemas.openxmlformats.org/drawingml/2006/main">
            <a:headEnd type="none"/>
            <a:tailEnd type="none"/>
          </a:ln>
        </p:spPr>
      </p:sp>
      <p:sp>
        <p:nvSpPr>
          <p:cNvPr id="3" name="05  硬件 / 算力规划">
            <a:extLst xmlns:a="http://schemas.openxmlformats.org/drawingml/2006/main">
              <a:ext uri="{FF2B5EF4-FFF2-40B4-BE49-F238E27FC236}">
                <a16:creationId xmlns:a16="http://schemas.microsoft.com/office/drawing/2014/main" id="{77842ADC-644D-48CD-AE62-6F152F71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ns0:p xmlns:ns0="http://schemas.openxmlformats.org/drawingml/2006/main">
            <ns0:pPr algn="l">
              <ns0:buNone/>
              <ns0:defRPr sz="1050" b="0">
                <ns0:solidFill>
                  <ns0:srgbClr val="5890BE"/>
                </ns0:solidFill>
                <ns0:latin typeface="Alibaba PuHuiTi 3.0 55 Regular"/>
                <ns0:ea typeface="Alibaba PuHuiTi 3.0 55 Regular"/>
                <ns0:cs typeface="Alibaba PuHuiTi 3.0 55 Regular"/>
              </ns0:defRPr>
            </ns0:pPr>
            <ns0:r>
              <ns0:rPr sz="1050" b="0">
                <ns0:solidFill>
                  <ns0:srgbClr val="5890BE"/>
                </ns0:solidFill>
                <ns0:latin typeface="Alibaba PuHuiTi 3.0 55 Regular"/>
                <ns0:ea typeface="Alibaba PuHuiTi 3.0 55 Regular"/>
                <ns0:cs typeface="Alibaba PuHuiTi 3.0 55 Regular"/>
              </ns0:rPr>
              <ns0:t>09  硬件 / 算力规划</ns0:t>
            </ns0:r>
          </ns0:p>
        </p:txBody>
      </p:sp>
      <p:sp>
        <p:nvSpPr>
          <p:cNvPr id="4" name="P1 主控与本地模型的具体分工">
            <a:extLst xmlns:a="http://schemas.openxmlformats.org/drawingml/2006/main">
              <a:ext uri="{FF2B5EF4-FFF2-40B4-BE49-F238E27FC236}">
                <a16:creationId xmlns:a16="http://schemas.microsoft.com/office/drawing/2014/main" id="{7483EEC7-1980-46FA-AF8D-1C2EF25E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P1 主控与本地模型的具体分工</a:t>
            </a:r>
            <a:endParaRPr sz="29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C19E7513-D3F5-4C20-BA63-30C23E0E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4DF"/>
            </a:solidFill>
          </a:ln>
        </p:spPr>
      </p:sp>
      <p:sp>
        <p:nvSpPr>
          <p:cNvPr id="6" name="开发配置：1 台 P1，建议 32 GB 内存、至少 256 GB SSD；第二台板不作为交付前">
            <a:extLst xmlns:a="http://schemas.openxmlformats.org/drawingml/2006/main">
              <a:ext uri="{FF2B5EF4-FFF2-40B4-BE49-F238E27FC236}">
                <a16:creationId xmlns:a16="http://schemas.microsoft.com/office/drawing/2014/main" id="{95A3637A-5DDD-48C4-901C-FE37D7BE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77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开发配置：1 台 P1，建议 32 GB 内存、至少 256 GB SSD；第二台板不作为交付前提。</a:t>
            </a:r>
            <a:endParaRPr sz="17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7" name="05">
            <a:extLst xmlns:a="http://schemas.openxmlformats.org/drawingml/2006/main">
              <a:ext uri="{FF2B5EF4-FFF2-40B4-BE49-F238E27FC236}">
                <a16:creationId xmlns:a16="http://schemas.microsoft.com/office/drawing/2014/main" id="{308915C6-4F05-48DE-8B60-518A6927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6294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ns3:p xmlns:ns3="http://schemas.openxmlformats.org/drawingml/2006/main">
            <ns3:pPr algn="r">
              <ns3:buNone/>
              <ns3:defRPr sz="825" b="0">
                <ns3:solidFill>
                  <ns3:srgbClr val="73879E"/>
                </ns3:solidFill>
                <ns3:latin typeface="Alibaba PuHuiTi 3.0 55 Regular"/>
                <ns3:ea typeface="Alibaba PuHuiTi 3.0 55 Regular"/>
                <ns3:cs typeface="Alibaba PuHuiTi 3.0 55 Regular"/>
              </ns3:defRPr>
            </ns3:pPr>
            <ns3:r>
              <ns3:rPr sz="825" b="0">
                <ns3:solidFill>
                  <ns3:srgbClr val="73879E"/>
                </ns3:solidFill>
                <ns3:latin typeface="Alibaba PuHuiTi 3.0 55 Regular"/>
                <ns3:ea typeface="Alibaba PuHuiTi 3.0 55 Regular"/>
                <ns3:cs typeface="Alibaba PuHuiTi 3.0 55 Regular"/>
              </ns3:rPr>
              <ns3:t>09</ns3:t>
            </ns3:r>
          </ns3:p>
        </p:txBody>
      </p:sp>
      <p:graphicFrame>
        <p:nvGraphicFramePr>
          <p:cNvPr id="21" name="表格 19"/>
          <p:cNvGraphicFramePr/>
          <p:nvPr/>
        </p:nvGraphicFramePr>
        <p:xfrm>
          <a:off xmlns:a="http://schemas.openxmlformats.org/drawingml/2006/main" x="457200" y="2333625"/>
          <a:ext xmlns:a="http://schemas.openxmlformats.org/drawingml/2006/main" cx="112776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43175"/>
                <a:gridCol w="4162425"/>
                <a:gridCol w="4572000"/>
              </a:tblGrid>
              <a:tr h="5143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74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执行资源</a:t>
                      </a:r>
                      <a:endParaRPr sz="1500" b="1">
                        <a:solidFill>
                          <a:srgbClr val="102746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E7E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74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具体工作</a:t>
                      </a:r>
                      <a:endParaRPr sz="1500" b="1">
                        <a:solidFill>
                          <a:srgbClr val="102746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E7E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74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适配方式</a:t>
                      </a:r>
                      <a:endParaRPr sz="1500" b="1">
                        <a:solidFill>
                          <a:srgbClr val="102746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E7ECF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P1 CPU（12 核异构）</a:t>
                      </a:r>
                      <a:endParaRPr sz="1500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编排、队列、预处理、检索与规则</a:t>
                      </a:r>
                      <a:endParaRPr sz="1500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Linux ARM64；画像记录拓扑与预算</a:t>
                      </a:r>
                      <a:endParaRPr sz="1500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P1 NPU（30 TOPS）</a:t>
                      </a:r>
                      <a:endParaRPr sz="1500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图像 Embedding，输出特征向量</a:t>
                      </a:r>
                      <a:endParaRPr sz="1500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NOE 探测；模型摘要与后端核验</a:t>
                      </a:r>
                      <a:endParaRPr sz="1500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云模型 API</a:t>
                      </a:r>
                      <a:endParaRPr sz="1500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复杂目标规划、歧义候选复核</a:t>
                      </a:r>
                      <a:endParaRPr sz="1500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优先 AnyInt API，版本待验证锁定</a:t>
                      </a:r>
                      <a:endParaRPr sz="1500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P1 GPU（10 核）</a:t>
                      </a:r>
                      <a:endParaRPr sz="1500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兼容模型的可选推理后端</a:t>
                      </a:r>
                      <a:endParaRPr sz="1500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探测为可选后端，实测有收益再启用</a:t>
                      </a:r>
                      <a:endParaRPr sz="1500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9" name="容量预算示例">
            <a:extLst xmlns:a="http://schemas.openxmlformats.org/drawingml/2006/main">
              <a:ext uri="{FF2B5EF4-FFF2-40B4-BE49-F238E27FC236}">
                <a16:creationId xmlns:a16="http://schemas.microsoft.com/office/drawing/2014/main" id="{D8BDF1D3-55D2-4006-8DF6-984ACEF6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5657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容量预算示例</a:t>
            </a:r>
            <a:endParaRPr sz="1800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0" name="100M 参数、INT8、batch 1：权重约 100 MB&#10;10 万条 512 维 FP32">
            <a:extLst xmlns:a="http://schemas.openxmlformats.org/drawingml/2006/main">
              <a:ext uri="{FF2B5EF4-FFF2-40B4-BE49-F238E27FC236}">
                <a16:creationId xmlns:a16="http://schemas.microsoft.com/office/drawing/2014/main" id="{3774CE0A-67CC-44CE-991A-E49BF267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64865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100M 参数、INT8、batch 1：权重约 100 MB</a:t>
            </a:r>
            <a:endParaRPr sz="1500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  <a:p xmlns:a="http://schemas.openxmlformats.org/drawingml/2006/main">
            <a:pPr algn="l">
              <a:buNone/>
              <a:defRPr sz="1500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10 万条 512 维 FP32 向量约 205 MB</a:t>
            </a:r>
            <a:endParaRPr sz="1500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1" name="获板适配链路">
            <a:extLst xmlns:a="http://schemas.openxmlformats.org/drawingml/2006/main">
              <a:ext uri="{FF2B5EF4-FFF2-40B4-BE49-F238E27FC236}">
                <a16:creationId xmlns:a16="http://schemas.microsoft.com/office/drawing/2014/main" id="{A2110C05-E24C-4614-B20C-FB5171AB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5219700"/>
            <a:ext cx="4391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获板适配链路</a:t>
            </a:r>
            <a:endParaRPr sz="1800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2" name="ARM64 部署 → NOE 探测 → 质量对齐&#10;资源采样与回执核验 → 压力下校准">
            <a:extLst xmlns:a="http://schemas.openxmlformats.org/drawingml/2006/main">
              <a:ext uri="{FF2B5EF4-FFF2-40B4-BE49-F238E27FC236}">
                <a16:creationId xmlns:a16="http://schemas.microsoft.com/office/drawing/2014/main" id="{7CB9C8D2-DB22-427D-B330-2FA624B9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5638800"/>
            <a:ext cx="4391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ARM64 部署 → NOE 探测 → 质量对齐</a:t>
            </a:r>
            <a:endParaRPr sz="1500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  <a:p xmlns:a="http://schemas.openxmlformats.org/drawingml/2006/main">
            <a:pPr algn="l">
              <a:buNone/>
              <a:defRPr sz="1500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资源采样与回执核验 → 压力下校准</a:t>
            </a:r>
            <a:endParaRPr sz="1500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3" name="规格为官方峰值，预算为假设测算，另计激活和运行时开销。具体模型、精度与实测内存峰值待获板确定。">
            <a:extLst xmlns:a="http://schemas.openxmlformats.org/drawingml/2006/main">
              <a:ext uri="{FF2B5EF4-FFF2-40B4-BE49-F238E27FC236}">
                <a16:creationId xmlns:a16="http://schemas.microsoft.com/office/drawing/2014/main" id="{8E467FEC-A9E6-4F65-98C3-9A0B4F7D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rPr>
              <a:t>规格为官方峰值，预算为假设测算，另计激活和运行时开销。具体模型、精度与实测内存峰值待获板确定。</a:t>
            </a:r>
            <a:endParaRPr sz="1125" b="0">
              <a:solidFill>
                <a:srgbClr val="73879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0750723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1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7792CBD6-8EC6-4DB8-BCBD-A8B8F0F5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4DA">
              <a:alpha val="100000"/>
            </a:srgbClr>
          </a:solidFill>
          <a:ln xmlns:a="http://schemas.openxmlformats.org/drawingml/2006/main">
            <a:headEnd type="none"/>
            <a:tailEnd type="none"/>
          </a:ln>
        </p:spPr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8A0677B7-A739-4513-8F54-AB32DC0F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>
              <a:alpha val="100000"/>
            </a:srgbClr>
          </a:solidFill>
          <a:ln xmlns:a="http://schemas.openxmlformats.org/drawingml/2006/main">
            <a:headEnd type="none"/>
            <a:tailEnd type="none"/>
          </a:ln>
        </p:spPr>
      </p:sp>
      <p:sp>
        <p:nvSpPr>
          <p:cNvPr id="4" name="06  Demo 现状与预期效果">
            <a:extLst xmlns:a="http://schemas.openxmlformats.org/drawingml/2006/main">
              <a:ext uri="{FF2B5EF4-FFF2-40B4-BE49-F238E27FC236}">
                <a16:creationId xmlns:a16="http://schemas.microsoft.com/office/drawing/2014/main" id="{F5281C38-C60E-4612-8EA1-79A788F6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ns0:p xmlns:ns0="http://schemas.openxmlformats.org/drawingml/2006/main">
            <ns0:pPr algn="l">
              <ns0:buNone/>
              <ns0:defRPr sz="1050" b="0">
                <ns0:solidFill>
                  <ns0:srgbClr val="5890BE"/>
                </ns0:solidFill>
                <ns0:latin typeface="Alibaba PuHuiTi 3.0 55 Regular"/>
                <ns0:ea typeface="Alibaba PuHuiTi 3.0 55 Regular"/>
                <ns0:cs typeface="Alibaba PuHuiTi 3.0 55 Regular"/>
              </ns0:defRPr>
            </ns0:pPr>
            <ns0:r>
              <ns0:rPr sz="1050" b="0">
                <ns0:solidFill>
                  <ns0:srgbClr val="5890BE"/>
                </ns0:solidFill>
                <ns0:latin typeface="Alibaba PuHuiTi 3.0 55 Regular"/>
                <ns0:ea typeface="Alibaba PuHuiTi 3.0 55 Regular"/>
                <ns0:cs typeface="Alibaba PuHuiTi 3.0 55 Regular"/>
              </ns0:rPr>
              <ns0:t>10  Demo 现状与预期效果</ns0:t>
            </ns0:r>
          </ns0:p>
        </p:txBody>
      </p:sp>
      <p:sp>
        <p:nvSpPr>
          <p:cNvPr id="5" name="已有真实执行原型，下一步接通端云模型">
            <a:extLst xmlns:a="http://schemas.openxmlformats.org/drawingml/2006/main">
              <a:ext uri="{FF2B5EF4-FFF2-40B4-BE49-F238E27FC236}">
                <a16:creationId xmlns:a16="http://schemas.microsoft.com/office/drawing/2014/main" id="{F9DB3255-1342-49CD-BBBC-B273FE32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已有真实执行原型，下一步接通端云模型</a:t>
            </a:r>
            <a:endParaRPr sz="29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D7D38A2F-8DC8-44D4-877A-A1FEDB26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4DF"/>
            </a:solidFill>
          </a:ln>
        </p:spPr>
      </p:sp>
      <p:sp>
        <p:nvSpPr>
          <p:cNvPr id="7" name="当前可复现：提交向量任务，CPU 完成检索，同一运行 ID 查看结果和调度记录。">
            <a:extLst xmlns:a="http://schemas.openxmlformats.org/drawingml/2006/main">
              <a:ext uri="{FF2B5EF4-FFF2-40B4-BE49-F238E27FC236}">
                <a16:creationId xmlns:a16="http://schemas.microsoft.com/office/drawing/2014/main" id="{80EFFFD3-AD6D-40BF-8D54-861CDFA7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77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当前可复现：提交向量任务，CPU 完成检索，同一运行 ID 查看结果和调度记录。</a:t>
            </a:r>
            <a:endParaRPr sz="17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8" name="06">
            <a:extLst xmlns:a="http://schemas.openxmlformats.org/drawingml/2006/main">
              <a:ext uri="{FF2B5EF4-FFF2-40B4-BE49-F238E27FC236}">
                <a16:creationId xmlns:a16="http://schemas.microsoft.com/office/drawing/2014/main" id="{8AE4CD92-347F-4224-85A2-91CCB02B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6294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ns3:p xmlns:ns3="http://schemas.openxmlformats.org/drawingml/2006/main">
            <ns3:pPr algn="r">
              <ns3:buNone/>
              <ns3:defRPr sz="825" b="0">
                <ns3:solidFill>
                  <ns3:srgbClr val="73879E"/>
                </ns3:solidFill>
                <ns3:latin typeface="Alibaba PuHuiTi 3.0 55 Regular"/>
                <ns3:ea typeface="Alibaba PuHuiTi 3.0 55 Regular"/>
                <ns3:cs typeface="Alibaba PuHuiTi 3.0 55 Regular"/>
              </ns3:defRPr>
            </ns3:pPr>
            <ns3:r>
              <ns3:rPr sz="825" b="0">
                <ns3:solidFill>
                  <ns3:srgbClr val="73879E"/>
                </ns3:solidFill>
                <ns3:latin typeface="Alibaba PuHuiTi 3.0 55 Regular"/>
                <ns3:ea typeface="Alibaba PuHuiTi 3.0 55 Regular"/>
                <ns3:cs typeface="Alibaba PuHuiTi 3.0 55 Regular"/>
              </ns3:rPr>
              <ns3:t>10</ns3:t>
            </ns3:r>
          </ns3:p>
        </p:txBody>
      </p:sp>
      <p:pic>
        <p:nvPicPr>
          <p:cNvPr id="24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0d0300878943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2364214"/>
            <a:ext cx="7286625" cy="4101247"/>
          </a:xfrm>
          <a:prstGeom xmlns:a="http://schemas.openxmlformats.org/drawingml/2006/main" prst="rect">
            <a:avLst/>
          </a:prstGeom>
        </p:spPr>
      </p:pic>
      <p:sp>
        <p:nvSpPr>
          <p:cNvPr id="10" name="已有验证">
            <a:extLst xmlns:a="http://schemas.openxmlformats.org/drawingml/2006/main">
              <a:ext uri="{FF2B5EF4-FFF2-40B4-BE49-F238E27FC236}">
                <a16:creationId xmlns:a16="http://schemas.microsoft.com/office/drawing/2014/main" id="{65B7FBCE-CC6C-4F92-9E5D-369EFB3E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76475"/>
            <a:ext cx="3600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已有验证</a:t>
            </a:r>
            <a:endParaRPr sz="20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1" name="27 项自动测试通过&#10;真实 CPU 执行与回执&#10;双 HTTP 节点协议联测">
            <a:extLst xmlns:a="http://schemas.openxmlformats.org/drawingml/2006/main">
              <a:ext uri="{FF2B5EF4-FFF2-40B4-BE49-F238E27FC236}">
                <a16:creationId xmlns:a16="http://schemas.microsoft.com/office/drawing/2014/main" id="{44D624BC-303E-4B8E-8475-2841040A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43200"/>
            <a:ext cx="36004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27 项自动测试通过</a:t>
            </a:r>
            <a:endParaRPr sz="17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  <a:p xmlns:a="http://schemas.openxmlformats.org/drawingml/2006/main">
            <a:pPr algn="l">
              <a:buNone/>
              <a:def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真实 CPU 执行与回执</a:t>
            </a:r>
            <a:endParaRPr sz="17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  <a:p xmlns:a="http://schemas.openxmlformats.org/drawingml/2006/main">
            <a:pPr algn="l">
              <a:buNone/>
              <a:def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双 HTTP 节点协议联测</a:t>
            </a:r>
            <a:endParaRPr sz="17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2" name="下一阶段演示">
            <a:extLst xmlns:a="http://schemas.openxmlformats.org/drawingml/2006/main">
              <a:ext uri="{FF2B5EF4-FFF2-40B4-BE49-F238E27FC236}">
                <a16:creationId xmlns:a16="http://schemas.microsoft.com/office/drawing/2014/main" id="{83A17A54-5B27-4443-B78E-5B88056F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05275"/>
            <a:ext cx="3600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下一阶段演示</a:t>
            </a:r>
            <a:endParaRPr sz="20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3" name="P1 本地模型与云模型协作&#10;改变网络或本地负载&#10;观察候选、选择原因和结果">
            <a:extLst xmlns:a="http://schemas.openxmlformats.org/drawingml/2006/main">
              <a:ext uri="{FF2B5EF4-FFF2-40B4-BE49-F238E27FC236}">
                <a16:creationId xmlns:a16="http://schemas.microsoft.com/office/drawing/2014/main" id="{08C081B0-22DB-41DC-83D0-63EA28D5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72000"/>
            <a:ext cx="36004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P1 本地模型与云模型协作</a:t>
            </a:r>
            <a:endParaRPr sz="17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  <a:p xmlns:a="http://schemas.openxmlformats.org/drawingml/2006/main">
            <a:pPr algn="l">
              <a:buNone/>
              <a:def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改变网络或本地负载</a:t>
            </a:r>
            <a:endParaRPr sz="17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  <a:p xmlns:a="http://schemas.openxmlformats.org/drawingml/2006/main">
            <a:pPr algn="l">
              <a:buNone/>
              <a:def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观察候选、选择原因和结果</a:t>
            </a:r>
            <a:endParaRPr sz="17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4" name="代码及复现步骤 ↗">
            <a:extLst xmlns:a="http://schemas.openxmlformats.org/drawingml/2006/main">
              <a:ext uri="{FF2B5EF4-FFF2-40B4-BE49-F238E27FC236}">
                <a16:creationId xmlns:a16="http://schemas.microsoft.com/office/drawing/2014/main" id="{13133D40-22DE-4FDF-9A08-666116E8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848350"/>
            <a:ext cx="3600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75" b="1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  <a:hlinkClick xmlns:r="http://schemas.openxmlformats.org/officeDocument/2006/relationships" r:id="R123ee7ff30db400c"/>
              </a:rPr>
              <a:t>代码及复现步骤 ↗</a:t>
            </a:r>
            <a:endParaRPr sz="1575" b="1">
              <a:solidFill>
                <a:srgbClr val="5890B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5" name="桌面人工向量测试截图；单次耗时不代表 P1 性能或调度加速。">
            <a:extLst xmlns:a="http://schemas.openxmlformats.org/drawingml/2006/main">
              <a:ext uri="{FF2B5EF4-FFF2-40B4-BE49-F238E27FC236}">
                <a16:creationId xmlns:a16="http://schemas.microsoft.com/office/drawing/2014/main" id="{5381E21B-DA84-4A79-BD22-37595742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286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050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rPr>
              <a:t>桌面人工向量测试截图；单次耗时不代表 P1 性能或调度加速。</a:t>
            </a:r>
            <a:endParaRPr sz="1050" b="0">
              <a:solidFill>
                <a:srgbClr val="73879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085666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1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9C723D4-A469-4445-839B-47D79A5A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>
              <a:alpha val="100000"/>
            </a:srgbClr>
          </a:solidFill>
          <a:ln xmlns:a="http://schemas.openxmlformats.org/drawingml/2006/main">
            <a:headEnd type="none"/>
            <a:tailEnd type="none"/>
          </a:ln>
        </p:spPr>
      </p:sp>
      <p:sp>
        <p:nvSpPr>
          <p:cNvPr id="3" name="07  开发计划与里程碑">
            <a:extLst xmlns:a="http://schemas.openxmlformats.org/drawingml/2006/main">
              <a:ext uri="{FF2B5EF4-FFF2-40B4-BE49-F238E27FC236}">
                <a16:creationId xmlns:a16="http://schemas.microsoft.com/office/drawing/2014/main" id="{F6F29AC2-0EDA-472A-9F54-839372AA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ns0:p xmlns:ns0="http://schemas.openxmlformats.org/drawingml/2006/main">
            <ns0:pPr algn="l">
              <ns0:buNone/>
              <ns0:defRPr sz="1050" b="0">
                <ns0:solidFill>
                  <ns0:srgbClr val="5890BE"/>
                </ns0:solidFill>
                <ns0:latin typeface="Alibaba PuHuiTi 3.0 55 Regular"/>
                <ns0:ea typeface="Alibaba PuHuiTi 3.0 55 Regular"/>
                <ns0:cs typeface="Alibaba PuHuiTi 3.0 55 Regular"/>
              </ns0:defRPr>
            </ns0:pPr>
            <ns0:r>
              <ns0:rPr sz="1050" b="0">
                <ns0:solidFill>
                  <ns0:srgbClr val="5890BE"/>
                </ns0:solidFill>
                <ns0:latin typeface="Alibaba PuHuiTi 3.0 55 Regular"/>
                <ns0:ea typeface="Alibaba PuHuiTi 3.0 55 Regular"/>
                <ns0:cs typeface="Alibaba PuHuiTi 3.0 55 Regular"/>
              </ns0:rPr>
              <ns0:t>11  开发计划与里程碑</ns0:t>
            </ns0:r>
          </ns0:p>
        </p:txBody>
      </p:sp>
      <p:sp>
        <p:nvSpPr>
          <p:cNvPr id="4" name="先完成端云调度闭环，再叠加技能复用">
            <a:extLst xmlns:a="http://schemas.openxmlformats.org/drawingml/2006/main">
              <a:ext uri="{FF2B5EF4-FFF2-40B4-BE49-F238E27FC236}">
                <a16:creationId xmlns:a16="http://schemas.microsoft.com/office/drawing/2014/main" id="{69BCAACF-8E1E-42BE-B80D-A669416D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先完成端云调度闭环，再叠加技能复用</a:t>
            </a:r>
            <a:endParaRPr sz="29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709C62C2-5C09-4AE4-9B9B-6E289106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4DF"/>
            </a:solidFill>
          </a:ln>
        </p:spPr>
      </p:sp>
      <p:sp>
        <p:nvSpPr>
          <p:cNvPr id="6" name="按相对周次安排，P1 适配在获板后并行开展。">
            <a:extLst xmlns:a="http://schemas.openxmlformats.org/drawingml/2006/main">
              <a:ext uri="{FF2B5EF4-FFF2-40B4-BE49-F238E27FC236}">
                <a16:creationId xmlns:a16="http://schemas.microsoft.com/office/drawing/2014/main" id="{7C3AB697-6516-484F-81BB-D82A04BE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77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按相对周次安排，P1 适配在获板后并行开展。</a:t>
            </a:r>
            <a:endParaRPr sz="17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7" name="07">
            <a:extLst xmlns:a="http://schemas.openxmlformats.org/drawingml/2006/main">
              <a:ext uri="{FF2B5EF4-FFF2-40B4-BE49-F238E27FC236}">
                <a16:creationId xmlns:a16="http://schemas.microsoft.com/office/drawing/2014/main" id="{BC2F4673-693A-4DD6-9909-6EA6E381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6294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ns3:p xmlns:ns3="http://schemas.openxmlformats.org/drawingml/2006/main">
            <ns3:pPr algn="r">
              <ns3:buNone/>
              <ns3:defRPr sz="825" b="0">
                <ns3:solidFill>
                  <ns3:srgbClr val="73879E"/>
                </ns3:solidFill>
                <ns3:latin typeface="Alibaba PuHuiTi 3.0 55 Regular"/>
                <ns3:ea typeface="Alibaba PuHuiTi 3.0 55 Regular"/>
                <ns3:cs typeface="Alibaba PuHuiTi 3.0 55 Regular"/>
              </ns3:defRPr>
            </ns3:pPr>
            <ns3:r>
              <ns3:rPr sz="825" b="0">
                <ns3:solidFill>
                  <ns3:srgbClr val="73879E"/>
                </ns3:solidFill>
                <ns3:latin typeface="Alibaba PuHuiTi 3.0 55 Regular"/>
                <ns3:ea typeface="Alibaba PuHuiTi 3.0 55 Regular"/>
                <ns3:cs typeface="Alibaba PuHuiTi 3.0 55 Regular"/>
              </ns3:rPr>
              <ns3:t>11</ns3:t>
            </ns3:r>
          </ns3:p>
        </p:txBody>
      </p:sp>
      <p:graphicFrame>
        <p:nvGraphicFramePr>
          <p:cNvPr id="19" name="表格 17"/>
          <p:cNvGraphicFramePr/>
          <p:nvPr/>
        </p:nvGraphicFramePr>
        <p:xfrm>
          <a:off xmlns:a="http://schemas.openxmlformats.org/drawingml/2006/main" x="457200" y="2286000"/>
          <a:ext xmlns:a="http://schemas.openxmlformats.org/drawingml/2006/main" cx="11277600" cy="3276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66900"/>
                <a:gridCol w="4095750"/>
                <a:gridCol w="5314950"/>
              </a:tblGrid>
              <a:tr h="5461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74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阶段</a:t>
                      </a:r>
                      <a:endParaRPr sz="1500" b="1">
                        <a:solidFill>
                          <a:srgbClr val="102746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E7E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74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主要交付</a:t>
                      </a:r>
                      <a:endParaRPr sz="1500" b="1">
                        <a:solidFill>
                          <a:srgbClr val="102746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E7E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0274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验收条件</a:t>
                      </a:r>
                      <a:endParaRPr sz="1500" b="1">
                        <a:solidFill>
                          <a:srgbClr val="102746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E7ECF2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第 1—2 周</a:t>
                      </a:r>
                      <a:endParaRPr sz="1500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云适配器、业务工具、统一回执</a:t>
                      </a:r>
                      <a:endParaRPr sz="1500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一次任务真实调用本地工具与云服务</a:t>
                      </a:r>
                      <a:endParaRPr sz="1500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获板后 1—2 周</a:t>
                      </a:r>
                      <a:endParaRPr sz="1500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ARM64 / NOE 模型与资源采集</a:t>
                      </a:r>
                      <a:endParaRPr sz="1500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P1 推理成功，质量和实际后端可核验</a:t>
                      </a:r>
                      <a:endParaRPr sz="1500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第 3—4 周</a:t>
                      </a:r>
                      <a:endParaRPr sz="1500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完整成本与反馈校准、压力测试</a:t>
                      </a:r>
                      <a:endParaRPr sz="1500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网络 / 负载变化时作出可解释选择</a:t>
                      </a:r>
                      <a:endParaRPr sz="1500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第 4—5 周</a:t>
                      </a:r>
                      <a:endParaRPr sz="1500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验证式技能复用</a:t>
                      </a:r>
                      <a:endParaRPr sz="1500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新输入复算，越界或不兼容时停用</a:t>
                      </a:r>
                      <a:endParaRPr sz="1500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第 6 周</a:t>
                      </a:r>
                      <a:endParaRPr sz="1500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对照实验、视频、部署与文档</a:t>
                      </a:r>
                      <a:endParaRPr sz="1500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同质量基线可复现，结果与边界完整</a:t>
                      </a:r>
                      <a:endParaRPr sz="1500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9" name="最小交付">
            <a:extLst xmlns:a="http://schemas.openxmlformats.org/drawingml/2006/main">
              <a:ext uri="{FF2B5EF4-FFF2-40B4-BE49-F238E27FC236}">
                <a16:creationId xmlns:a16="http://schemas.microsoft.com/office/drawing/2014/main" id="{8CC86089-01AB-4304-B970-852D3064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1200"/>
            <a:ext cx="15144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最小交付</a:t>
            </a:r>
            <a:endParaRPr sz="187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0" name="1 台 P1 + 1 个本地模型 + 1 个云服务 + 1 条业务链 + 调度对照实验">
            <a:extLst xmlns:a="http://schemas.openxmlformats.org/drawingml/2006/main">
              <a:ext uri="{FF2B5EF4-FFF2-40B4-BE49-F238E27FC236}">
                <a16:creationId xmlns:a16="http://schemas.microsoft.com/office/drawing/2014/main" id="{06DD2E29-DEC0-4531-AEEF-C39212C8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791200"/>
            <a:ext cx="9620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1 台 P1 + 1 个本地模型 + 1 个云服务 + 1 条业务链 + 调度对照实验</a:t>
            </a:r>
            <a:endParaRPr sz="1725" b="1">
              <a:solidFill>
                <a:srgbClr val="5890B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1" name="优先保证调度主体。GPU、多板、本地大语言模型、复杂 DAG 并行为增强项，按时间和能力取舍。">
            <a:extLst xmlns:a="http://schemas.openxmlformats.org/drawingml/2006/main">
              <a:ext uri="{FF2B5EF4-FFF2-40B4-BE49-F238E27FC236}">
                <a16:creationId xmlns:a16="http://schemas.microsoft.com/office/drawing/2014/main" id="{67A78B60-FFF9-4834-9D83-999FBB08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rPr>
              <a:t>优先保证调度主体。GPU、多板、本地大语言模型、复杂 DAG 并行为增强项，按时间和能力取舍。</a:t>
            </a:r>
            <a:endParaRPr sz="1125" b="0">
              <a:solidFill>
                <a:srgbClr val="73879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0237898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1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72AC36C1-F3DF-4B65-B195-FF6AF21F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>
              <a:alpha val="100000"/>
            </a:srgbClr>
          </a:solidFill>
          <a:ln xmlns:a="http://schemas.openxmlformats.org/drawingml/2006/main">
            <a:headEnd type="none"/>
            <a:tailEnd type="none"/>
          </a:ln>
        </p:spPr>
      </p:sp>
      <p:sp>
        <p:nvSpPr>
          <p:cNvPr id="3" name="08  团队背景与分工">
            <a:extLst xmlns:a="http://schemas.openxmlformats.org/drawingml/2006/main">
              <a:ext uri="{FF2B5EF4-FFF2-40B4-BE49-F238E27FC236}">
                <a16:creationId xmlns:a16="http://schemas.microsoft.com/office/drawing/2014/main" id="{B4632051-C07B-45FB-A9A3-9BC3FF58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ns0:p xmlns:ns0="http://schemas.openxmlformats.org/drawingml/2006/main">
            <ns0:pPr algn="l">
              <ns0:buNone/>
              <ns0:defRPr sz="1050" b="0">
                <ns0:solidFill>
                  <ns0:srgbClr val="5890BE"/>
                </ns0:solidFill>
                <ns0:latin typeface="Alibaba PuHuiTi 3.0 55 Regular"/>
                <ns0:ea typeface="Alibaba PuHuiTi 3.0 55 Regular"/>
                <ns0:cs typeface="Alibaba PuHuiTi 3.0 55 Regular"/>
              </ns0:defRPr>
            </ns0:pPr>
            <ns0:r>
              <ns0:rPr sz="1050" b="0">
                <ns0:solidFill>
                  <ns0:srgbClr val="5890BE"/>
                </ns0:solidFill>
                <ns0:latin typeface="Alibaba PuHuiTi 3.0 55 Regular"/>
                <ns0:ea typeface="Alibaba PuHuiTi 3.0 55 Regular"/>
                <ns0:cs typeface="Alibaba PuHuiTi 3.0 55 Regular"/>
              </ns0:rPr>
              <ns0:t>12  团队背景与分工</ns0:t>
            </ns0:r>
          </ns0:p>
        </p:txBody>
      </p:sp>
      <p:sp>
        <p:nvSpPr>
          <p:cNvPr id="4" name="按调度、模型和应用接口划分协作职责">
            <a:extLst xmlns:a="http://schemas.openxmlformats.org/drawingml/2006/main">
              <a:ext uri="{FF2B5EF4-FFF2-40B4-BE49-F238E27FC236}">
                <a16:creationId xmlns:a16="http://schemas.microsoft.com/office/drawing/2014/main" id="{1B10858F-618E-45E8-A53C-9094CA3C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按调度、模型和应用接口划分协作职责</a:t>
            </a:r>
            <a:endParaRPr sz="29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2113CEE0-4024-479A-8423-8CAD4CB4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4DF"/>
            </a:solidFill>
          </a:ln>
        </p:spPr>
      </p:sp>
      <p:sp>
        <p:nvSpPr>
          <p:cNvPr id="6" name="已具备可运行的框架基础，接下来围绕独立模块并行推进。">
            <a:extLst xmlns:a="http://schemas.openxmlformats.org/drawingml/2006/main">
              <a:ext uri="{FF2B5EF4-FFF2-40B4-BE49-F238E27FC236}">
                <a16:creationId xmlns:a16="http://schemas.microsoft.com/office/drawing/2014/main" id="{65F69A44-B4FD-4388-8779-015B3FC0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77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已具备可运行的框架基础，接下来围绕独立模块并行推进。</a:t>
            </a:r>
            <a:endParaRPr sz="17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7" name="08">
            <a:extLst xmlns:a="http://schemas.openxmlformats.org/drawingml/2006/main">
              <a:ext uri="{FF2B5EF4-FFF2-40B4-BE49-F238E27FC236}">
                <a16:creationId xmlns:a16="http://schemas.microsoft.com/office/drawing/2014/main" id="{1FE92321-9A18-4979-BC1D-89E1801C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6294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ns3:p xmlns:ns3="http://schemas.openxmlformats.org/drawingml/2006/main">
            <ns3:pPr algn="r">
              <ns3:buNone/>
              <ns3:defRPr sz="825" b="0">
                <ns3:solidFill>
                  <ns3:srgbClr val="73879E"/>
                </ns3:solidFill>
                <ns3:latin typeface="Alibaba PuHuiTi 3.0 55 Regular"/>
                <ns3:ea typeface="Alibaba PuHuiTi 3.0 55 Regular"/>
                <ns3:cs typeface="Alibaba PuHuiTi 3.0 55 Regular"/>
              </ns3:defRPr>
            </ns3:pPr>
            <ns3:r>
              <ns3:rPr sz="825" b="0">
                <ns3:solidFill>
                  <ns3:srgbClr val="73879E"/>
                </ns3:solidFill>
                <ns3:latin typeface="Alibaba PuHuiTi 3.0 55 Regular"/>
                <ns3:ea typeface="Alibaba PuHuiTi 3.0 55 Regular"/>
                <ns3:cs typeface="Alibaba PuHuiTi 3.0 55 Regular"/>
              </ns3:rPr>
              <ns3:t>12</ns3:t>
            </ns3:r>
          </ns3:p>
        </p:txBody>
      </p:sp>
      <p:sp>
        <p:nvSpPr>
          <p:cNvPr id="8" name="已有项目基础">
            <a:extLst xmlns:a="http://schemas.openxmlformats.org/drawingml/2006/main">
              <a:ext uri="{FF2B5EF4-FFF2-40B4-BE49-F238E27FC236}">
                <a16:creationId xmlns:a16="http://schemas.microsoft.com/office/drawing/2014/main" id="{EF09BB86-AAD6-4811-89B3-8C8ECADC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05050"/>
            <a:ext cx="5200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已有项目基础</a:t>
            </a:r>
            <a:endParaRPr sz="20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9" name="调度与执行代码">
            <a:extLst xmlns:a="http://schemas.openxmlformats.org/drawingml/2006/main">
              <a:ext uri="{FF2B5EF4-FFF2-40B4-BE49-F238E27FC236}">
                <a16:creationId xmlns:a16="http://schemas.microsoft.com/office/drawing/2014/main" id="{512095B1-DCA1-4E1B-9FFF-70A3E1AF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33700"/>
            <a:ext cx="538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调度与执行代码</a:t>
            </a:r>
            <a:endParaRPr sz="187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0" name="受约束策略、成本预测、HTTP 节点协议">
            <a:extLst xmlns:a="http://schemas.openxmlformats.org/drawingml/2006/main">
              <a:ext uri="{FF2B5EF4-FFF2-40B4-BE49-F238E27FC236}">
                <a16:creationId xmlns:a16="http://schemas.microsoft.com/office/drawing/2014/main" id="{47F858EE-5F93-4B26-B68A-AB25256D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2800"/>
            <a:ext cx="538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受约束策略、成本预测、HTTP 节点协议</a:t>
            </a:r>
            <a:endParaRPr sz="157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1" name="应用与观测页面">
            <a:extLst xmlns:a="http://schemas.openxmlformats.org/drawingml/2006/main">
              <a:ext uri="{FF2B5EF4-FFF2-40B4-BE49-F238E27FC236}">
                <a16:creationId xmlns:a16="http://schemas.microsoft.com/office/drawing/2014/main" id="{F303E2FC-AD3A-4D2D-B7FE-022AD5E0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52875"/>
            <a:ext cx="538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应用与观测页面</a:t>
            </a:r>
            <a:endParaRPr sz="187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2" name="任务提交、调度盘、运行状态与实际回执">
            <a:extLst xmlns:a="http://schemas.openxmlformats.org/drawingml/2006/main">
              <a:ext uri="{FF2B5EF4-FFF2-40B4-BE49-F238E27FC236}">
                <a16:creationId xmlns:a16="http://schemas.microsoft.com/office/drawing/2014/main" id="{CF189838-641E-4B86-8581-9493BB19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71975"/>
            <a:ext cx="538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任务提交、调度盘、运行状态与实际回执</a:t>
            </a:r>
            <a:endParaRPr sz="157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3" name="业务与云端资产">
            <a:extLst xmlns:a="http://schemas.openxmlformats.org/drawingml/2006/main">
              <a:ext uri="{FF2B5EF4-FFF2-40B4-BE49-F238E27FC236}">
                <a16:creationId xmlns:a16="http://schemas.microsoft.com/office/drawing/2014/main" id="{97F0EF2D-4331-4148-BC20-CD673AE9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72050"/>
            <a:ext cx="538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业务与云端资产</a:t>
            </a:r>
            <a:endParaRPr sz="187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4" name="购物系统、数据库与 COS 接口可迁移复用">
            <a:extLst xmlns:a="http://schemas.openxmlformats.org/drawingml/2006/main">
              <a:ext uri="{FF2B5EF4-FFF2-40B4-BE49-F238E27FC236}">
                <a16:creationId xmlns:a16="http://schemas.microsoft.com/office/drawing/2014/main" id="{A8BC41D1-A337-4454-9137-2FD34780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538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购物系统、数据库与 COS 接口可迁移复用</a:t>
            </a:r>
            <a:endParaRPr sz="157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5" name="拟定分工与交付物">
            <a:extLst xmlns:a="http://schemas.openxmlformats.org/drawingml/2006/main">
              <a:ext uri="{FF2B5EF4-FFF2-40B4-BE49-F238E27FC236}">
                <a16:creationId xmlns:a16="http://schemas.microsoft.com/office/drawing/2014/main" id="{B627A777-4AD7-47DB-918E-6EAB50FA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05050"/>
            <a:ext cx="5353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拟定分工与交付物</a:t>
            </a:r>
            <a:endParaRPr sz="20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6" name="调度 / Runtime">
            <a:extLst xmlns:a="http://schemas.openxmlformats.org/drawingml/2006/main">
              <a:ext uri="{FF2B5EF4-FFF2-40B4-BE49-F238E27FC236}">
                <a16:creationId xmlns:a16="http://schemas.microsoft.com/office/drawing/2014/main" id="{6F3A6FE2-8FE1-4881-8C88-51BEE81F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956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调度 / Runtime</a:t>
            </a:r>
            <a:endParaRPr sz="17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7" name="路由策略、完整成本模型、可靠执行">
            <a:extLst xmlns:a="http://schemas.openxmlformats.org/drawingml/2006/main">
              <a:ext uri="{FF2B5EF4-FFF2-40B4-BE49-F238E27FC236}">
                <a16:creationId xmlns:a16="http://schemas.microsoft.com/office/drawing/2014/main" id="{D43C99CA-E6DB-423F-A2C5-787AF370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48025"/>
            <a:ext cx="5353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路由策略、完整成本模型、可靠执行</a:t>
            </a:r>
            <a:endParaRPr sz="1500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8" name="P1 / 模型">
            <a:extLst xmlns:a="http://schemas.openxmlformats.org/drawingml/2006/main">
              <a:ext uri="{FF2B5EF4-FFF2-40B4-BE49-F238E27FC236}">
                <a16:creationId xmlns:a16="http://schemas.microsoft.com/office/drawing/2014/main" id="{BE5C0968-EA56-4278-96AB-58C0D1F6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576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P1 / 模型</a:t>
            </a:r>
            <a:endParaRPr sz="17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9" name="NOE Worker、质量对齐、板端测量">
            <a:extLst xmlns:a="http://schemas.openxmlformats.org/drawingml/2006/main">
              <a:ext uri="{FF2B5EF4-FFF2-40B4-BE49-F238E27FC236}">
                <a16:creationId xmlns:a16="http://schemas.microsoft.com/office/drawing/2014/main" id="{CCA97E86-831E-4AD7-90A4-D14953DC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10025"/>
            <a:ext cx="5353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NOE Worker、质量对齐、板端测量</a:t>
            </a:r>
            <a:endParaRPr sz="1500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0" name="云端 / 业务">
            <a:extLst xmlns:a="http://schemas.openxmlformats.org/drawingml/2006/main">
              <a:ext uri="{FF2B5EF4-FFF2-40B4-BE49-F238E27FC236}">
                <a16:creationId xmlns:a16="http://schemas.microsoft.com/office/drawing/2014/main" id="{A78D7DAB-4144-4F73-B3E1-4275AC97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196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云端 / 业务</a:t>
            </a:r>
            <a:endParaRPr sz="17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1" name="云规划与复核、工具契约、业务闭环">
            <a:extLst xmlns:a="http://schemas.openxmlformats.org/drawingml/2006/main">
              <a:ext uri="{FF2B5EF4-FFF2-40B4-BE49-F238E27FC236}">
                <a16:creationId xmlns:a16="http://schemas.microsoft.com/office/drawing/2014/main" id="{175B2C72-7E31-46D6-AAE9-E0605BE1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72025"/>
            <a:ext cx="5353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云规划与复核、工具契约、业务闭环</a:t>
            </a:r>
            <a:endParaRPr sz="1500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2" name="Demo / 实验 / 材料">
            <a:extLst xmlns:a="http://schemas.openxmlformats.org/drawingml/2006/main">
              <a:ext uri="{FF2B5EF4-FFF2-40B4-BE49-F238E27FC236}">
                <a16:creationId xmlns:a16="http://schemas.microsoft.com/office/drawing/2014/main" id="{5779B8BC-07E2-4551-BE55-DAD3C779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816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Demo / 实验 / 材料</a:t>
            </a:r>
            <a:endParaRPr sz="17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3" name="对照报告、复现脚本、演示与答辩">
            <a:extLst xmlns:a="http://schemas.openxmlformats.org/drawingml/2006/main">
              <a:ext uri="{FF2B5EF4-FFF2-40B4-BE49-F238E27FC236}">
                <a16:creationId xmlns:a16="http://schemas.microsoft.com/office/drawing/2014/main" id="{6C0C06F5-F942-4988-BD2B-9BADFB74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34025"/>
            <a:ext cx="5353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对照报告、复现脚本、演示与答辩</a:t>
            </a:r>
            <a:endParaRPr sz="1500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4" name="姓名、学校、专业及可核验个人成果待补充。上述为职责分工，可兼任，不代表已确定团队人数。">
            <a:extLst xmlns:a="http://schemas.openxmlformats.org/drawingml/2006/main">
              <a:ext uri="{FF2B5EF4-FFF2-40B4-BE49-F238E27FC236}">
                <a16:creationId xmlns:a16="http://schemas.microsoft.com/office/drawing/2014/main" id="{F078BC9D-F2C8-4AAF-BC6C-3ED21603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rPr>
              <a:t>姓名、学校、专业及可核验个人成果待补充。上述为职责分工，可兼任，不代表已确定团队人数。</a:t>
            </a:r>
            <a:endParaRPr sz="1125" b="0">
              <a:solidFill>
                <a:srgbClr val="73879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698932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1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70D5CA2F-971B-469A-BF8A-BD5F006C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>
              <a:alpha val="100000"/>
            </a:srgbClr>
          </a:solidFill>
          <a:ln xmlns:a="http://schemas.openxmlformats.org/drawingml/2006/main">
            <a:headEnd type="none"/>
            <a:tailEnd type="none"/>
          </a:ln>
        </p:spPr>
        <p:txBody xmlns:a="http://schemas.openxmlformats.org/drawingml/2006/main">
          <a:bodyPr/>
          <a:p/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83466663-1A8E-4C3B-8E7F-D74D1C2F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>
              <a:alpha val="100000"/>
            </a:srgbClr>
          </a:solidFill>
          <a:ln xmlns:a="http://schemas.openxmlformats.org/drawingml/2006/main">
            <a:headEnd type="none"/>
            <a:tailEnd type="none"/>
          </a:ln>
        </p:spPr>
        <p:txBody xmlns:a="http://schemas.openxmlformats.org/drawingml/2006/main">
          <a:bodyPr/>
          <a:p/>
        </p:txBody>
      </p:sp>
      <p:sp>
        <p:nvSpPr>
          <p:cNvPr id="4" name="09  调度方法详解">
            <a:extLst xmlns:a="http://schemas.openxmlformats.org/drawingml/2006/main">
              <a:ext uri="{FF2B5EF4-FFF2-40B4-BE49-F238E27FC236}">
                <a16:creationId xmlns:a16="http://schemas.microsoft.com/office/drawing/2014/main" id="{90D9DE0A-B7AD-4352-9E9F-E80CF595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ns0:p xmlns:ns0="http://schemas.openxmlformats.org/drawingml/2006/main">
            <ns0:pPr algn="l">
              <ns0:buNone/>
              <ns0:defRPr sz="1050" b="0">
                <ns0:solidFill>
                  <ns0:srgbClr val="5890BE"/>
                </ns0:solidFill>
                <ns0:latin typeface="Alibaba PuHuiTi 3.0 55 Regular"/>
                <ns0:ea typeface="Alibaba PuHuiTi 3.0 55 Regular"/>
                <ns0:cs typeface="Alibaba PuHuiTi 3.0 55 Regular"/>
              </ns0:defRPr>
            </ns0:pPr>
            <ns0:r>
              <ns0:rPr sz="1050" b="0">
                <ns0:solidFill>
                  <ns0:srgbClr val="5890BE"/>
                </ns0:solidFill>
                <ns0:latin typeface="Alibaba PuHuiTi 3.0 55 Regular"/>
                <ns0:ea typeface="Alibaba PuHuiTi 3.0 55 Regular"/>
                <ns0:cs typeface="Alibaba PuHuiTi 3.0 55 Regular"/>
              </ns0:rPr>
              <ns0:t>13  调度方法详解</ns0:t>
            </ns0:r>
          </ns0:p>
        </p:txBody>
      </p:sp>
      <p:sp>
        <p:nvSpPr>
          <p:cNvPr id="5" name="一次调度的输入、判断与输出">
            <a:extLst xmlns:a="http://schemas.openxmlformats.org/drawingml/2006/main">
              <a:ext uri="{FF2B5EF4-FFF2-40B4-BE49-F238E27FC236}">
                <a16:creationId xmlns:a16="http://schemas.microsoft.com/office/drawing/2014/main" id="{DEDF1FE6-9FE5-4CE6-AC22-4D2121A3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一次调度的输入、判断与输出</a:t>
            </a:r>
            <a:endParaRPr sz="29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E9ED3876-938A-4D0C-B40D-B8441288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4DF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主方法：先排除不合规候选，再根据任务和资源状态选择可执行路径。">
            <a:extLst xmlns:a="http://schemas.openxmlformats.org/drawingml/2006/main">
              <a:ext uri="{FF2B5EF4-FFF2-40B4-BE49-F238E27FC236}">
                <a16:creationId xmlns:a16="http://schemas.microsoft.com/office/drawing/2014/main" id="{33E04A81-4EC0-4996-B4B0-02A725AD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77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主方法：先排除不合规候选，再根据任务和资源状态选择可执行路径。</a:t>
            </a:r>
            <a:endParaRPr sz="17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8" name="09">
            <a:extLst xmlns:a="http://schemas.openxmlformats.org/drawingml/2006/main">
              <a:ext uri="{FF2B5EF4-FFF2-40B4-BE49-F238E27FC236}">
                <a16:creationId xmlns:a16="http://schemas.microsoft.com/office/drawing/2014/main" id="{2C32D74D-E9B7-4578-A62B-CA5CE114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6294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ns3:p xmlns:ns3="http://schemas.openxmlformats.org/drawingml/2006/main">
            <ns3:pPr algn="r">
              <ns3:buNone/>
              <ns3:defRPr sz="825" b="0">
                <ns3:solidFill>
                  <ns3:srgbClr val="73879E"/>
                </ns3:solidFill>
                <ns3:latin typeface="Alibaba PuHuiTi 3.0 55 Regular"/>
                <ns3:ea typeface="Alibaba PuHuiTi 3.0 55 Regular"/>
                <ns3:cs typeface="Alibaba PuHuiTi 3.0 55 Regular"/>
              </ns3:defRPr>
            </ns3:pPr>
            <ns3:r>
              <ns3:rPr sz="825" b="0">
                <ns3:solidFill>
                  <ns3:srgbClr val="73879E"/>
                </ns3:solidFill>
                <ns3:latin typeface="Alibaba PuHuiTi 3.0 55 Regular"/>
                <ns3:ea typeface="Alibaba PuHuiTi 3.0 55 Regular"/>
                <ns3:cs typeface="Alibaba PuHuiTi 3.0 55 Regular"/>
              </ns3:rPr>
              <ns3:t>13</ns3:t>
            </ns3:r>
          </ns3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9D2F257-2496-4EC7-B4BF-05B2ACEF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252412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输入画像">
            <a:extLst xmlns:a="http://schemas.openxmlformats.org/drawingml/2006/main">
              <a:ext uri="{FF2B5EF4-FFF2-40B4-BE49-F238E27FC236}">
                <a16:creationId xmlns:a16="http://schemas.microsoft.com/office/drawing/2014/main" id="{457F5365-7FEE-4756-9220-62C96104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22193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输入画像</a:t>
            </a:r>
            <a:endParaRPr sz="17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1" name="任务类型、规模、时限&#10;质量、授权、负载和网络">
            <a:extLst xmlns:a="http://schemas.openxmlformats.org/drawingml/2006/main">
              <a:ext uri="{FF2B5EF4-FFF2-40B4-BE49-F238E27FC236}">
                <a16:creationId xmlns:a16="http://schemas.microsoft.com/office/drawing/2014/main" id="{3887ACAD-9B12-4351-9D74-B58B07D4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2193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ns6:p xmlns:ns6="http://schemas.openxmlformats.org/drawingml/2006/main">
            <ns6:pPr algn="l">
              <ns6:buNone/>
              <ns6:defRPr sz="1425" b="0">
                <ns6:solidFill>
                  <ns6:srgbClr val="39516B"/>
                </ns6:solidFill>
                <ns6:latin typeface="Alibaba PuHuiTi 3.0 55 Regular"/>
                <ns6:ea typeface="Alibaba PuHuiTi 3.0 55 Regular"/>
                <ns6:cs typeface="Alibaba PuHuiTi 3.0 55 Regular"/>
              </ns6:defRPr>
            </ns6:pPr>
            <ns6:r>
              <ns6:rPr sz="1425" b="0">
                <ns6:solidFill>
                  <ns6:srgbClr val="39516B"/>
                </ns6:solidFill>
                <ns6:latin typeface="Alibaba PuHuiTi 3.0 55 Regular"/>
                <ns6:ea typeface="Alibaba PuHuiTi 3.0 55 Regular"/>
                <ns6:cs typeface="Alibaba PuHuiTi 3.0 55 Regular"/>
              </ns6:rPr>
              <ns6:t>任务画像 + 设备画像</ns6:t>
            </ns6:r>
          </ns6:p>
          <ns9:p xmlns:ns9="http://schemas.openxmlformats.org/drawingml/2006/main">
            <ns9:pPr algn="l">
              <ns9:buNone/>
              <ns9:defRPr sz="1425" b="0">
                <ns9:solidFill>
                  <ns9:srgbClr val="39516B"/>
                </ns9:solidFill>
                <ns9:latin typeface="Alibaba PuHuiTi 3.0 55 Regular"/>
                <ns9:ea typeface="Alibaba PuHuiTi 3.0 55 Regular"/>
                <ns9:cs typeface="Alibaba PuHuiTi 3.0 55 Regular"/>
              </ns9:defRPr>
            </ns9:pPr>
            <ns9:r>
              <ns9:rPr sz="1425" b="0">
                <ns9:solidFill>
                  <ns9:srgbClr val="39516B"/>
                </ns9:solidFill>
                <ns9:latin typeface="Alibaba PuHuiTi 3.0 55 Regular"/>
                <ns9:ea typeface="Alibaba PuHuiTi 3.0 55 Regular"/>
                <ns9:cs typeface="Alibaba PuHuiTi 3.0 55 Regular"/>
              </ns9:rPr>
              <ns9:t>能力 / 负载 / 链路</ns9:t>
            </ns9:r>
          </ns9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24B41A47-D8F8-4462-A332-8EDEC2FA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400300"/>
            <a:ext cx="252412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solid"/>
          </a:ln>
        </p:spPr>
      </p:sp>
      <p:sp>
        <p:nvSpPr>
          <p:cNvPr id="13" name="1 过滤候选">
            <a:extLst xmlns:a="http://schemas.openxmlformats.org/drawingml/2006/main">
              <a:ext uri="{FF2B5EF4-FFF2-40B4-BE49-F238E27FC236}">
                <a16:creationId xmlns:a16="http://schemas.microsoft.com/office/drawing/2014/main" id="{38D2DB26-5948-4505-AC28-4105D39E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524125"/>
            <a:ext cx="22193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 过滤候选</a:t>
            </a:r>
            <a:endParaRPr sz="17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4" name="工具 / 模型能力匹配&#10;质量与外发条件满足">
            <a:extLst xmlns:a="http://schemas.openxmlformats.org/drawingml/2006/main">
              <a:ext uri="{FF2B5EF4-FFF2-40B4-BE49-F238E27FC236}">
                <a16:creationId xmlns:a16="http://schemas.microsoft.com/office/drawing/2014/main" id="{751E7FF0-1A56-4723-B8B8-0D57A993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857500"/>
            <a:ext cx="22193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工具 / 模型能力匹配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质量与外发条件满足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395839D-7C4C-46A2-8FBD-0277719D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00300"/>
            <a:ext cx="252412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solid"/>
          </a:ln>
        </p:spPr>
      </p:sp>
      <p:sp>
        <p:nvSpPr>
          <p:cNvPr id="16" name="2 比较路径">
            <a:extLst xmlns:a="http://schemas.openxmlformats.org/drawingml/2006/main">
              <a:ext uri="{FF2B5EF4-FFF2-40B4-BE49-F238E27FC236}">
                <a16:creationId xmlns:a16="http://schemas.microsoft.com/office/drawing/2014/main" id="{168137EA-C778-4010-91AB-79FF7E3D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24125"/>
            <a:ext cx="22193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 比较路径</a:t>
            </a:r>
            <a:endParaRPr sz="17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7" name="预测排队、计算与传输&#10;保留不确定性余量">
            <a:extLst xmlns:a="http://schemas.openxmlformats.org/drawingml/2006/main">
              <a:ext uri="{FF2B5EF4-FFF2-40B4-BE49-F238E27FC236}">
                <a16:creationId xmlns:a16="http://schemas.microsoft.com/office/drawing/2014/main" id="{D34F13FD-03CC-44D1-B70F-9522DB1D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22193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预测排队、计算与传输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保留不确定性余量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37F3620-E838-40BB-8AA1-362CE0A3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400300"/>
            <a:ext cx="233362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solid"/>
          </a:ln>
        </p:spPr>
      </p:sp>
      <p:sp>
        <p:nvSpPr>
          <p:cNvPr id="19" name="3 派发">
            <a:extLst xmlns:a="http://schemas.openxmlformats.org/drawingml/2006/main">
              <a:ext uri="{FF2B5EF4-FFF2-40B4-BE49-F238E27FC236}">
                <a16:creationId xmlns:a16="http://schemas.microsoft.com/office/drawing/2014/main" id="{509729B7-5CE1-4D7A-A9B5-E8F51653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524125"/>
            <a:ext cx="20288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 派发</a:t>
            </a:r>
            <a:endParaRPr sz="17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0" name="位置、配置&#10;执行原因">
            <a:extLst xmlns:a="http://schemas.openxmlformats.org/drawingml/2006/main">
              <a:ext uri="{FF2B5EF4-FFF2-40B4-BE49-F238E27FC236}">
                <a16:creationId xmlns:a16="http://schemas.microsoft.com/office/drawing/2014/main" id="{385D26AA-AA44-4F55-AB10-8AF768E0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857500"/>
            <a:ext cx="2028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位置、配置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执行原因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cxnSp>
        <p:nvCxnSpPr>
          <p:cNvPr id="118" name="直接箭头连接符 53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981325" y="3062288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90BE"/>
            </a:solidFill>
            <a:prstDash val="solid"/>
            <a:tailEnd type="triangle" w="sm" len="sm"/>
          </a:ln>
        </p:spPr>
      </p:cxnSp>
      <p:cxnSp>
        <p:nvCxnSpPr>
          <p:cNvPr id="119" name="直接箭头连接符 54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962650" y="3062288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90BE"/>
            </a:solidFill>
            <a:prstDash val="solid"/>
            <a:tailEnd type="triangle" w="sm" len="sm"/>
          </a:ln>
        </p:spPr>
      </p:cxnSp>
      <p:cxnSp>
        <p:nvCxnSpPr>
          <p:cNvPr id="120" name="直接箭头连接符 55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943975" y="3062288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90BE"/>
            </a:solidFill>
            <a:prstDash val="solid"/>
            <a:tailEnd type="triangle" w="sm" len="sm"/>
          </a:ln>
        </p:spPr>
      </p:cxn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C9D94077-7F75-48C2-BAE8-9AF4844E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524375"/>
            <a:ext cx="23336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solid"/>
          </a:ln>
        </p:spPr>
      </p:sp>
      <p:sp>
        <p:nvSpPr>
          <p:cNvPr id="25" name="4 执行端复核">
            <a:extLst xmlns:a="http://schemas.openxmlformats.org/drawingml/2006/main">
              <a:ext uri="{FF2B5EF4-FFF2-40B4-BE49-F238E27FC236}">
                <a16:creationId xmlns:a16="http://schemas.microsoft.com/office/drawing/2014/main" id="{01BD5A59-2E7E-48CB-BFCC-8B5F5E22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4648200"/>
            <a:ext cx="20288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 执行端复核</a:t>
            </a:r>
            <a:endParaRPr sz="17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6" name="本地资源能否接纳&#10;执行配置是否真实可用">
            <a:extLst xmlns:a="http://schemas.openxmlformats.org/drawingml/2006/main">
              <a:ext uri="{FF2B5EF4-FFF2-40B4-BE49-F238E27FC236}">
                <a16:creationId xmlns:a16="http://schemas.microsoft.com/office/drawing/2014/main" id="{EDBF606E-E39A-4A60-9BA4-4F3DA5BF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4981575"/>
            <a:ext cx="20288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本地资源能否接纳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执行配置是否真实可用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F35CCF1A-339A-4DE3-A794-3A85DBF3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24375"/>
            <a:ext cx="25241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solid"/>
          </a:ln>
        </p:spPr>
      </p:sp>
      <p:sp>
        <p:nvSpPr>
          <p:cNvPr id="28" name="5 核验与反馈">
            <a:extLst xmlns:a="http://schemas.openxmlformats.org/drawingml/2006/main">
              <a:ext uri="{FF2B5EF4-FFF2-40B4-BE49-F238E27FC236}">
                <a16:creationId xmlns:a16="http://schemas.microsoft.com/office/drawing/2014/main" id="{298B85B4-D692-49A1-AA18-039EC4A8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48200"/>
            <a:ext cx="22193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 核验与反馈</a:t>
            </a:r>
            <a:endParaRPr sz="17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9" name="实际配置 / 耗时 / 结果&#10;更新同环境的成本样本">
            <a:extLst xmlns:a="http://schemas.openxmlformats.org/drawingml/2006/main">
              <a:ext uri="{FF2B5EF4-FFF2-40B4-BE49-F238E27FC236}">
                <a16:creationId xmlns:a16="http://schemas.microsoft.com/office/drawing/2014/main" id="{B3509C27-9609-48C7-9ADD-FB08F5AE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81575"/>
            <a:ext cx="22193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实际配置 / 耗时 / 结果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更新同环境的成本样本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cxnSp>
        <p:nvCxnSpPr>
          <p:cNvPr id="127" name="直接箭头连接符 62"/>
          <p:cNvCxnSpPr>
            <a:stCxn xmlns:a="http://schemas.openxmlformats.org/drawingml/2006/main" id="18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10567988" y="3724275"/>
            <a:ext cx="0" cy="800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90BE"/>
            </a:solidFill>
            <a:prstDash val="solid"/>
            <a:tailEnd type="triangle" w="sm" len="sm"/>
          </a:ln>
        </p:spPr>
      </p:cxnSp>
      <p:cxnSp>
        <p:nvCxnSpPr>
          <p:cNvPr id="128" name="直接箭头连接符 63"/>
          <p:cNvCxnSpPr>
            <a:stCxn xmlns:a="http://schemas.openxmlformats.org/drawingml/2006/main" id="24" idx="1"/>
            <a:endCxn xmlns:a="http://schemas.openxmlformats.org/drawingml/2006/main" id="27" idx="3"/>
          </p:cNvCxnSpPr>
          <p:nvPr/>
        </p:nvCxnSpPr>
        <p:spPr>
          <a:xfrm xmlns:a="http://schemas.openxmlformats.org/drawingml/2006/main" flipH="1">
            <a:off x="8943975" y="51816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90BE"/>
            </a:solidFill>
            <a:prstDash val="solid"/>
            <a:tailEnd type="triangle" w="sm" len="sm"/>
          </a:ln>
        </p:spPr>
      </p:cxnSp>
      <p:sp>
        <p:nvSpPr>
          <p:cNvPr id="32" name="反馈用于下一次调度">
            <a:extLst xmlns:a="http://schemas.openxmlformats.org/drawingml/2006/main">
              <a:ext uri="{FF2B5EF4-FFF2-40B4-BE49-F238E27FC236}">
                <a16:creationId xmlns:a16="http://schemas.microsoft.com/office/drawing/2014/main" id="{397B47EF-4E46-476F-AF7E-D9040DB4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629275"/>
            <a:ext cx="29241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反馈用于下一次调度</a:t>
            </a:r>
            <a:endParaRPr sz="1725" b="1">
              <a:solidFill>
                <a:srgbClr val="5890B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cxnSp>
        <p:nvCxnSpPr>
          <p:cNvPr id="130" name="肘形连接符 65"/>
          <p:cNvCxnSpPr>
            <a:stCxn xmlns:a="http://schemas.openxmlformats.org/drawingml/2006/main" id="27" idx="1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H="1" flipV="1">
            <a:off x="4700588" y="3724275"/>
            <a:ext cx="1719263" cy="1457325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5890BE"/>
            </a:solidFill>
            <a:prstDash val="solid"/>
            <a:tailEnd type="triangle" w="sm" len="sm"/>
          </a:ln>
        </p:spPr>
      </p:cxnSp>
      <p:sp>
        <p:nvSpPr>
          <p:cNvPr id="34" name="只有结果契约与质量兼容的实现才可端云切换。云独有任务管理调用和失败，不强行降级为本地任务。">
            <a:extLst xmlns:a="http://schemas.openxmlformats.org/drawingml/2006/main">
              <a:ext uri="{FF2B5EF4-FFF2-40B4-BE49-F238E27FC236}">
                <a16:creationId xmlns:a16="http://schemas.microsoft.com/office/drawing/2014/main" id="{6F26D004-4FCD-4DA1-8E94-7528DFA3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只有结果契约与质量兼容的实现才可端云切换。云独有任务管理调用和失败，不强行降级为本地任务。</a:t>
            </a:r>
            <a:endParaRPr sz="1125" b="0">
              <a:solidFill>
                <a:srgbClr val="73879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</p:spTree>
    <p:extLst>
      <p:ext uri="{BB962C8B-B14F-4D97-AF65-F5344CB8AC3E}">
        <p14:creationId xmlns:p14="http://schemas.microsoft.com/office/powerpoint/2010/main" val="7572214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1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10  完整路径成本与轻量预测">
            <a:extLst xmlns:a="http://schemas.openxmlformats.org/drawingml/2006/main">
              <a:ext uri="{FF2B5EF4-FFF2-40B4-BE49-F238E27FC236}">
                <a16:creationId xmlns:a16="http://schemas.microsoft.com/office/drawing/2014/main" id="{C9C7D2CB-1B94-4B7E-B5EA-6A58EAEF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ns0:p xmlns:ns0="http://schemas.openxmlformats.org/drawingml/2006/main">
            <ns0:pPr algn="l">
              <ns0:buNone/>
              <ns0:defRPr sz="1050" b="0">
                <ns0:solidFill>
                  <ns0:srgbClr val="5890BE"/>
                </ns0:solidFill>
                <ns0:latin typeface="Alibaba PuHuiTi 3.0 55 Regular"/>
                <ns0:ea typeface="Alibaba PuHuiTi 3.0 55 Regular"/>
                <ns0:cs typeface="Alibaba PuHuiTi 3.0 55 Regular"/>
              </ns0:defRPr>
            </ns0:pPr>
            <ns0:r>
              <ns0:rPr sz="1050" b="0">
                <ns0:solidFill>
                  <ns0:srgbClr val="5890BE"/>
                </ns0:solidFill>
                <ns0:latin typeface="Alibaba PuHuiTi 3.0 55 Regular"/>
                <ns0:ea typeface="Alibaba PuHuiTi 3.0 55 Regular"/>
                <ns0:cs typeface="Alibaba PuHuiTi 3.0 55 Regular"/>
              </ns0:rPr>
              <ns0:t>14  完整路径成本与轻量预测</ns0:t>
            </ns0:r>
          </ns0:p>
        </p:txBody>
      </p:sp>
      <p:sp>
        <p:nvSpPr>
          <p:cNvPr id="2" name="比较完整等待时间，避免“推理快但任务慢”">
            <a:extLst xmlns:a="http://schemas.openxmlformats.org/drawingml/2006/main">
              <a:ext uri="{FF2B5EF4-FFF2-40B4-BE49-F238E27FC236}">
                <a16:creationId xmlns:a16="http://schemas.microsoft.com/office/drawing/2014/main" id="{5AF48E88-EEE7-4C7E-AAD2-7451333C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比较完整等待时间，避免“推理快但任务慢”</a:t>
            </a:r>
            <a:endParaRPr sz="29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48F93B33-6E5F-4D19-B155-FD1AD871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4DF"/>
            </a:solidFill>
          </a:ln>
        </p:spPr>
      </p:sp>
      <p:sp>
        <p:nvSpPr>
          <p:cNvPr id="4" name="云端推理更快，也可能因为上传、排队和回传而增加用户等待。">
            <a:extLst xmlns:a="http://schemas.openxmlformats.org/drawingml/2006/main">
              <a:ext uri="{FF2B5EF4-FFF2-40B4-BE49-F238E27FC236}">
                <a16:creationId xmlns:a16="http://schemas.microsoft.com/office/drawing/2014/main" id="{DEF5A1C3-C9BE-4BB3-972F-B0845A0F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77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云端推理更快，也可能因为上传、排队和回传而增加用户等待。</a:t>
            </a:r>
            <a:endParaRPr sz="17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5" name="10">
            <a:extLst xmlns:a="http://schemas.openxmlformats.org/drawingml/2006/main">
              <a:ext uri="{FF2B5EF4-FFF2-40B4-BE49-F238E27FC236}">
                <a16:creationId xmlns:a16="http://schemas.microsoft.com/office/drawing/2014/main" id="{D77BD83A-6DF5-41E7-BBEB-282DC06E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6294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ns3:p xmlns:ns3="http://schemas.openxmlformats.org/drawingml/2006/main">
            <ns3:pPr algn="r">
              <ns3:buNone/>
              <ns3:defRPr sz="825" b="0">
                <ns3:solidFill>
                  <ns3:srgbClr val="73879E"/>
                </ns3:solidFill>
                <ns3:latin typeface="Alibaba PuHuiTi 3.0 55 Regular"/>
                <ns3:ea typeface="Alibaba PuHuiTi 3.0 55 Regular"/>
                <ns3:cs typeface="Alibaba PuHuiTi 3.0 55 Regular"/>
              </ns3:defRPr>
            </ns3:pPr>
            <ns3:r>
              <ns3:rPr sz="825" b="0">
                <ns3:solidFill>
                  <ns3:srgbClr val="73879E"/>
                </ns3:solidFill>
                <ns3:latin typeface="Alibaba PuHuiTi 3.0 55 Regular"/>
                <ns3:ea typeface="Alibaba PuHuiTi 3.0 55 Regular"/>
                <ns3:cs typeface="Alibaba PuHuiTi 3.0 55 Regular"/>
              </ns3:rPr>
              <ns3:t>14</ns3:t>
            </ns3:r>
          </ns3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0BA1824-05ED-4CB8-A6D4-78DC9585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21050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solid"/>
          </a:ln>
        </p:spPr>
      </p:sp>
      <p:sp>
        <p:nvSpPr>
          <p:cNvPr id="7" name="准备">
            <a:extLst xmlns:a="http://schemas.openxmlformats.org/drawingml/2006/main">
              <a:ext uri="{FF2B5EF4-FFF2-40B4-BE49-F238E27FC236}">
                <a16:creationId xmlns:a16="http://schemas.microsoft.com/office/drawing/2014/main" id="{C0288CB4-7B17-48AB-AA3A-A965E545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6025"/>
            <a:ext cx="1800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准备</a:t>
            </a:r>
            <a:endParaRPr sz="17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8" name="预处理 / 序列化">
            <a:extLst xmlns:a="http://schemas.openxmlformats.org/drawingml/2006/main">
              <a:ext uri="{FF2B5EF4-FFF2-40B4-BE49-F238E27FC236}">
                <a16:creationId xmlns:a16="http://schemas.microsoft.com/office/drawing/2014/main" id="{76B96B74-530C-444A-A6DC-C3B275B6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8002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预处理 / 序列化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9" name="+">
            <a:extLst xmlns:a="http://schemas.openxmlformats.org/drawingml/2006/main">
              <a:ext uri="{FF2B5EF4-FFF2-40B4-BE49-F238E27FC236}">
                <a16:creationId xmlns:a16="http://schemas.microsoft.com/office/drawing/2014/main" id="{5BBE074A-C99A-4075-B163-F494E031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67000"/>
            <a:ext cx="161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75" b="1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+</a:t>
            </a:r>
            <a:endParaRPr sz="1875" b="1">
              <a:solidFill>
                <a:srgbClr val="5890B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7EAFDBA-59F9-4A15-BCD3-432DA66A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362200"/>
            <a:ext cx="21050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11430">
            <a:solidFill>
              <a:srgbClr val="956A2E"/>
            </a:solidFill>
            <a:prstDash val="solid"/>
          </a:ln>
        </p:spPr>
      </p:sp>
      <p:sp>
        <p:nvSpPr>
          <p:cNvPr id="11" name="传输">
            <a:extLst xmlns:a="http://schemas.openxmlformats.org/drawingml/2006/main">
              <a:ext uri="{FF2B5EF4-FFF2-40B4-BE49-F238E27FC236}">
                <a16:creationId xmlns:a16="http://schemas.microsoft.com/office/drawing/2014/main" id="{BAC09C1B-A479-412A-B0BB-DF101AD2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486025"/>
            <a:ext cx="1800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956A2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956A2E"/>
                </a:solidFill>
                <a:latin typeface="Alibaba PuHuiTi 3.0 55 Regular"/>
                <a:ea typeface="Alibaba PuHuiTi 3.0 55 Regular"/>
                <a:cs typeface="Alibaba PuHuiTi 3.0 55 Regular"/>
              </a:rPr>
              <a:t>传输</a:t>
            </a:r>
            <a:endParaRPr sz="1725" b="1">
              <a:solidFill>
                <a:srgbClr val="956A2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2" name="上传或对象读取">
            <a:extLst xmlns:a="http://schemas.openxmlformats.org/drawingml/2006/main">
              <a:ext uri="{FF2B5EF4-FFF2-40B4-BE49-F238E27FC236}">
                <a16:creationId xmlns:a16="http://schemas.microsoft.com/office/drawing/2014/main" id="{97F53076-8510-452F-9092-670F0452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819400"/>
            <a:ext cx="18002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上传或对象读取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3" name="+">
            <a:extLst xmlns:a="http://schemas.openxmlformats.org/drawingml/2006/main">
              <a:ext uri="{FF2B5EF4-FFF2-40B4-BE49-F238E27FC236}">
                <a16:creationId xmlns:a16="http://schemas.microsoft.com/office/drawing/2014/main" id="{AF181593-7E7F-4870-9CE3-9469C8D7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667000"/>
            <a:ext cx="161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75" b="1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+</a:t>
            </a:r>
            <a:endParaRPr sz="1875" b="1">
              <a:solidFill>
                <a:srgbClr val="5890B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EA11C16-4284-447D-9828-715F8340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62200"/>
            <a:ext cx="21050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solid"/>
          </a:ln>
        </p:spPr>
      </p:sp>
      <p:sp>
        <p:nvSpPr>
          <p:cNvPr id="15" name="排队">
            <a:extLst xmlns:a="http://schemas.openxmlformats.org/drawingml/2006/main">
              <a:ext uri="{FF2B5EF4-FFF2-40B4-BE49-F238E27FC236}">
                <a16:creationId xmlns:a16="http://schemas.microsoft.com/office/drawing/2014/main" id="{7E394782-AB96-4239-B074-9C46264C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86025"/>
            <a:ext cx="1800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排队</a:t>
            </a:r>
            <a:endParaRPr sz="17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6" name="服务 / 本地队列">
            <a:extLst xmlns:a="http://schemas.openxmlformats.org/drawingml/2006/main">
              <a:ext uri="{FF2B5EF4-FFF2-40B4-BE49-F238E27FC236}">
                <a16:creationId xmlns:a16="http://schemas.microsoft.com/office/drawing/2014/main" id="{08DD24F2-73CD-4BAF-9F6C-0A2D5A41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19400"/>
            <a:ext cx="18002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服务 / 本地队列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7" name="+">
            <a:extLst xmlns:a="http://schemas.openxmlformats.org/drawingml/2006/main">
              <a:ext uri="{FF2B5EF4-FFF2-40B4-BE49-F238E27FC236}">
                <a16:creationId xmlns:a16="http://schemas.microsoft.com/office/drawing/2014/main" id="{4B08FDAC-BEDE-4DF7-9BD9-112AA929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67000"/>
            <a:ext cx="161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75" b="1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+</a:t>
            </a:r>
            <a:endParaRPr sz="1875" b="1">
              <a:solidFill>
                <a:srgbClr val="5890B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4AFC0AE5-475E-4C03-A6C6-FA85CB98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362200"/>
            <a:ext cx="21050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solid"/>
          </a:ln>
        </p:spPr>
      </p:sp>
      <p:sp>
        <p:nvSpPr>
          <p:cNvPr id="19" name="执行">
            <a:extLst xmlns:a="http://schemas.openxmlformats.org/drawingml/2006/main">
              <a:ext uri="{FF2B5EF4-FFF2-40B4-BE49-F238E27FC236}">
                <a16:creationId xmlns:a16="http://schemas.microsoft.com/office/drawing/2014/main" id="{F8B6E982-E676-4612-8F1C-2E83F691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486025"/>
            <a:ext cx="1800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执行</a:t>
            </a:r>
            <a:endParaRPr sz="17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0" name="加载与实际计算">
            <a:extLst xmlns:a="http://schemas.openxmlformats.org/drawingml/2006/main">
              <a:ext uri="{FF2B5EF4-FFF2-40B4-BE49-F238E27FC236}">
                <a16:creationId xmlns:a16="http://schemas.microsoft.com/office/drawing/2014/main" id="{A39FFEE2-679B-4D1F-82A8-3CD1BC9A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819400"/>
            <a:ext cx="18002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加载与实际计算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1" name="+">
            <a:extLst xmlns:a="http://schemas.openxmlformats.org/drawingml/2006/main">
              <a:ext uri="{FF2B5EF4-FFF2-40B4-BE49-F238E27FC236}">
                <a16:creationId xmlns:a16="http://schemas.microsoft.com/office/drawing/2014/main" id="{39B15819-C065-4DE8-BC2F-B5C5365A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667000"/>
            <a:ext cx="161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75" b="1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+</a:t>
            </a:r>
            <a:endParaRPr sz="1875" b="1">
              <a:solidFill>
                <a:srgbClr val="5890B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081C6DC2-7645-43C2-A29E-7B5135FB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62200"/>
            <a:ext cx="21050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solid"/>
          </a:ln>
        </p:spPr>
      </p:sp>
      <p:sp>
        <p:nvSpPr>
          <p:cNvPr id="23" name="回传与验证">
            <a:extLst xmlns:a="http://schemas.openxmlformats.org/drawingml/2006/main">
              <a:ext uri="{FF2B5EF4-FFF2-40B4-BE49-F238E27FC236}">
                <a16:creationId xmlns:a16="http://schemas.microsoft.com/office/drawing/2014/main" id="{E739DC81-3446-4884-8CC1-0F5AEE5F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486025"/>
            <a:ext cx="1800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回传与验证</a:t>
            </a:r>
            <a:endParaRPr sz="17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4" name="返回及质量核验">
            <a:extLst xmlns:a="http://schemas.openxmlformats.org/drawingml/2006/main">
              <a:ext uri="{FF2B5EF4-FFF2-40B4-BE49-F238E27FC236}">
                <a16:creationId xmlns:a16="http://schemas.microsoft.com/office/drawing/2014/main" id="{FBF30356-0458-4588-9CA9-33A1A8D2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819400"/>
            <a:ext cx="18002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返回及质量核验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5" name="候选成本 = 上述实际阶段总和 + 不确定性余量">
            <a:extLst xmlns:a="http://schemas.openxmlformats.org/drawingml/2006/main">
              <a:ext uri="{FF2B5EF4-FFF2-40B4-BE49-F238E27FC236}">
                <a16:creationId xmlns:a16="http://schemas.microsoft.com/office/drawing/2014/main" id="{B175B3AB-3BF6-4725-BD37-FCD2B27F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29025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1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候选成本 = 上述实际阶段总和 + 不确定性余量</a:t>
            </a:r>
            <a:endParaRPr sz="217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6" name="预测要快">
            <a:extLst xmlns:a="http://schemas.openxmlformats.org/drawingml/2006/main">
              <a:ext uri="{FF2B5EF4-FFF2-40B4-BE49-F238E27FC236}">
                <a16:creationId xmlns:a16="http://schemas.microsoft.com/office/drawing/2014/main" id="{DA29363D-CA1A-43B6-BFD3-826463CA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96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95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预测要快</a:t>
            </a:r>
            <a:endParaRPr sz="1950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7" name="读取有限候选和统计摘要&#10;每次调度不请求大模型">
            <a:extLst xmlns:a="http://schemas.openxmlformats.org/drawingml/2006/main">
              <a:ext uri="{FF2B5EF4-FFF2-40B4-BE49-F238E27FC236}">
                <a16:creationId xmlns:a16="http://schemas.microsoft.com/office/drawing/2014/main" id="{26D60A32-FCF2-494F-9158-5DED4E8C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86325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读取有限候选和统计摘要</a:t>
            </a:r>
            <a:endParaRPr sz="17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  <a:p xmlns:a="http://schemas.openxmlformats.org/drawingml/2006/main">
            <a:pPr algn="l">
              <a:buNone/>
              <a:def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每次调度不请求大模型</a:t>
            </a:r>
            <a:endParaRPr sz="17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8" name="样本要可比">
            <a:extLst xmlns:a="http://schemas.openxmlformats.org/drawingml/2006/main">
              <a:ext uri="{FF2B5EF4-FFF2-40B4-BE49-F238E27FC236}">
                <a16:creationId xmlns:a16="http://schemas.microsoft.com/office/drawing/2014/main" id="{5E009DEC-9EE3-4B78-A2EE-47CC1D44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4196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95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样本要可比</a:t>
            </a:r>
            <a:endParaRPr sz="1950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9" name="按设备、模型、配置分桶&#10;用真实回执修正耗时预测">
            <a:extLst xmlns:a="http://schemas.openxmlformats.org/drawingml/2006/main">
              <a:ext uri="{FF2B5EF4-FFF2-40B4-BE49-F238E27FC236}">
                <a16:creationId xmlns:a16="http://schemas.microsoft.com/office/drawing/2014/main" id="{BA111231-7D48-4FA2-B7AA-F43ECF81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886325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按设备、模型、配置分桶</a:t>
            </a:r>
            <a:endParaRPr sz="17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  <a:p xmlns:a="http://schemas.openxmlformats.org/drawingml/2006/main">
            <a:pPr algn="l">
              <a:buNone/>
              <a:def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用真实回执修正耗时预测</a:t>
            </a:r>
            <a:endParaRPr sz="17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30" name="冷启动要保守">
            <a:extLst xmlns:a="http://schemas.openxmlformats.org/drawingml/2006/main">
              <a:ext uri="{FF2B5EF4-FFF2-40B4-BE49-F238E27FC236}">
                <a16:creationId xmlns:a16="http://schemas.microsoft.com/office/drawing/2014/main" id="{BA047708-1EE3-4FBE-84EE-0BE40E05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9600"/>
            <a:ext cx="335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95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冷启动要保守</a:t>
            </a:r>
            <a:endParaRPr sz="1950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31" name="样本不足时不夸大收益&#10;环境变化后重新校准">
            <a:extLst xmlns:a="http://schemas.openxmlformats.org/drawingml/2006/main">
              <a:ext uri="{FF2B5EF4-FFF2-40B4-BE49-F238E27FC236}">
                <a16:creationId xmlns:a16="http://schemas.microsoft.com/office/drawing/2014/main" id="{FE6A0B96-9DBF-453F-879A-98B036D0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86325"/>
            <a:ext cx="335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样本不足时不夸大收益</a:t>
            </a:r>
            <a:endParaRPr sz="17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  <a:p xmlns:a="http://schemas.openxmlformats.org/drawingml/2006/main">
            <a:pPr algn="l">
              <a:buNone/>
              <a:def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环境变化后重新校准</a:t>
            </a:r>
            <a:endParaRPr sz="17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32" name="轻量预测已有实现，云端完整链路待迁入。256 个样本桶、每桶近期 50 条；成本样本当前重启后重">
            <a:extLst xmlns:a="http://schemas.openxmlformats.org/drawingml/2006/main">
              <a:ext uri="{FF2B5EF4-FFF2-40B4-BE49-F238E27FC236}">
                <a16:creationId xmlns:a16="http://schemas.microsoft.com/office/drawing/2014/main" id="{C206AB70-670B-4DAF-9B4D-E46B8D52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rPr>
              <a:t>轻量预测已有实现，云端完整链路待迁入。256 个样本桶、每桶近期 50 条；成本样本当前重启后重新积累。</a:t>
            </a:r>
            <a:endParaRPr sz="1125" b="0">
              <a:solidFill>
                <a:srgbClr val="73879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</p:spTree>
    <p:extLst>
      <p:ext uri="{BB962C8B-B14F-4D97-AF65-F5344CB8AC3E}">
        <p14:creationId xmlns:p14="http://schemas.microsoft.com/office/powerpoint/2010/main" val="41958975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1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8CB8300-2677-42A0-99EE-4F3C3E41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>
              <a:alpha val="100000"/>
            </a:srgbClr>
          </a:solidFill>
          <a:ln xmlns:a="http://schemas.openxmlformats.org/drawingml/2006/main">
            <a:headEnd type="none"/>
            <a:tailEnd type="none"/>
          </a:ln>
        </p:spPr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1A57794-2533-4263-8B0F-2FCE4CE4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>
              <a:alpha val="100000"/>
            </a:srgbClr>
          </a:solidFill>
          <a:ln xmlns:a="http://schemas.openxmlformats.org/drawingml/2006/main">
            <a:headEnd type="none"/>
            <a:tailEnd type="none"/>
          </a:ln>
        </p:spPr>
      </p:sp>
      <p:sp>
        <p:nvSpPr>
          <p:cNvPr id="4" name="11  调度算例">
            <a:extLst xmlns:a="http://schemas.openxmlformats.org/drawingml/2006/main">
              <a:ext uri="{FF2B5EF4-FFF2-40B4-BE49-F238E27FC236}">
                <a16:creationId xmlns:a16="http://schemas.microsoft.com/office/drawing/2014/main" id="{A1DB9374-B3A7-42FF-95FF-FC8BA4B2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ns0:p xmlns:ns0="http://schemas.openxmlformats.org/drawingml/2006/main">
            <ns0:pPr algn="l">
              <ns0:buNone/>
              <ns0:defRPr sz="1050" b="0">
                <ns0:solidFill>
                  <ns0:srgbClr val="5890BE"/>
                </ns0:solidFill>
                <ns0:latin typeface="Alibaba PuHuiTi 3.0 55 Regular"/>
                <ns0:ea typeface="Alibaba PuHuiTi 3.0 55 Regular"/>
                <ns0:cs typeface="Alibaba PuHuiTi 3.0 55 Regular"/>
              </ns0:defRPr>
            </ns0:pPr>
            <ns0:r>
              <ns0:rPr sz="1050" b="0">
                <ns0:solidFill>
                  <ns0:srgbClr val="5890BE"/>
                </ns0:solidFill>
                <ns0:latin typeface="Alibaba PuHuiTi 3.0 55 Regular"/>
                <ns0:ea typeface="Alibaba PuHuiTi 3.0 55 Regular"/>
                <ns0:cs typeface="Alibaba PuHuiTi 3.0 55 Regular"/>
              </ns0:rPr>
              <ns0:t>15  调度算例</ns0:t>
            </ns0:r>
          </ns0:p>
        </p:txBody>
      </p:sp>
      <p:sp>
        <p:nvSpPr>
          <p:cNvPr id="5" name="同一步骤，网络和负载变化会改变执行位置">
            <a:extLst xmlns:a="http://schemas.openxmlformats.org/drawingml/2006/main">
              <a:ext uri="{FF2B5EF4-FFF2-40B4-BE49-F238E27FC236}">
                <a16:creationId xmlns:a16="http://schemas.microsoft.com/office/drawing/2014/main" id="{22A93254-29BC-47E2-B39E-2A3AA60E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同一步骤，网络和负载变化会改变执行位置</a:t>
            </a:r>
            <a:endParaRPr sz="29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8CDE1DEA-482D-43B6-8550-841F2BD3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4DF"/>
            </a:solidFill>
          </a:ln>
        </p:spPr>
      </p:sp>
      <p:sp>
        <p:nvSpPr>
          <p:cNvPr id="7" name="设计算例，非实测：假设两侧已有同质量合格实现、允许外发，任务时限 2 秒。">
            <a:extLst xmlns:a="http://schemas.openxmlformats.org/drawingml/2006/main">
              <a:ext uri="{FF2B5EF4-FFF2-40B4-BE49-F238E27FC236}">
                <a16:creationId xmlns:a16="http://schemas.microsoft.com/office/drawing/2014/main" id="{D1700793-47F6-404C-B2E1-E20B2E9C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77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设计算例，非实测：假设两侧已有同质量合格实现、允许外发，任务时限 2 秒。</a:t>
            </a:r>
            <a:endParaRPr sz="17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8" name="11">
            <a:extLst xmlns:a="http://schemas.openxmlformats.org/drawingml/2006/main">
              <a:ext uri="{FF2B5EF4-FFF2-40B4-BE49-F238E27FC236}">
                <a16:creationId xmlns:a16="http://schemas.microsoft.com/office/drawing/2014/main" id="{91D8DA87-ECF4-4EC6-B71B-DEE4B5EB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6294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ns3:p xmlns:ns3="http://schemas.openxmlformats.org/drawingml/2006/main">
            <ns3:pPr algn="r">
              <ns3:buNone/>
              <ns3:defRPr sz="825" b="0">
                <ns3:solidFill>
                  <ns3:srgbClr val="73879E"/>
                </ns3:solidFill>
                <ns3:latin typeface="Alibaba PuHuiTi 3.0 55 Regular"/>
                <ns3:ea typeface="Alibaba PuHuiTi 3.0 55 Regular"/>
                <ns3:cs typeface="Alibaba PuHuiTi 3.0 55 Regular"/>
              </ns3:defRPr>
            </ns3:pPr>
            <ns3:r>
              <ns3:rPr sz="825" b="0">
                <ns3:solidFill>
                  <ns3:srgbClr val="73879E"/>
                </ns3:solidFill>
                <ns3:latin typeface="Alibaba PuHuiTi 3.0 55 Regular"/>
                <ns3:ea typeface="Alibaba PuHuiTi 3.0 55 Regular"/>
                <ns3:cs typeface="Alibaba PuHuiTi 3.0 55 Regular"/>
              </ns3:rPr>
              <ns3:t>15</ns3:t>
            </ns3:r>
          </ns3:p>
        </p:txBody>
      </p:sp>
      <p:sp>
        <p:nvSpPr>
          <p:cNvPr id="9" name="云路径示例：50 准备/传输 + 70 排队 + 120 推理 + 40 回传/验证 + 40 ">
            <a:extLst xmlns:a="http://schemas.openxmlformats.org/drawingml/2006/main">
              <a:ext uri="{FF2B5EF4-FFF2-40B4-BE49-F238E27FC236}">
                <a16:creationId xmlns:a16="http://schemas.microsoft.com/office/drawing/2014/main" id="{BCD4033E-D772-4797-A37A-79FF21A6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95525"/>
            <a:ext cx="11277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65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云路径示例：50 准备/传输 + 70 排队 + 120 推理 + 40 回传/验证 + 40 余量 = 320 ms</a:t>
            </a:r>
            <a:endParaRPr sz="1650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graphicFrame>
        <p:nvGraphicFramePr>
          <p:cNvPr id="22" name="表格 20"/>
          <p:cNvGraphicFramePr/>
          <p:nvPr/>
        </p:nvGraphicFramePr>
        <p:xfrm>
          <a:off xmlns:a="http://schemas.openxmlformats.org/drawingml/2006/main" x="457200" y="3028950"/>
          <a:ext xmlns:a="http://schemas.openxmlformats.org/drawingml/2006/main" cx="112776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81300"/>
                <a:gridCol w="2105025"/>
                <a:gridCol w="2105025"/>
                <a:gridCol w="4286250"/>
              </a:tblGrid>
              <a:tr h="5143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0274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条件变化</a:t>
                      </a:r>
                      <a:endParaRPr sz="1575" b="1">
                        <a:solidFill>
                          <a:srgbClr val="102746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E7E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0274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本地保守预测</a:t>
                      </a:r>
                      <a:endParaRPr sz="1575" b="1">
                        <a:solidFill>
                          <a:srgbClr val="102746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E7E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0274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云端保守预测</a:t>
                      </a:r>
                      <a:endParaRPr sz="1575" b="1">
                        <a:solidFill>
                          <a:srgbClr val="102746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E7E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0274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调度选择与原因</a:t>
                      </a:r>
                      <a:endParaRPr sz="1575" b="1">
                        <a:solidFill>
                          <a:srgbClr val="102746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E7ECF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网络与本地均正常</a:t>
                      </a:r>
                      <a:endParaRPr sz="1575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260 ms</a:t>
                      </a:r>
                      <a:endParaRPr sz="1575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320 ms</a:t>
                      </a:r>
                      <a:endParaRPr sz="1575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本地：完整等待更短</a:t>
                      </a:r>
                      <a:endParaRPr sz="1575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P1 忙碌、排队增加</a:t>
                      </a:r>
                      <a:endParaRPr sz="1575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1,100 ms</a:t>
                      </a:r>
                      <a:endParaRPr sz="1575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320 ms</a:t>
                      </a:r>
                      <a:endParaRPr sz="1575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云端：扣除传输仍有收益</a:t>
                      </a:r>
                      <a:endParaRPr sz="1575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网络变慢</a:t>
                      </a:r>
                      <a:endParaRPr sz="1575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1,100 ms</a:t>
                      </a:r>
                      <a:endParaRPr sz="1575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1,500 ms</a:t>
                      </a:r>
                      <a:endParaRPr sz="1575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本地：避免弱网等待</a:t>
                      </a:r>
                      <a:endParaRPr sz="1575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禁止数据外发</a:t>
                      </a:r>
                      <a:endParaRPr sz="1575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可行</a:t>
                      </a:r>
                      <a:endParaRPr sz="1575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直接排除</a:t>
                      </a:r>
                      <a:endParaRPr sz="1575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本地：授权是硬约束</a:t>
                      </a:r>
                      <a:endParaRPr sz="1575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11" name="两侧都不满足质量或时限时，返回不可行或等待可用资源">
            <a:extLst xmlns:a="http://schemas.openxmlformats.org/drawingml/2006/main">
              <a:ext uri="{FF2B5EF4-FFF2-40B4-BE49-F238E27FC236}">
                <a16:creationId xmlns:a16="http://schemas.microsoft.com/office/drawing/2014/main" id="{BC653B6E-6C86-4203-A78D-D38E5B19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1277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75" b="1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两侧都不满足质量或时限时，返回不可行或等待可用资源</a:t>
            </a:r>
            <a:endParaRPr sz="1875" b="1">
              <a:solidFill>
                <a:srgbClr val="5890B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2" name="所有数字用于解释决策逻辑，不代表 P1、云模型或本项目的实测成绩。">
            <a:extLst xmlns:a="http://schemas.openxmlformats.org/drawingml/2006/main">
              <a:ext uri="{FF2B5EF4-FFF2-40B4-BE49-F238E27FC236}">
                <a16:creationId xmlns:a16="http://schemas.microsoft.com/office/drawing/2014/main" id="{0DDD08A1-D90B-4C9A-95E6-A0F8E665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rPr>
              <a:t>所有数字用于解释决策逻辑，不代表 P1、云模型或本项目的实测成绩。</a:t>
            </a:r>
            <a:endParaRPr sz="1125" b="0">
              <a:solidFill>
                <a:srgbClr val="73879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12433576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1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12  执行可靠性">
            <a:extLst xmlns:a="http://schemas.openxmlformats.org/drawingml/2006/main">
              <a:ext uri="{FF2B5EF4-FFF2-40B4-BE49-F238E27FC236}">
                <a16:creationId xmlns:a16="http://schemas.microsoft.com/office/drawing/2014/main" id="{5E866DFE-FD9F-4155-9D3B-73BA3FFC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ns0:p xmlns:ns0="http://schemas.openxmlformats.org/drawingml/2006/main">
            <ns0:pPr algn="l">
              <ns0:buNone/>
              <ns0:defRPr sz="1050" b="0">
                <ns0:solidFill>
                  <ns0:srgbClr val="5890BE"/>
                </ns0:solidFill>
                <ns0:latin typeface="Alibaba PuHuiTi 3.0 55 Regular"/>
                <ns0:ea typeface="Alibaba PuHuiTi 3.0 55 Regular"/>
                <ns0:cs typeface="Alibaba PuHuiTi 3.0 55 Regular"/>
              </ns0:defRPr>
            </ns0:pPr>
            <ns0:r>
              <ns0:rPr sz="1050" b="0">
                <ns0:solidFill>
                  <ns0:srgbClr val="5890BE"/>
                </ns0:solidFill>
                <ns0:latin typeface="Alibaba PuHuiTi 3.0 55 Regular"/>
                <ns0:ea typeface="Alibaba PuHuiTi 3.0 55 Regular"/>
                <ns0:cs typeface="Alibaba PuHuiTi 3.0 55 Regular"/>
              </ns0:rPr>
              <ns0:t>16  执行可靠性</ns0:t>
            </ns0:r>
          </ns0:p>
        </p:txBody>
      </p:sp>
      <p:sp>
        <p:nvSpPr>
          <p:cNvPr id="2" name="派发后的状态变化与未知结果如何处理">
            <a:extLst xmlns:a="http://schemas.openxmlformats.org/drawingml/2006/main">
              <a:ext uri="{FF2B5EF4-FFF2-40B4-BE49-F238E27FC236}">
                <a16:creationId xmlns:a16="http://schemas.microsoft.com/office/drawing/2014/main" id="{F29B5B78-B205-4097-B526-9BB899DB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派发后的状态变化与未知结果如何处理</a:t>
            </a:r>
            <a:endParaRPr sz="29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869456B7-F03D-473D-B304-5B43C50C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4DF"/>
            </a:solidFill>
          </a:ln>
        </p:spPr>
      </p:sp>
      <p:sp>
        <p:nvSpPr>
          <p:cNvPr id="4" name="源端提供候选建议，执行端保留最终准入权；网络断开不等于任务已经停止。">
            <a:extLst xmlns:a="http://schemas.openxmlformats.org/drawingml/2006/main">
              <a:ext uri="{FF2B5EF4-FFF2-40B4-BE49-F238E27FC236}">
                <a16:creationId xmlns:a16="http://schemas.microsoft.com/office/drawing/2014/main" id="{7F475754-6D76-453B-A447-62E30C65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77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源端提供候选建议，执行端保留最终准入权；网络断开不等于任务已经停止。</a:t>
            </a:r>
            <a:endParaRPr sz="17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5" name="12">
            <a:extLst xmlns:a="http://schemas.openxmlformats.org/drawingml/2006/main">
              <a:ext uri="{FF2B5EF4-FFF2-40B4-BE49-F238E27FC236}">
                <a16:creationId xmlns:a16="http://schemas.microsoft.com/office/drawing/2014/main" id="{F8C87696-928C-46B3-92C9-24D056BF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6294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ns3:p xmlns:ns3="http://schemas.openxmlformats.org/drawingml/2006/main">
            <ns3:pPr algn="r">
              <ns3:buNone/>
              <ns3:defRPr sz="825" b="0">
                <ns3:solidFill>
                  <ns3:srgbClr val="73879E"/>
                </ns3:solidFill>
                <ns3:latin typeface="Alibaba PuHuiTi 3.0 55 Regular"/>
                <ns3:ea typeface="Alibaba PuHuiTi 3.0 55 Regular"/>
                <ns3:cs typeface="Alibaba PuHuiTi 3.0 55 Regular"/>
              </ns3:defRPr>
            </ns3:pPr>
            <ns3:r>
              <ns3:rPr sz="825" b="0">
                <ns3:solidFill>
                  <ns3:srgbClr val="73879E"/>
                </ns3:solidFill>
                <ns3:latin typeface="Alibaba PuHuiTi 3.0 55 Regular"/>
                <ns3:ea typeface="Alibaba PuHuiTi 3.0 55 Regular"/>
                <ns3:cs typeface="Alibaba PuHuiTi 3.0 55 Regular"/>
              </ns3:rPr>
              <ns3:t>16</ns3:t>
            </ns3:r>
          </ns3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730CC78-527E-4424-B3F2-FA75D791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05050"/>
            <a:ext cx="318135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solid"/>
          </a:ln>
        </p:spPr>
      </p:sp>
      <p:sp>
        <p:nvSpPr>
          <p:cNvPr id="7" name="源端候选筛选">
            <a:extLst xmlns:a="http://schemas.openxmlformats.org/drawingml/2006/main">
              <a:ext uri="{FF2B5EF4-FFF2-40B4-BE49-F238E27FC236}">
                <a16:creationId xmlns:a16="http://schemas.microsoft.com/office/drawing/2014/main" id="{A792289D-FA29-4B15-8659-E50D966F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2876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源端候选筛选</a:t>
            </a:r>
            <a:endParaRPr sz="17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8" name="状态有效期、能力、预算">
            <a:extLst xmlns:a="http://schemas.openxmlformats.org/drawingml/2006/main">
              <a:ext uri="{FF2B5EF4-FFF2-40B4-BE49-F238E27FC236}">
                <a16:creationId xmlns:a16="http://schemas.microsoft.com/office/drawing/2014/main" id="{11157BFE-765A-46BC-BEB8-EB3E7BCB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状态有效期、能力、预算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DEB27C6-C5BE-44A1-A666-6CBF3AF4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305050"/>
            <a:ext cx="318135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solid"/>
          </a:ln>
        </p:spPr>
      </p:sp>
      <p:sp>
        <p:nvSpPr>
          <p:cNvPr id="10" name="目标设备重新准入">
            <a:extLst xmlns:a="http://schemas.openxmlformats.org/drawingml/2006/main">
              <a:ext uri="{FF2B5EF4-FFF2-40B4-BE49-F238E27FC236}">
                <a16:creationId xmlns:a16="http://schemas.microsoft.com/office/drawing/2014/main" id="{3134CB12-0ECE-4D9C-BCF0-1D4FA031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428875"/>
            <a:ext cx="2876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目标设备重新准入</a:t>
            </a:r>
            <a:endParaRPr sz="17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1" name="复查本地资源与实际模型">
            <a:extLst xmlns:a="http://schemas.openxmlformats.org/drawingml/2006/main">
              <a:ext uri="{FF2B5EF4-FFF2-40B4-BE49-F238E27FC236}">
                <a16:creationId xmlns:a16="http://schemas.microsoft.com/office/drawing/2014/main" id="{A49744B9-7E0B-4351-86B7-60CCF881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7622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复查本地资源与实际模型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BA852E9-1FF1-4AAE-A8BC-974E742A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05050"/>
            <a:ext cx="318135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solid"/>
          </a:ln>
        </p:spPr>
      </p:sp>
      <p:sp>
        <p:nvSpPr>
          <p:cNvPr id="13" name="执行与回执">
            <a:extLst xmlns:a="http://schemas.openxmlformats.org/drawingml/2006/main">
              <a:ext uri="{FF2B5EF4-FFF2-40B4-BE49-F238E27FC236}">
                <a16:creationId xmlns:a16="http://schemas.microsoft.com/office/drawing/2014/main" id="{4A0FF522-1A8A-4937-AD03-53796F0D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28875"/>
            <a:ext cx="2876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执行与回执</a:t>
            </a:r>
            <a:endParaRPr sz="17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4" name="记录尝试 ID、配置和结果">
            <a:extLst xmlns:a="http://schemas.openxmlformats.org/drawingml/2006/main">
              <a:ext uri="{FF2B5EF4-FFF2-40B4-BE49-F238E27FC236}">
                <a16:creationId xmlns:a16="http://schemas.microsoft.com/office/drawing/2014/main" id="{BB11E668-8ED9-4057-BE3C-BE33D261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622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记录尝试 ID、配置和结果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cxnSp>
        <p:nvCxnSpPr>
          <p:cNvPr id="101" name="直接箭头连接符 48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638550" y="2824163"/>
            <a:ext cx="866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90BE"/>
            </a:solidFill>
            <a:prstDash val="solid"/>
            <a:tailEnd type="triangle" w="sm" len="sm"/>
          </a:ln>
        </p:spPr>
      </p:cxnSp>
      <p:cxnSp>
        <p:nvCxnSpPr>
          <p:cNvPr id="102" name="直接箭头连接符 49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686675" y="2824163"/>
            <a:ext cx="866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90BE"/>
            </a:solidFill>
            <a:prstDash val="solid"/>
            <a:tailEnd type="triangle" w="sm" len="sm"/>
          </a:ln>
        </p:spPr>
      </p:cxn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8B4F810-C003-4341-B51B-AF6C4594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24350"/>
            <a:ext cx="3181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solid"/>
          </a:ln>
        </p:spPr>
      </p:sp>
      <p:sp>
        <p:nvSpPr>
          <p:cNvPr id="18" name="成功">
            <a:extLst xmlns:a="http://schemas.openxmlformats.org/drawingml/2006/main">
              <a:ext uri="{FF2B5EF4-FFF2-40B4-BE49-F238E27FC236}">
                <a16:creationId xmlns:a16="http://schemas.microsoft.com/office/drawing/2014/main" id="{BCAE8532-9305-49E9-B59D-65660E97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876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成功</a:t>
            </a:r>
            <a:endParaRPr sz="17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9" name="核验结果与实际配置&#10;完成任务并记录样本">
            <a:extLst xmlns:a="http://schemas.openxmlformats.org/drawingml/2006/main">
              <a:ext uri="{FF2B5EF4-FFF2-40B4-BE49-F238E27FC236}">
                <a16:creationId xmlns:a16="http://schemas.microsoft.com/office/drawing/2014/main" id="{137C4465-54E7-4832-9042-B734D66F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8765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核验结果与实际配置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完成任务并记录样本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AF60D013-3A96-4E6B-8C6E-3F0F3752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324350"/>
            <a:ext cx="3181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solid"/>
          </a:ln>
        </p:spPr>
      </p:sp>
      <p:sp>
        <p:nvSpPr>
          <p:cNvPr id="21" name="明确拒绝，确认未执行">
            <a:extLst xmlns:a="http://schemas.openxmlformats.org/drawingml/2006/main">
              <a:ext uri="{FF2B5EF4-FFF2-40B4-BE49-F238E27FC236}">
                <a16:creationId xmlns:a16="http://schemas.microsoft.com/office/drawing/2014/main" id="{0CC278F4-98F2-4DC2-AAEE-BBD8C634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448175"/>
            <a:ext cx="2876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明确拒绝，确认未执行</a:t>
            </a:r>
            <a:endParaRPr sz="17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2" name="重新检查候选与预算&#10;可行时再选择执行位置">
            <a:extLst xmlns:a="http://schemas.openxmlformats.org/drawingml/2006/main">
              <a:ext uri="{FF2B5EF4-FFF2-40B4-BE49-F238E27FC236}">
                <a16:creationId xmlns:a16="http://schemas.microsoft.com/office/drawing/2014/main" id="{390216A9-431B-4972-BCBB-04850D20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81550"/>
            <a:ext cx="28765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重新检查候选与预算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可行时再选择执行位置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70EB7AD2-7A25-4058-92D3-88837D4C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324350"/>
            <a:ext cx="31813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11430">
            <a:solidFill>
              <a:srgbClr val="956A2E"/>
            </a:solidFill>
            <a:prstDash val="solid"/>
          </a:ln>
        </p:spPr>
      </p:sp>
      <p:sp>
        <p:nvSpPr>
          <p:cNvPr id="24" name="回执未知">
            <a:extLst xmlns:a="http://schemas.openxmlformats.org/drawingml/2006/main">
              <a:ext uri="{FF2B5EF4-FFF2-40B4-BE49-F238E27FC236}">
                <a16:creationId xmlns:a16="http://schemas.microsoft.com/office/drawing/2014/main" id="{931C64EB-39F5-4194-A789-BE3F8CD1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48175"/>
            <a:ext cx="2876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956A2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956A2E"/>
                </a:solidFill>
                <a:latin typeface="Alibaba PuHuiTi 3.0 55 Regular"/>
                <a:ea typeface="Alibaba PuHuiTi 3.0 55 Regular"/>
                <a:cs typeface="Alibaba PuHuiTi 3.0 55 Regular"/>
              </a:rPr>
              <a:t>回执未知</a:t>
            </a:r>
            <a:endParaRPr sz="1725" b="1">
              <a:solidFill>
                <a:srgbClr val="956A2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5" name="查询原尝试，先对账&#10;避免改派造成重复执行">
            <a:extLst xmlns:a="http://schemas.openxmlformats.org/drawingml/2006/main">
              <a:ext uri="{FF2B5EF4-FFF2-40B4-BE49-F238E27FC236}">
                <a16:creationId xmlns:a16="http://schemas.microsoft.com/office/drawing/2014/main" id="{B57DFDF8-3BC8-4F2B-B03C-C708B6FE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781550"/>
            <a:ext cx="28765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查询原尝试，先对账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避免改派造成重复执行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cxnSp>
        <p:nvCxnSpPr>
          <p:cNvPr id="112" name="直接箭头连接符 59"/>
          <p:cNvCxnSpPr>
            <a:stCxn xmlns:a="http://schemas.openxmlformats.org/drawingml/2006/main" id="1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10144125" y="3343275"/>
            <a:ext cx="0" cy="981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56A2E"/>
            </a:solidFill>
            <a:prstDash val="solid"/>
            <a:tailEnd type="triangle" w="sm" len="sm"/>
          </a:ln>
        </p:spPr>
      </p:cxnSp>
      <p:sp>
        <p:nvSpPr>
          <p:cNvPr id="27" name="直接连接符 26">
            <a:extLst xmlns:a="http://schemas.openxmlformats.org/drawingml/2006/main">
              <a:ext uri="{FF2B5EF4-FFF2-40B4-BE49-F238E27FC236}">
                <a16:creationId xmlns:a16="http://schemas.microsoft.com/office/drawing/2014/main" id="{F110228C-494A-419C-B1ED-FC93D329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810000"/>
            <a:ext cx="809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890BE"/>
            </a:solidFill>
          </a:ln>
        </p:spPr>
      </p:sp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704A4382-AF0A-4DB4-9F2B-B5AB8CD6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343275"/>
            <a:ext cx="0" cy="466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890BE"/>
            </a:solidFill>
          </a:ln>
        </p:spPr>
      </p:sp>
      <p:sp>
        <p:nvSpPr>
          <p:cNvPr id="29" name="直接连接符 28">
            <a:extLst xmlns:a="http://schemas.openxmlformats.org/drawingml/2006/main">
              <a:ext uri="{FF2B5EF4-FFF2-40B4-BE49-F238E27FC236}">
                <a16:creationId xmlns:a16="http://schemas.microsoft.com/office/drawing/2014/main" id="{DA150A52-555A-4596-9323-9A9DC275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810000"/>
            <a:ext cx="0" cy="40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890BE"/>
            </a:solidFill>
          </a:ln>
        </p:spPr>
      </p:sp>
      <p:sp>
        <p:nvSpPr>
          <p:cNvPr id="30" name="↓">
            <a:extLst xmlns:a="http://schemas.openxmlformats.org/drawingml/2006/main">
              <a:ext uri="{FF2B5EF4-FFF2-40B4-BE49-F238E27FC236}">
                <a16:creationId xmlns:a16="http://schemas.microsoft.com/office/drawing/2014/main" id="{C4CA54FF-4AD3-4140-8262-4212E030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1148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75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↓</a:t>
            </a:r>
            <a:endParaRPr sz="1875" b="0">
              <a:solidFill>
                <a:srgbClr val="5890B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58F1C66C-F8DD-4275-9241-7DED0A40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0000"/>
            <a:ext cx="0" cy="40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890BE"/>
            </a:solidFill>
          </a:ln>
        </p:spPr>
      </p:sp>
      <p:sp>
        <p:nvSpPr>
          <p:cNvPr id="32" name="↓">
            <a:extLst xmlns:a="http://schemas.openxmlformats.org/drawingml/2006/main">
              <a:ext uri="{FF2B5EF4-FFF2-40B4-BE49-F238E27FC236}">
                <a16:creationId xmlns:a16="http://schemas.microsoft.com/office/drawing/2014/main" id="{F0E9572F-6CCD-447D-B892-404EAD45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1148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75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↓</a:t>
            </a:r>
            <a:endParaRPr sz="1875" b="0">
              <a:solidFill>
                <a:srgbClr val="5890B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33" name="取消请求也要等到执行停止确认，才能释放运行槽">
            <a:extLst xmlns:a="http://schemas.openxmlformats.org/drawingml/2006/main">
              <a:ext uri="{FF2B5EF4-FFF2-40B4-BE49-F238E27FC236}">
                <a16:creationId xmlns:a16="http://schemas.microsoft.com/office/drawing/2014/main" id="{65C9CA38-2020-480E-BE21-93CFD4E1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48350"/>
            <a:ext cx="1127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取消请求也要等到执行停止确认，才能释放运行槽</a:t>
            </a:r>
            <a:endParaRPr sz="187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34" name="现有 HTTP 节点协议已覆盖准入、去重、取消和对账。云 API 按其实际幂等、限流及取消能力适">
            <a:extLst xmlns:a="http://schemas.openxmlformats.org/drawingml/2006/main">
              <a:ext uri="{FF2B5EF4-FFF2-40B4-BE49-F238E27FC236}">
                <a16:creationId xmlns:a16="http://schemas.microsoft.com/office/drawing/2014/main" id="{9FDADF68-4AF0-4942-85B2-7971912D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rPr>
              <a:t>现有 HTTP 节点协议已覆盖准入、去重、取消和对账。云 API 按其实际幂等、限流及取消能力适配。</a:t>
            </a:r>
            <a:endParaRPr sz="1125" b="0">
              <a:solidFill>
                <a:srgbClr val="73879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96770973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1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D7879797-E061-4E0A-9894-8CDAE082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>
              <a:alpha val="100000"/>
            </a:srgbClr>
          </a:solidFill>
          <a:ln xmlns:a="http://schemas.openxmlformats.org/drawingml/2006/main">
            <a:headEnd type="none"/>
            <a:tailEnd type="none"/>
          </a:ln>
        </p:spPr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E18E8ABB-8E68-4D27-96F0-9AD38A4F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>
              <a:alpha val="100000"/>
            </a:srgbClr>
          </a:solidFill>
          <a:ln xmlns:a="http://schemas.openxmlformats.org/drawingml/2006/main">
            <a:headEnd type="none"/>
            <a:tailEnd type="none"/>
          </a:ln>
        </p:spPr>
      </p:sp>
      <p:sp>
        <p:nvSpPr>
          <p:cNvPr id="4" name="13  辅助创新：验证式技能复用">
            <a:extLst xmlns:a="http://schemas.openxmlformats.org/drawingml/2006/main">
              <a:ext uri="{FF2B5EF4-FFF2-40B4-BE49-F238E27FC236}">
                <a16:creationId xmlns:a16="http://schemas.microsoft.com/office/drawing/2014/main" id="{DB04D85D-5B8C-482F-AAB6-3AAFA644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ns0:p xmlns:ns0="http://schemas.openxmlformats.org/drawingml/2006/main">
            <ns0:pPr algn="l">
              <ns0:buNone/>
              <ns0:defRPr sz="1050" b="0">
                <ns0:solidFill>
                  <ns0:srgbClr val="5890BE"/>
                </ns0:solidFill>
                <ns0:latin typeface="Alibaba PuHuiTi 3.0 55 Regular"/>
                <ns0:ea typeface="Alibaba PuHuiTi 3.0 55 Regular"/>
                <ns0:cs typeface="Alibaba PuHuiTi 3.0 55 Regular"/>
              </ns0:defRPr>
            </ns0:pPr>
            <ns0:r>
              <ns0:rPr sz="1050" b="0">
                <ns0:solidFill>
                  <ns0:srgbClr val="5890BE"/>
                </ns0:solidFill>
                <ns0:latin typeface="Alibaba PuHuiTi 3.0 55 Regular"/>
                <ns0:ea typeface="Alibaba PuHuiTi 3.0 55 Regular"/>
                <ns0:cs typeface="Alibaba PuHuiTi 3.0 55 Regular"/>
              </ns0:rPr>
              <ns0:t>17  辅助创新：验证式技能复用</ns0:t>
            </ns0:r>
          </ns0:p>
        </p:txBody>
      </p:sp>
      <p:sp>
        <p:nvSpPr>
          <p:cNvPr id="5" name="减少重复云规划，资源选择仍由调度器决定">
            <a:extLst xmlns:a="http://schemas.openxmlformats.org/drawingml/2006/main">
              <a:ext uri="{FF2B5EF4-FFF2-40B4-BE49-F238E27FC236}">
                <a16:creationId xmlns:a16="http://schemas.microsoft.com/office/drawing/2014/main" id="{CCD4B5FB-E3CF-4452-A45A-6A8953E9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减少重复云规划，资源选择仍由调度器决定</a:t>
            </a:r>
            <a:endParaRPr sz="29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8267CD63-DB6F-47E3-9DB1-37DDB872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4DF"/>
            </a:solidFill>
          </a:ln>
        </p:spPr>
      </p:sp>
      <p:sp>
        <p:nvSpPr>
          <p:cNvPr id="7" name="将验证过的任务流程保存为参数化技能；再次使用时输入、结果和资源决策都重新计算。">
            <a:extLst xmlns:a="http://schemas.openxmlformats.org/drawingml/2006/main">
              <a:ext uri="{FF2B5EF4-FFF2-40B4-BE49-F238E27FC236}">
                <a16:creationId xmlns:a16="http://schemas.microsoft.com/office/drawing/2014/main" id="{7C4327BB-1240-4319-B148-32941CFF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77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将验证过的任务流程保存为参数化技能；再次使用时输入、结果和资源决策都重新计算。</a:t>
            </a:r>
            <a:endParaRPr sz="17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8" name="13">
            <a:extLst xmlns:a="http://schemas.openxmlformats.org/drawingml/2006/main">
              <a:ext uri="{FF2B5EF4-FFF2-40B4-BE49-F238E27FC236}">
                <a16:creationId xmlns:a16="http://schemas.microsoft.com/office/drawing/2014/main" id="{60EED69D-9CEA-47EE-9E35-AAA8AEE9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6294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ns3:p xmlns:ns3="http://schemas.openxmlformats.org/drawingml/2006/main">
            <ns3:pPr algn="r">
              <ns3:buNone/>
              <ns3:defRPr sz="825" b="0">
                <ns3:solidFill>
                  <ns3:srgbClr val="73879E"/>
                </ns3:solidFill>
                <ns3:latin typeface="Alibaba PuHuiTi 3.0 55 Regular"/>
                <ns3:ea typeface="Alibaba PuHuiTi 3.0 55 Regular"/>
                <ns3:cs typeface="Alibaba PuHuiTi 3.0 55 Regular"/>
              </ns3:defRPr>
            </ns3:pPr>
            <ns3:r>
              <ns3:rPr sz="825" b="0">
                <ns3:solidFill>
                  <ns3:srgbClr val="73879E"/>
                </ns3:solidFill>
                <ns3:latin typeface="Alibaba PuHuiTi 3.0 55 Regular"/>
                <ns3:ea typeface="Alibaba PuHuiTi 3.0 55 Regular"/>
                <ns3:cs typeface="Alibaba PuHuiTi 3.0 55 Regular"/>
              </ns3:rPr>
              <ns3:t>17</ns3:t>
            </ns3:r>
          </ns3:p>
        </p:txBody>
      </p:sp>
      <p:sp>
        <p:nvSpPr>
          <p:cNvPr id="9" name="首次任务">
            <a:extLst xmlns:a="http://schemas.openxmlformats.org/drawingml/2006/main">
              <a:ext uri="{FF2B5EF4-FFF2-40B4-BE49-F238E27FC236}">
                <a16:creationId xmlns:a16="http://schemas.microsoft.com/office/drawing/2014/main" id="{825CDE46-4DE9-4381-B080-08A38A95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172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首次任务</a:t>
            </a:r>
            <a:endParaRPr sz="187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A937167-9DAD-4608-8C9E-EC7D2CD7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238375"/>
            <a:ext cx="26955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5"/>
          </a:solidFill>
          <a:ln xmlns:a="http://schemas.openxmlformats.org/drawingml/2006/main" w="11430">
            <a:solidFill>
              <a:srgbClr val="956A2E"/>
            </a:solidFill>
            <a:prstDash val="dash"/>
          </a:ln>
        </p:spPr>
      </p:sp>
      <p:sp>
        <p:nvSpPr>
          <p:cNvPr id="11" name="云规划与执行">
            <a:extLst xmlns:a="http://schemas.openxmlformats.org/drawingml/2006/main">
              <a:ext uri="{FF2B5EF4-FFF2-40B4-BE49-F238E27FC236}">
                <a16:creationId xmlns:a16="http://schemas.microsoft.com/office/drawing/2014/main" id="{D8B6B73D-0923-4B98-A1A6-EA8C36F8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362200"/>
            <a:ext cx="23907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956A2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956A2E"/>
                </a:solidFill>
                <a:latin typeface="Alibaba PuHuiTi 3.0 55 Regular"/>
                <a:ea typeface="Alibaba PuHuiTi 3.0 55 Regular"/>
                <a:cs typeface="Alibaba PuHuiTi 3.0 55 Regular"/>
              </a:rPr>
              <a:t>云规划与执行</a:t>
            </a:r>
            <a:endParaRPr sz="1725" b="1">
              <a:solidFill>
                <a:srgbClr val="956A2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2" name="保存真实任务轨迹">
            <a:extLst xmlns:a="http://schemas.openxmlformats.org/drawingml/2006/main">
              <a:ext uri="{FF2B5EF4-FFF2-40B4-BE49-F238E27FC236}">
                <a16:creationId xmlns:a16="http://schemas.microsoft.com/office/drawing/2014/main" id="{5413B361-915D-4CDC-B12E-A9FC2AA1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695575"/>
            <a:ext cx="23907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保存真实任务轨迹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E978404-93EF-4105-B04D-9469D87C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238375"/>
            <a:ext cx="26955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dash"/>
          </a:ln>
        </p:spPr>
      </p:sp>
      <p:sp>
        <p:nvSpPr>
          <p:cNvPr id="14" name="独立样例验证">
            <a:extLst xmlns:a="http://schemas.openxmlformats.org/drawingml/2006/main">
              <a:ext uri="{FF2B5EF4-FFF2-40B4-BE49-F238E27FC236}">
                <a16:creationId xmlns:a16="http://schemas.microsoft.com/office/drawing/2014/main" id="{AB2E1D96-075D-4730-8B9C-1EDDE154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362200"/>
            <a:ext cx="23907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独立样例验证</a:t>
            </a:r>
            <a:endParaRPr sz="17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5" name="新输入、越界反例、权限">
            <a:extLst xmlns:a="http://schemas.openxmlformats.org/drawingml/2006/main">
              <a:ext uri="{FF2B5EF4-FFF2-40B4-BE49-F238E27FC236}">
                <a16:creationId xmlns:a16="http://schemas.microsoft.com/office/drawing/2014/main" id="{96BA47CE-887C-4DCC-AEF6-E045159C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695575"/>
            <a:ext cx="23907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新输入、越界反例、权限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0A3198A5-63F1-4CB0-9ECD-08BF25F7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238375"/>
            <a:ext cx="27336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dash"/>
          </a:ln>
        </p:spPr>
      </p:sp>
      <p:sp>
        <p:nvSpPr>
          <p:cNvPr id="17" name="技能入库">
            <a:extLst xmlns:a="http://schemas.openxmlformats.org/drawingml/2006/main">
              <a:ext uri="{FF2B5EF4-FFF2-40B4-BE49-F238E27FC236}">
                <a16:creationId xmlns:a16="http://schemas.microsoft.com/office/drawing/2014/main" id="{27AAD19E-A5CD-4F4C-B36F-31164392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362200"/>
            <a:ext cx="2428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技能入库</a:t>
            </a:r>
            <a:endParaRPr sz="17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8" name="适用条件与依赖版本">
            <a:extLst xmlns:a="http://schemas.openxmlformats.org/drawingml/2006/main">
              <a:ext uri="{FF2B5EF4-FFF2-40B4-BE49-F238E27FC236}">
                <a16:creationId xmlns:a16="http://schemas.microsoft.com/office/drawing/2014/main" id="{F4CE3FB1-F961-482E-9A0F-6A6E0648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695575"/>
            <a:ext cx="242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适用条件与依赖版本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cxnSp>
        <p:nvCxnSpPr>
          <p:cNvPr id="114" name="直接箭头连接符 51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838700" y="2709863"/>
            <a:ext cx="733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90BE"/>
            </a:solidFill>
            <a:prstDash val="solid"/>
            <a:tailEnd type="triangle" w="sm" len="sm"/>
          </a:ln>
        </p:spPr>
      </p:cxnSp>
      <p:cxnSp>
        <p:nvCxnSpPr>
          <p:cNvPr id="115" name="直接箭头连接符 52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267700" y="2709863"/>
            <a:ext cx="733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90BE"/>
            </a:solidFill>
            <a:prstDash val="solid"/>
            <a:tailEnd type="triangle" w="sm" len="sm"/>
          </a:ln>
        </p:spPr>
      </p:cxnSp>
      <p:sp>
        <p:nvSpPr>
          <p:cNvPr id="21" name="后续同类任务">
            <a:extLst xmlns:a="http://schemas.openxmlformats.org/drawingml/2006/main">
              <a:ext uri="{FF2B5EF4-FFF2-40B4-BE49-F238E27FC236}">
                <a16:creationId xmlns:a16="http://schemas.microsoft.com/office/drawing/2014/main" id="{7613ED72-E2DA-42CA-B9EE-C5223BC8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1638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后续同类任务</a:t>
            </a:r>
            <a:endParaRPr sz="187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4C039844-1759-4A4A-A8EB-EF02E256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86225"/>
            <a:ext cx="26955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dash"/>
          </a:ln>
        </p:spPr>
      </p:sp>
      <p:sp>
        <p:nvSpPr>
          <p:cNvPr id="23" name="新输入匹配技能">
            <a:extLst xmlns:a="http://schemas.openxmlformats.org/drawingml/2006/main">
              <a:ext uri="{FF2B5EF4-FFF2-40B4-BE49-F238E27FC236}">
                <a16:creationId xmlns:a16="http://schemas.microsoft.com/office/drawing/2014/main" id="{D358EF02-3CC3-415B-9CD2-F01709EE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210050"/>
            <a:ext cx="23907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新输入匹配技能</a:t>
            </a:r>
            <a:endParaRPr sz="17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4" name="实例化新的任务图">
            <a:extLst xmlns:a="http://schemas.openxmlformats.org/drawingml/2006/main">
              <a:ext uri="{FF2B5EF4-FFF2-40B4-BE49-F238E27FC236}">
                <a16:creationId xmlns:a16="http://schemas.microsoft.com/office/drawing/2014/main" id="{61E8BC22-F335-4DA7-920A-46C98386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543425"/>
            <a:ext cx="23907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实例化新的任务图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13939527-7BC7-4520-B1B8-E9F63E6A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086225"/>
            <a:ext cx="26955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solid"/>
          </a:ln>
        </p:spPr>
      </p:sp>
      <p:sp>
        <p:nvSpPr>
          <p:cNvPr id="26" name="同一调度中间件">
            <a:extLst xmlns:a="http://schemas.openxmlformats.org/drawingml/2006/main">
              <a:ext uri="{FF2B5EF4-FFF2-40B4-BE49-F238E27FC236}">
                <a16:creationId xmlns:a16="http://schemas.microsoft.com/office/drawing/2014/main" id="{AA0CD098-A41F-4F37-9513-1682BD03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210050"/>
            <a:ext cx="23907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同一调度中间件</a:t>
            </a:r>
            <a:endParaRPr sz="17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7" name="按当前网络和资源选择">
            <a:extLst xmlns:a="http://schemas.openxmlformats.org/drawingml/2006/main">
              <a:ext uri="{FF2B5EF4-FFF2-40B4-BE49-F238E27FC236}">
                <a16:creationId xmlns:a16="http://schemas.microsoft.com/office/drawing/2014/main" id="{83D8D15B-B76D-4098-A020-EFF47933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543425"/>
            <a:ext cx="23907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按当前网络和资源选择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63D0C6DF-CF4E-49E8-A97E-D8E0510C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086225"/>
            <a:ext cx="27336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2"/>
          </a:solidFill>
          <a:ln xmlns:a="http://schemas.openxmlformats.org/drawingml/2006/main" w="11430">
            <a:solidFill>
              <a:srgbClr val="5890BE"/>
            </a:solidFill>
            <a:prstDash val="solid"/>
          </a:ln>
        </p:spPr>
      </p:sp>
      <p:sp>
        <p:nvSpPr>
          <p:cNvPr id="29" name="重新执行与核验">
            <a:extLst xmlns:a="http://schemas.openxmlformats.org/drawingml/2006/main">
              <a:ext uri="{FF2B5EF4-FFF2-40B4-BE49-F238E27FC236}">
                <a16:creationId xmlns:a16="http://schemas.microsoft.com/office/drawing/2014/main" id="{C8E3CB69-D509-4DFC-9743-5EF8E335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210050"/>
            <a:ext cx="2428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重新执行与核验</a:t>
            </a:r>
            <a:endParaRPr sz="17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30" name="必要时仍可请求云复核">
            <a:extLst xmlns:a="http://schemas.openxmlformats.org/drawingml/2006/main">
              <a:ext uri="{FF2B5EF4-FFF2-40B4-BE49-F238E27FC236}">
                <a16:creationId xmlns:a16="http://schemas.microsoft.com/office/drawing/2014/main" id="{3C34BCCB-C583-4BD9-91DF-1B63B9B7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543425"/>
            <a:ext cx="2428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必要时仍可请求云复核</a:t>
            </a:r>
            <a:endParaRPr sz="14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cxnSp>
        <p:nvCxnSpPr>
          <p:cNvPr id="126" name="直接箭头连接符 63"/>
          <p:cNvCxnSpPr>
            <a:stCxn xmlns:a="http://schemas.openxmlformats.org/drawingml/2006/main" id="22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838700" y="4591050"/>
            <a:ext cx="733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90BE"/>
            </a:solidFill>
            <a:prstDash val="solid"/>
            <a:tailEnd type="triangle" w="sm" len="sm"/>
          </a:ln>
        </p:spPr>
      </p:cxnSp>
      <p:cxnSp>
        <p:nvCxnSpPr>
          <p:cNvPr id="127" name="直接箭头连接符 64"/>
          <p:cNvCxnSpPr>
            <a:stCxn xmlns:a="http://schemas.openxmlformats.org/drawingml/2006/main" id="25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8267700" y="4591050"/>
            <a:ext cx="733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90BE"/>
            </a:solidFill>
            <a:prstDash val="solid"/>
            <a:tailEnd type="triangle" w="sm" len="sm"/>
          </a:ln>
        </p:spPr>
      </p:cxnSp>
      <p:sp>
        <p:nvSpPr>
          <p:cNvPr id="33" name="范围或模型 / 工具 / 索引版本不兼容时停用技能，重新规划">
            <a:extLst xmlns:a="http://schemas.openxmlformats.org/drawingml/2006/main">
              <a:ext uri="{FF2B5EF4-FFF2-40B4-BE49-F238E27FC236}">
                <a16:creationId xmlns:a16="http://schemas.microsoft.com/office/drawing/2014/main" id="{981A2F3F-20F1-445F-BAD0-6AAB2D5B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11277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75" b="1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范围或模型 / 工具 / 索引版本不兼容时停用技能，重新规划</a:t>
            </a:r>
            <a:endParaRPr sz="1875" b="1">
              <a:solidFill>
                <a:srgbClr val="5890B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34" name="辅助创新处于设计阶段。一次成功只产生候选，独立验证通过后才能启用。">
            <a:extLst xmlns:a="http://schemas.openxmlformats.org/drawingml/2006/main">
              <a:ext uri="{FF2B5EF4-FFF2-40B4-BE49-F238E27FC236}">
                <a16:creationId xmlns:a16="http://schemas.microsoft.com/office/drawing/2014/main" id="{C0642151-0EE6-4A40-A6C7-95D35CC7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rPr>
              <a:t>辅助创新处于设计阶段。一次成功只产生候选，独立验证通过后才能启用。</a:t>
            </a:r>
            <a:endParaRPr sz="1125" b="0">
              <a:solidFill>
                <a:srgbClr val="73879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88303077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1F4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14  验证方案与复用价值">
            <a:extLst xmlns:a="http://schemas.openxmlformats.org/drawingml/2006/main">
              <a:ext uri="{FF2B5EF4-FFF2-40B4-BE49-F238E27FC236}">
                <a16:creationId xmlns:a16="http://schemas.microsoft.com/office/drawing/2014/main" id="{514750DA-78A8-486A-B99A-837927C6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ns0:p xmlns:ns0="http://schemas.openxmlformats.org/drawingml/2006/main">
            <ns0:pPr algn="l">
              <ns0:buNone/>
              <ns0:defRPr sz="1050" b="0">
                <ns0:solidFill>
                  <ns0:srgbClr val="5890BE"/>
                </ns0:solidFill>
                <ns0:latin typeface="Alibaba PuHuiTi 3.0 55 Regular"/>
                <ns0:ea typeface="Alibaba PuHuiTi 3.0 55 Regular"/>
                <ns0:cs typeface="Alibaba PuHuiTi 3.0 55 Regular"/>
              </ns0:defRPr>
            </ns0:pPr>
            <ns0:r>
              <ns0:rPr sz="1050" b="0">
                <ns0:solidFill>
                  <ns0:srgbClr val="5890BE"/>
                </ns0:solidFill>
                <ns0:latin typeface="Alibaba PuHuiTi 3.0 55 Regular"/>
                <ns0:ea typeface="Alibaba PuHuiTi 3.0 55 Regular"/>
                <ns0:cs typeface="Alibaba PuHuiTi 3.0 55 Regular"/>
              </ns0:rPr>
              <ns0:t>18  验证方案与复用价值</ns0:t>
            </ns0:r>
          </ns0:p>
        </p:txBody>
      </p:sp>
      <p:sp>
        <p:nvSpPr>
          <p:cNvPr id="2" name="用同质量对照，证明调度带来的实际收益">
            <a:extLst xmlns:a="http://schemas.openxmlformats.org/drawingml/2006/main">
              <a:ext uri="{FF2B5EF4-FFF2-40B4-BE49-F238E27FC236}">
                <a16:creationId xmlns:a16="http://schemas.microsoft.com/office/drawing/2014/main" id="{2EDE42B0-E088-452B-808E-0D2DA971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用同质量对照，证明调度带来的实际收益</a:t>
            </a:r>
            <a:endParaRPr sz="2925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A3B88D6D-3183-493F-851C-43F65CA9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4DF"/>
            </a:solidFill>
          </a:ln>
        </p:spPr>
      </p:sp>
      <p:sp>
        <p:nvSpPr>
          <p:cNvPr id="4" name="比较固定本地、固定端云分工和自适应调度；只比较各策略具备能力完成的同类任务。">
            <a:extLst xmlns:a="http://schemas.openxmlformats.org/drawingml/2006/main">
              <a:ext uri="{FF2B5EF4-FFF2-40B4-BE49-F238E27FC236}">
                <a16:creationId xmlns:a16="http://schemas.microsoft.com/office/drawing/2014/main" id="{46EBF9B5-425D-4094-99BD-4CBF40D6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77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比较固定本地、固定端云分工和自适应调度；只比较各策略具备能力完成的同类任务。</a:t>
            </a:r>
            <a:endParaRPr sz="172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5" name="14">
            <a:extLst xmlns:a="http://schemas.openxmlformats.org/drawingml/2006/main">
              <a:ext uri="{FF2B5EF4-FFF2-40B4-BE49-F238E27FC236}">
                <a16:creationId xmlns:a16="http://schemas.microsoft.com/office/drawing/2014/main" id="{D741DF0B-90F3-43B4-8C4E-F8D872FB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6294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ns3:p xmlns:ns3="http://schemas.openxmlformats.org/drawingml/2006/main">
            <ns3:pPr algn="r">
              <ns3:buNone/>
              <ns3:defRPr sz="825" b="0">
                <ns3:solidFill>
                  <ns3:srgbClr val="73879E"/>
                </ns3:solidFill>
                <ns3:latin typeface="Alibaba PuHuiTi 3.0 55 Regular"/>
                <ns3:ea typeface="Alibaba PuHuiTi 3.0 55 Regular"/>
                <ns3:cs typeface="Alibaba PuHuiTi 3.0 55 Regular"/>
              </ns3:defRPr>
            </ns3:pPr>
            <ns3:r>
              <ns3:rPr sz="825" b="0">
                <ns3:solidFill>
                  <ns3:srgbClr val="73879E"/>
                </ns3:solidFill>
                <ns3:latin typeface="Alibaba PuHuiTi 3.0 55 Regular"/>
                <ns3:ea typeface="Alibaba PuHuiTi 3.0 55 Regular"/>
                <ns3:cs typeface="Alibaba PuHuiTi 3.0 55 Regular"/>
              </ns3:rPr>
              <ns3:t>18</ns3:t>
            </ns3:r>
          </ns3:p>
        </p:txBody>
      </p:sp>
      <p:graphicFrame>
        <p:nvGraphicFramePr>
          <p:cNvPr id="18" name="表格 15"/>
          <p:cNvGraphicFramePr/>
          <p:nvPr/>
        </p:nvGraphicFramePr>
        <p:xfrm>
          <a:off xmlns:a="http://schemas.openxmlformats.org/drawingml/2006/main" x="457200" y="2333625"/>
          <a:ext xmlns:a="http://schemas.openxmlformats.org/drawingml/2006/main" cx="11277600" cy="2867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286250"/>
                <a:gridCol w="4514850"/>
              </a:tblGrid>
              <a:tr h="57340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0274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要证明什么</a:t>
                      </a:r>
                      <a:endParaRPr sz="1575" b="1">
                        <a:solidFill>
                          <a:srgbClr val="102746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E7E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0274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如何比较</a:t>
                      </a:r>
                      <a:endParaRPr sz="1575" b="1">
                        <a:solidFill>
                          <a:srgbClr val="102746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E7EC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0274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看什么证据</a:t>
                      </a:r>
                      <a:endParaRPr sz="1575" b="1">
                        <a:solidFill>
                          <a:srgbClr val="102746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E7ECF2"/>
                    </a:solidFill>
                  </a:tcPr>
                </a:tc>
              </a:tr>
              <a:tr h="57340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调度能减少等待</a:t>
                      </a:r>
                      <a:endParaRPr sz="1575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正常网络 / 弱网 / 本地压力</a:t>
                      </a:r>
                      <a:endParaRPr sz="1575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端到端 P50、P95 与截止违约率</a:t>
                      </a:r>
                      <a:endParaRPr sz="1575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</a:tr>
              <a:tr h="57340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选择没有牺牲结果</a:t>
                      </a:r>
                      <a:endParaRPr sz="1575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固定模型、数据与质量门槛</a:t>
                      </a:r>
                      <a:endParaRPr sz="1575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完成率、质量分数、拒绝原因</a:t>
                      </a:r>
                      <a:endParaRPr sz="1575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</a:tr>
              <a:tr h="57340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调度本身足够轻</a:t>
                      </a:r>
                      <a:endParaRPr sz="1575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单独计时本地决策与网络等待</a:t>
                      </a:r>
                      <a:endParaRPr sz="1575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决策耗时、CPU 开销、预测误差</a:t>
                      </a:r>
                      <a:endParaRPr sz="1575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</a:tr>
              <a:tr h="57340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技能确实节省规划</a:t>
                      </a:r>
                      <a:endParaRPr sz="1575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每次规划 / 人工模板 / 验证技能</a:t>
                      </a:r>
                      <a:endParaRPr sz="1575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9516B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规划次数、费用、误匹配及前期成本</a:t>
                      </a:r>
                      <a:endParaRPr sz="1575" b="0">
                        <a:solidFill>
                          <a:srgbClr val="39516B"/>
                        </a:solidFill>
                        <a:latin typeface="Alibaba PuHuiTi 3.0 55 Regular"/>
                        <a:ea typeface="Alibaba PuHuiTi 3.0 55 Regular"/>
                        <a:cs typeface="Alibaba PuHuiTi 3.0 55 Regular"/>
                      </a:endParaRPr>
                    </a:p>
                  </a:txBody>
                  <a:tcPr marL="123825" marR="95250" marT="76200" marB="76200" anchor="ctr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复用交付">
            <a:extLst xmlns:a="http://schemas.openxmlformats.org/drawingml/2006/main">
              <a:ext uri="{FF2B5EF4-FFF2-40B4-BE49-F238E27FC236}">
                <a16:creationId xmlns:a16="http://schemas.microsoft.com/office/drawing/2014/main" id="{34726430-73A4-480A-A3FC-532FC225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3402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950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复用交付</a:t>
            </a:r>
            <a:endParaRPr sz="1950" b="1">
              <a:solidFill>
                <a:srgbClr val="102746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8" name="工具契约 + 模型 Worker 协议 + P1 部署包 + 可复现实验">
            <a:extLst xmlns:a="http://schemas.openxmlformats.org/drawingml/2006/main">
              <a:ext uri="{FF2B5EF4-FFF2-40B4-BE49-F238E27FC236}">
                <a16:creationId xmlns:a16="http://schemas.microsoft.com/office/drawing/2014/main" id="{2FDB5DCE-850B-4019-888F-8DDC99F3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534025"/>
            <a:ext cx="937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75" b="1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工具契约 + 模型 Worker 协议 + P1 部署包 + 可复现实验</a:t>
            </a:r>
            <a:endParaRPr sz="1875" b="1">
              <a:solidFill>
                <a:srgbClr val="5890B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9" name="后续接入文档处理、知识检索等场景时，业务插件替换，调度与回执机制复用。">
            <a:extLst xmlns:a="http://schemas.openxmlformats.org/drawingml/2006/main">
              <a:ext uri="{FF2B5EF4-FFF2-40B4-BE49-F238E27FC236}">
                <a16:creationId xmlns:a16="http://schemas.microsoft.com/office/drawing/2014/main" id="{430E0DD9-2FA2-4AFB-879D-1205667F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7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后续接入文档处理、知识检索等场景时，业务插件替换，调度与回执机制复用。</a:t>
            </a:r>
            <a:endParaRPr sz="1575" b="0">
              <a:solidFill>
                <a:srgbClr val="39516B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0" name="性能结果待实测。功耗有可靠测量条件再报告；云独有任务不宣称能由固定本地策略完成。">
            <a:extLst xmlns:a="http://schemas.openxmlformats.org/drawingml/2006/main">
              <a:ext uri="{FF2B5EF4-FFF2-40B4-BE49-F238E27FC236}">
                <a16:creationId xmlns:a16="http://schemas.microsoft.com/office/drawing/2014/main" id="{9469B4BC-4959-43E7-82B7-2FE55861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rPr>
              <a:t>性能结果待实测。功耗有可靠测量条件再报告；云独有任务不宣称能由固定本地策略完成。</a:t>
            </a:r>
            <a:endParaRPr sz="1125" b="0">
              <a:solidFill>
                <a:srgbClr val="73879E"/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</p:spTree>
    <p:extLst>
      <p:ext uri="{BB962C8B-B14F-4D97-AF65-F5344CB8AC3E}">
        <p14:creationId xmlns:p14="http://schemas.microsoft.com/office/powerpoint/2010/main" val="700571993"/>
      </p:ext>
    </p:extLst>
  </p:cSld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4F6"/>
        </a:solidFill>
      </p:bgPr>
    </p:bg>
    <p:spTree>
      <p:nvGrpSpPr>
        <p:cNvPr id="1" name=""/>
        <p:cNvGrpSpPr/>
        <p:nvPr/>
      </p:nvGrpSpPr>
      <p:grpSpPr/>
      <p:sp>
        <p:nvSpPr>
          <p:cNvPr id="35" name="12  执行可靠性">
            <a:extLst>
              <a:ext uri="{FF2B5EF4-FFF2-40B4-BE49-F238E27FC236}">
                <a16:creationId xmlns:a16="http://schemas.microsoft.com/office/drawing/2014/main" id="{5E866DFE-FD9F-4155-9D3B-73BA3FFCDD75}"/>
              </a:ext>
            </a:extLst>
          </p:cNvPr>
          <p:cNvSpPr>
            <a:spLocks noGrp="1"/>
          </p:cNvSpPr>
          <p:nvPr/>
        </p:nvSpPr>
        <p:spPr>
          <a:xfrm>
            <a:off x="457200" y="409575"/>
            <a:ext cx="11049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050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050" b="0">
                <a:solidFill>
                  <a:srgbClr val="5890BE"/>
                </a:solidFill>
                <a:latin typeface="Alibaba PuHuiTi 3.0 55 Regular"/>
                <a:ea typeface="Alibaba PuHuiTi 3.0 55 Regular"/>
                <a:cs typeface="Alibaba PuHuiTi 3.0 55 Regular"/>
              </a:rPr>
              <a:t>08  技术架构 5/5 · 设备画像与 P1 适配</a:t>
            </a:r>
          </a:p>
        </p:txBody>
      </p:sp>
      <p:sp>
        <p:nvSpPr>
          <p:cNvPr id="2" name="派发后的状态变化与未知结果如何处理">
            <a:extLst>
              <a:ext uri="{FF2B5EF4-FFF2-40B4-BE49-F238E27FC236}">
                <a16:creationId xmlns:a16="http://schemas.microsoft.com/office/drawing/2014/main" id="{F29B5B78-B205-4097-B526-9BB899DBC645}"/>
              </a:ext>
            </a:extLst>
          </p:cNvPr>
          <p:cNvSpPr>
            <a:spLocks noGrp="1"/>
          </p:cNvSpPr>
          <p:nvPr/>
        </p:nvSpPr>
        <p:spPr>
          <a:xfrm>
            <a:off x="457200" y="742950"/>
            <a:ext cx="112776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9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设备画像：板卡与调度解耦的硬件契约</a:t>
            </a:r>
          </a:p>
        </p:txBody>
      </p:sp>
      <p:sp>
        <p:nvSpPr>
          <p:cNvPr id="4" name="源端提供候选建议，执行端保留最终准入权；网络断开不等于任务已经停止。">
            <a:extLst>
              <a:ext uri="{FF2B5EF4-FFF2-40B4-BE49-F238E27FC236}">
                <a16:creationId xmlns:a16="http://schemas.microsoft.com/office/drawing/2014/main" id="{7F475754-6D76-453B-A447-62E30C6518C1}"/>
              </a:ext>
            </a:extLst>
          </p:cNvPr>
          <p:cNvSpPr>
            <a:spLocks noGrp="1"/>
          </p:cNvSpPr>
          <p:nvPr/>
        </p:nvSpPr>
        <p:spPr>
          <a:xfrm>
            <a:off x="457200" y="1619250"/>
            <a:ext cx="112776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开发板通过统一画像上报真实硬件与系统状态；调度规则不写死板型，按板卡特性与系统负载选路。</a:t>
            </a:r>
          </a:p>
        </p:txBody>
      </p:sp>
      <p:sp>
        <p:nvSpPr>
          <p:cNvPr id="5" name="12">
            <a:extLst>
              <a:ext uri="{FF2B5EF4-FFF2-40B4-BE49-F238E27FC236}">
                <a16:creationId xmlns:a16="http://schemas.microsoft.com/office/drawing/2014/main" id="{F8C87696-928C-46B3-92C9-24D056BFDA52}"/>
              </a:ext>
            </a:extLst>
          </p:cNvPr>
          <p:cNvSpPr>
            <a:spLocks noGrp="1"/>
          </p:cNvSpPr>
          <p:nvPr/>
        </p:nvSpPr>
        <p:spPr>
          <a:xfrm>
            <a:off x="11430000" y="6629400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8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8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rPr>
              <a:t>08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730CC78-527E-4424-B3F2-FA75D791D040}"/>
              </a:ext>
            </a:extLst>
          </p:cNvPr>
          <p:cNvSpPr>
            <a:spLocks noGrp="1"/>
          </p:cNvSpPr>
          <p:nvPr/>
        </p:nvSpPr>
        <p:spPr>
          <a:xfrm>
            <a:off x="457200" y="2305050"/>
            <a:ext cx="3181350" cy="1038225"/>
          </a:xfrm>
          <a:prstGeom prst="rect">
            <a:avLst/>
          </a:prstGeom>
          <a:solidFill>
            <a:srgbClr val="E7ECF2"/>
          </a:solidFill>
          <a:ln w="11430">
            <a:solidFill>
              <a:srgbClr val="5890BE"/>
            </a:solidFill>
            <a:prstDash val="solid"/>
          </a:ln>
        </p:spPr>
        <p:txBody>
          <a:bodyPr/>
          <a:p/>
        </p:txBody>
      </p:sp>
      <p:sp>
        <p:nvSpPr>
          <p:cNvPr id="7" name="源端候选筛选">
            <a:extLst>
              <a:ext uri="{FF2B5EF4-FFF2-40B4-BE49-F238E27FC236}">
                <a16:creationId xmlns:a16="http://schemas.microsoft.com/office/drawing/2014/main" id="{A792289D-FA29-4B15-8659-E50D966FB5B3}"/>
              </a:ext>
            </a:extLst>
          </p:cNvPr>
          <p:cNvSpPr>
            <a:spLocks noGrp="1"/>
          </p:cNvSpPr>
          <p:nvPr/>
        </p:nvSpPr>
        <p:spPr>
          <a:xfrm>
            <a:off x="609600" y="2428875"/>
            <a:ext cx="28765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身份与环境指纹</a:t>
            </a:r>
          </a:p>
        </p:txBody>
      </p:sp>
      <p:sp>
        <p:nvSpPr>
          <p:cNvPr id="8" name="状态有效期、能力、预算">
            <a:extLst>
              <a:ext uri="{FF2B5EF4-FFF2-40B4-BE49-F238E27FC236}">
                <a16:creationId xmlns:a16="http://schemas.microsoft.com/office/drawing/2014/main" id="{11157BFE-765A-46BC-BEB8-EB3E7BCB0028}"/>
              </a:ext>
            </a:extLst>
          </p:cNvPr>
          <p:cNvSpPr>
            <a:spLocks noGrp="1"/>
          </p:cNvSpPr>
          <p:nvPr/>
        </p:nvSpPr>
        <p:spPr>
          <a:xfrm>
            <a:off x="609600" y="2762250"/>
            <a:ext cx="28765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板型 / 内核 / 架构 / 运行时</a:t>
            </a:r>
          </a:p>
          <a:p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环境指纹隔离成本样本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DEB27C6-C5BE-44A1-A666-6CBF3AF49D92}"/>
              </a:ext>
            </a:extLst>
          </p:cNvPr>
          <p:cNvSpPr>
            <a:spLocks noGrp="1"/>
          </p:cNvSpPr>
          <p:nvPr/>
        </p:nvSpPr>
        <p:spPr>
          <a:xfrm>
            <a:off x="4505325" y="2305050"/>
            <a:ext cx="3181350" cy="1038225"/>
          </a:xfrm>
          <a:prstGeom prst="rect">
            <a:avLst/>
          </a:prstGeom>
          <a:solidFill>
            <a:srgbClr val="E7ECF2"/>
          </a:solidFill>
          <a:ln w="11430">
            <a:solidFill>
              <a:srgbClr val="5890BE"/>
            </a:solidFill>
            <a:prstDash val="solid"/>
          </a:ln>
        </p:spPr>
        <p:txBody>
          <a:bodyPr/>
          <a:p/>
        </p:txBody>
      </p:sp>
      <p:sp>
        <p:nvSpPr>
          <p:cNvPr id="10" name="目标设备重新准入">
            <a:extLst>
              <a:ext uri="{FF2B5EF4-FFF2-40B4-BE49-F238E27FC236}">
                <a16:creationId xmlns:a16="http://schemas.microsoft.com/office/drawing/2014/main" id="{3134CB12-0ECE-4D9C-BCF0-1D4FA0312125}"/>
              </a:ext>
            </a:extLst>
          </p:cNvPr>
          <p:cNvSpPr>
            <a:spLocks noGrp="1"/>
          </p:cNvSpPr>
          <p:nvPr/>
        </p:nvSpPr>
        <p:spPr>
          <a:xfrm>
            <a:off x="4657725" y="2428875"/>
            <a:ext cx="28765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资源与热状态</a:t>
            </a:r>
          </a:p>
        </p:txBody>
      </p:sp>
      <p:sp>
        <p:nvSpPr>
          <p:cNvPr id="11" name="复查本地资源与实际模型">
            <a:extLst>
              <a:ext uri="{FF2B5EF4-FFF2-40B4-BE49-F238E27FC236}">
                <a16:creationId xmlns:a16="http://schemas.microsoft.com/office/drawing/2014/main" id="{A49744B9-7E0B-4351-86B7-60CCF881284E}"/>
              </a:ext>
            </a:extLst>
          </p:cNvPr>
          <p:cNvSpPr>
            <a:spLocks noGrp="1"/>
          </p:cNvSpPr>
          <p:nvPr/>
        </p:nvSpPr>
        <p:spPr>
          <a:xfrm>
            <a:off x="4657725" y="2762250"/>
            <a:ext cx="28765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CPU 累计差分 / MemAvailable</a:t>
            </a:r>
          </a:p>
          <a:p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多热区 sysfs，3s / 30s 时效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BA852E9-1FF1-4AAE-A8BC-974E742A06EA}"/>
              </a:ext>
            </a:extLst>
          </p:cNvPr>
          <p:cNvSpPr>
            <a:spLocks noGrp="1"/>
          </p:cNvSpPr>
          <p:nvPr/>
        </p:nvSpPr>
        <p:spPr>
          <a:xfrm>
            <a:off x="8553450" y="2305050"/>
            <a:ext cx="3181350" cy="1038225"/>
          </a:xfrm>
          <a:prstGeom prst="rect">
            <a:avLst/>
          </a:prstGeom>
          <a:solidFill>
            <a:srgbClr val="E7ECF2"/>
          </a:solidFill>
          <a:ln w="11430">
            <a:solidFill>
              <a:srgbClr val="5890BE"/>
            </a:solidFill>
            <a:prstDash val="solid"/>
          </a:ln>
        </p:spPr>
        <p:txBody>
          <a:bodyPr/>
          <a:p/>
        </p:txBody>
      </p:sp>
      <p:sp>
        <p:nvSpPr>
          <p:cNvPr id="13" name="执行与回执">
            <a:extLst>
              <a:ext uri="{FF2B5EF4-FFF2-40B4-BE49-F238E27FC236}">
                <a16:creationId xmlns:a16="http://schemas.microsoft.com/office/drawing/2014/main" id="{4A0FF522-1A8A-4937-AD03-53796F0D5D3D}"/>
              </a:ext>
            </a:extLst>
          </p:cNvPr>
          <p:cNvSpPr>
            <a:spLocks noGrp="1"/>
          </p:cNvSpPr>
          <p:nvPr/>
        </p:nvSpPr>
        <p:spPr>
          <a:xfrm>
            <a:off x="8705850" y="2428875"/>
            <a:ext cx="28765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能力与后端</a:t>
            </a:r>
          </a:p>
        </p:txBody>
      </p:sp>
      <p:sp>
        <p:nvSpPr>
          <p:cNvPr id="14" name="记录尝试 ID、配置和结果">
            <a:extLst>
              <a:ext uri="{FF2B5EF4-FFF2-40B4-BE49-F238E27FC236}">
                <a16:creationId xmlns:a16="http://schemas.microsoft.com/office/drawing/2014/main" id="{BB11E668-8ED9-4057-BE3C-BE33D261F5D2}"/>
              </a:ext>
            </a:extLst>
          </p:cNvPr>
          <p:cNvSpPr>
            <a:spLocks noGrp="1"/>
          </p:cNvSpPr>
          <p:nvPr/>
        </p:nvSpPr>
        <p:spPr>
          <a:xfrm>
            <a:off x="8705850" y="2762250"/>
            <a:ext cx="28765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NOE / NPU 经模型探测才暴露</a:t>
            </a:r>
          </a:p>
          <a:p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缺失能力显式上报，不伪造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8B4F810-C003-4341-B51B-AF6C45944308}"/>
              </a:ext>
            </a:extLst>
          </p:cNvPr>
          <p:cNvSpPr>
            <a:spLocks noGrp="1"/>
          </p:cNvSpPr>
          <p:nvPr/>
        </p:nvSpPr>
        <p:spPr>
          <a:xfrm>
            <a:off x="457200" y="3924350"/>
            <a:ext cx="3181350" cy="1257300"/>
          </a:xfrm>
          <a:prstGeom prst="rect">
            <a:avLst/>
          </a:prstGeom>
          <a:solidFill>
            <a:srgbClr val="E7ECF2"/>
          </a:solidFill>
          <a:ln w="11430">
            <a:solidFill>
              <a:srgbClr val="5890BE"/>
            </a:solidFill>
            <a:prstDash val="solid"/>
          </a:ln>
        </p:spPr>
        <p:txBody>
          <a:bodyPr/>
          <a:p/>
        </p:txBody>
      </p:sp>
      <p:sp>
        <p:nvSpPr>
          <p:cNvPr id="18" name="成功">
            <a:extLst>
              <a:ext uri="{FF2B5EF4-FFF2-40B4-BE49-F238E27FC236}">
                <a16:creationId xmlns:a16="http://schemas.microsoft.com/office/drawing/2014/main" id="{BCAE8532-9305-49E9-B59D-65660E970B86}"/>
              </a:ext>
            </a:extLst>
          </p:cNvPr>
          <p:cNvSpPr>
            <a:spLocks noGrp="1"/>
          </p:cNvSpPr>
          <p:nvPr/>
        </p:nvSpPr>
        <p:spPr>
          <a:xfrm>
            <a:off x="609600" y="4048175"/>
            <a:ext cx="28765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无电池语义</a:t>
            </a:r>
          </a:p>
        </p:txBody>
      </p:sp>
      <p:sp>
        <p:nvSpPr>
          <p:cNvPr id="19" name="核验结果与实际配置&#10;完成任务并记录样本">
            <a:extLst>
              <a:ext uri="{FF2B5EF4-FFF2-40B4-BE49-F238E27FC236}">
                <a16:creationId xmlns:a16="http://schemas.microsoft.com/office/drawing/2014/main" id="{137C4465-54E7-4832-9042-B734D66FB862}"/>
              </a:ext>
            </a:extLst>
          </p:cNvPr>
          <p:cNvSpPr>
            <a:spLocks noGrp="1"/>
          </p:cNvSpPr>
          <p:nvPr/>
        </p:nvSpPr>
        <p:spPr>
          <a:xfrm>
            <a:off x="609600" y="4381550"/>
            <a:ext cx="28765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mains 供电不套用电池策略</a:t>
            </a:r>
          </a:p>
          <a:p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缺电池不再阻断自适应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F60D013-3A96-4E6B-8C6E-3F0F3752C138}"/>
              </a:ext>
            </a:extLst>
          </p:cNvPr>
          <p:cNvSpPr>
            <a:spLocks noGrp="1"/>
          </p:cNvSpPr>
          <p:nvPr/>
        </p:nvSpPr>
        <p:spPr>
          <a:xfrm>
            <a:off x="4505325" y="3924350"/>
            <a:ext cx="3181350" cy="1257300"/>
          </a:xfrm>
          <a:prstGeom prst="rect">
            <a:avLst/>
          </a:prstGeom>
          <a:solidFill>
            <a:srgbClr val="E7ECF2"/>
          </a:solidFill>
          <a:ln w="11430">
            <a:solidFill>
              <a:srgbClr val="5890BE"/>
            </a:solidFill>
            <a:prstDash val="solid"/>
          </a:ln>
        </p:spPr>
        <p:txBody>
          <a:bodyPr/>
          <a:p/>
        </p:txBody>
      </p:sp>
      <p:sp>
        <p:nvSpPr>
          <p:cNvPr id="21" name="明确拒绝，确认未执行">
            <a:extLst>
              <a:ext uri="{FF2B5EF4-FFF2-40B4-BE49-F238E27FC236}">
                <a16:creationId xmlns:a16="http://schemas.microsoft.com/office/drawing/2014/main" id="{0CC278F4-98F2-4DC2-AAEE-BBD8C63440EF}"/>
              </a:ext>
            </a:extLst>
          </p:cNvPr>
          <p:cNvSpPr>
            <a:spLocks noGrp="1"/>
          </p:cNvSpPr>
          <p:nvPr/>
        </p:nvSpPr>
        <p:spPr>
          <a:xfrm>
            <a:off x="4657725" y="4048175"/>
            <a:ext cx="28765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统一内存与温控</a:t>
            </a:r>
          </a:p>
        </p:txBody>
      </p:sp>
      <p:sp>
        <p:nvSpPr>
          <p:cNvPr id="22" name="重新检查候选与预算&#10;可行时再选择执行位置">
            <a:extLst>
              <a:ext uri="{FF2B5EF4-FFF2-40B4-BE49-F238E27FC236}">
                <a16:creationId xmlns:a16="http://schemas.microsoft.com/office/drawing/2014/main" id="{390216A9-431B-4972-BCBB-04850D207644}"/>
              </a:ext>
            </a:extLst>
          </p:cNvPr>
          <p:cNvSpPr>
            <a:spLocks noGrp="1"/>
          </p:cNvSpPr>
          <p:nvPr/>
        </p:nvSpPr>
        <p:spPr>
          <a:xfrm>
            <a:off x="4657725" y="4381550"/>
            <a:ext cx="28765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共享 LPDDR5 按可用内存判压</a:t>
            </a:r>
          </a:p>
          <a:p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温度未知仅放行安全 CPU 回退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0EB7AD2-7A25-4058-92D3-88837D4C462D}"/>
              </a:ext>
            </a:extLst>
          </p:cNvPr>
          <p:cNvSpPr>
            <a:spLocks noGrp="1"/>
          </p:cNvSpPr>
          <p:nvPr/>
        </p:nvSpPr>
        <p:spPr>
          <a:xfrm>
            <a:off x="8553450" y="3924350"/>
            <a:ext cx="3181350" cy="1257300"/>
          </a:xfrm>
          <a:prstGeom prst="rect">
            <a:avLst/>
          </a:prstGeom>
          <a:solidFill>
            <a:srgbClr val="F5EFE5"/>
          </a:solidFill>
          <a:ln w="11430">
            <a:solidFill>
              <a:srgbClr val="956A2E"/>
            </a:solidFill>
            <a:prstDash val="solid"/>
          </a:ln>
        </p:spPr>
        <p:txBody>
          <a:bodyPr/>
          <a:p/>
        </p:txBody>
      </p:sp>
      <p:sp>
        <p:nvSpPr>
          <p:cNvPr id="24" name="回执未知">
            <a:extLst>
              <a:ext uri="{FF2B5EF4-FFF2-40B4-BE49-F238E27FC236}">
                <a16:creationId xmlns:a16="http://schemas.microsoft.com/office/drawing/2014/main" id="{931C64EB-39F5-4194-A789-BE3F8CD1D4E9}"/>
              </a:ext>
            </a:extLst>
          </p:cNvPr>
          <p:cNvSpPr>
            <a:spLocks noGrp="1"/>
          </p:cNvSpPr>
          <p:nvPr/>
        </p:nvSpPr>
        <p:spPr>
          <a:xfrm>
            <a:off x="8705850" y="4048175"/>
            <a:ext cx="28765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1">
                <a:solidFill>
                  <a:srgbClr val="956A2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725" b="1">
                <a:solidFill>
                  <a:srgbClr val="956A2E"/>
                </a:solidFill>
                <a:latin typeface="Alibaba PuHuiTi 3.0 55 Regular"/>
                <a:ea typeface="Alibaba PuHuiTi 3.0 55 Regular"/>
                <a:cs typeface="Alibaba PuHuiTi 3.0 55 Regular"/>
              </a:rPr>
              <a:t>多板异构与解耦</a:t>
            </a:r>
          </a:p>
        </p:txBody>
      </p:sp>
      <p:sp>
        <p:nvSpPr>
          <p:cNvPr id="25" name="查询原尝试，先对账&#10;避免改派造成重复执行">
            <a:extLst>
              <a:ext uri="{FF2B5EF4-FFF2-40B4-BE49-F238E27FC236}">
                <a16:creationId xmlns:a16="http://schemas.microsoft.com/office/drawing/2014/main" id="{B57DFDF8-3BC8-4F2B-B03C-C708B6FE9BD0}"/>
              </a:ext>
            </a:extLst>
          </p:cNvPr>
          <p:cNvSpPr>
            <a:spLocks noGrp="1"/>
          </p:cNvSpPr>
          <p:nvPr/>
        </p:nvSpPr>
        <p:spPr>
          <a:xfrm>
            <a:off x="8705850" y="4381550"/>
            <a:ext cx="28765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deviceId / boardModel</a:t>
            </a:r>
          </a:p>
          <a:p>
            <a:pPr algn="l">
              <a:buNone/>
              <a:def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25" b="0">
                <a:solidFill>
                  <a:srgbClr val="39516B"/>
                </a:solidFill>
                <a:latin typeface="Alibaba PuHuiTi 3.0 55 Regular"/>
                <a:ea typeface="Alibaba PuHuiTi 3.0 55 Regular"/>
                <a:cs typeface="Alibaba PuHuiTi 3.0 55 Regular"/>
              </a:rPr>
              <a:t>环境分桶样本不串用</a:t>
            </a:r>
          </a:p>
        </p:txBody>
      </p:sp>
      <p:sp>
        <p:nvSpPr>
          <p:cNvPr id="33" name="取消请求也要等到执行停止确认，才能释放运行槽">
            <a:extLst>
              <a:ext uri="{FF2B5EF4-FFF2-40B4-BE49-F238E27FC236}">
                <a16:creationId xmlns:a16="http://schemas.microsoft.com/office/drawing/2014/main" id="{65C9CA38-2020-480E-BE21-93CFD4E17996}"/>
              </a:ext>
            </a:extLst>
          </p:cNvPr>
          <p:cNvSpPr>
            <a:spLocks noGrp="1"/>
          </p:cNvSpPr>
          <p:nvPr/>
        </p:nvSpPr>
        <p:spPr>
          <a:xfrm>
            <a:off x="457200" y="5848350"/>
            <a:ext cx="11277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75" b="1">
                <a:solidFill>
                  <a:srgbClr val="10274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板型不写进优先规则：按画像中的真实能力、资源与链路选择执行位置。</a:t>
            </a:r>
          </a:p>
        </p:txBody>
      </p:sp>
      <p:sp>
        <p:nvSpPr>
          <p:cNvPr id="34" name="现有 HTTP 节点协议已覆盖准入、去重、取消和对账。云 API 按其实际幂等、限流及取消能力适">
            <a:extLst>
              <a:ext uri="{FF2B5EF4-FFF2-40B4-BE49-F238E27FC236}">
                <a16:creationId xmlns:a16="http://schemas.microsoft.com/office/drawing/2014/main" id="{9FDADF68-4AF0-4942-85B2-7971912DA6FD}"/>
              </a:ext>
            </a:extLst>
          </p:cNvPr>
          <p:cNvSpPr>
            <a:spLocks noGrp="1"/>
          </p:cNvSpPr>
          <p:nvPr/>
        </p:nvSpPr>
        <p:spPr>
          <a:xfrm>
            <a:off x="457200" y="6343650"/>
            <a:ext cx="11277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125" b="0">
                <a:solidFill>
                  <a:srgbClr val="73879E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画像取自操作系统真实观测，调度器不接管内核或驱动；P1 采样路径与阈值需获板后按实际 BSP 核对。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2026-09-25T17:37:51.6240000Z</dcterms:created>
  <dcterms:modified xsi:type="dcterms:W3CDTF">2026-09-25T17:37:51.6240000Z</dcterms:modified>
</coreProperties>
</file>